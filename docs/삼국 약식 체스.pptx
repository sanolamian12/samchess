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68" r:id="rId14"/>
    <p:sldId id="267" r:id="rId15"/>
    <p:sldId id="269" r:id="rId16"/>
    <p:sldId id="270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8" autoAdjust="0"/>
    <p:restoredTop sz="94660"/>
  </p:normalViewPr>
  <p:slideViewPr>
    <p:cSldViewPr snapToGrid="0">
      <p:cViewPr varScale="1">
        <p:scale>
          <a:sx n="90" d="100"/>
          <a:sy n="90" d="100"/>
        </p:scale>
        <p:origin x="8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07136-05B9-4084-83BF-56E9BCCDA6F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3E85FD-8BB6-4550-BC6B-DDEFD3730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645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E85FD-8BB6-4550-BC6B-DDEFD3730AE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570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A411C-FEF0-4E77-EA69-5FC3280D3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AF9043-8D2B-2B33-FDC8-77EB38611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E7DF0D-BB1D-6398-D135-07CD6DA19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1AF0D1-188E-11E9-BA6B-860CC90A7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E85FD-8BB6-4550-BC6B-DDEFD3730AE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435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7AF00-E926-AF8F-917D-5D6E29CE4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E36399-CCE7-494D-F469-74358F84E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6903FB-4289-8D8F-473C-3C97AC0FC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228232-BD03-B4A3-5DFD-B7EBF0717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E85FD-8BB6-4550-BC6B-DDEFD3730AE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763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1DDCB-62EB-16DA-71EB-00B17B868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A6301B-668C-2EE6-E9D8-CC61EE72F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21206E-778A-4BBF-D286-4715984B1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3497B0-CFB4-4317-91FF-397CC079B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E85FD-8BB6-4550-BC6B-DDEFD3730AE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124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EE37E-1B69-623D-E2A0-243D2BC9F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E13558-4011-99F2-6636-1C06082E6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601766-3D62-1CBA-B9B9-D7E1C050D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1EF967-C9F5-0F30-3E52-18D5E05DD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E85FD-8BB6-4550-BC6B-DDEFD3730AE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50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42A68-15AA-B1C5-5A91-2C9AC3037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74D8B6-1256-362B-DBBD-FBD99C7A7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2978F8-5359-07A6-68A8-70954471E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CC2987-B807-DC98-35D6-D236E2D79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E85FD-8BB6-4550-BC6B-DDEFD3730AE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300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B3F6F-43A8-862E-5AF6-D863F2F75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3D19FC-A738-76D6-6E9E-35F4F56FB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9D95B-FF44-834C-6003-7DF9826EB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2FBA5-57BE-4E0D-B9AB-8FA0886BAC02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AB86D2-11B1-BF68-919D-FB88CF1B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C985B9-84EA-039B-A710-683AA6F9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63B4-A743-4958-B611-FCF26028C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435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15A376-33A3-CB91-20FB-0E78D89E8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7B00D2-411C-C623-C36D-3F9FC2EE9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440BC6-CE37-B24B-70AF-BB423ECE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2FBA5-57BE-4E0D-B9AB-8FA0886BAC02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3AE16A-5D4C-77D4-A819-8A5402A8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90EE58-1AE7-C73A-3680-B0CD94D1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63B4-A743-4958-B611-FCF26028C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50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AC8B69-6337-A51B-7C50-252A8C48E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73BA26-7295-3281-BCC8-0488482BE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7533E7-7F5C-FE25-5A87-C32D243F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2FBA5-57BE-4E0D-B9AB-8FA0886BAC02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DA83FC-47AC-140A-D0A3-4FCFD80C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B8F95D-2FEF-6E70-039A-3B5FEB9B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63B4-A743-4958-B611-FCF26028C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84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386F5-CB8C-840F-B671-460D828E0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993B2E-C532-9E2F-69A4-10F7FD0B9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7B7F8E-C378-0185-11FF-7ED6D4E1C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D3262C-0CA1-BCC1-30A1-D4DB47B2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2FBA5-57BE-4E0D-B9AB-8FA0886BAC02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BE2D11-A1F9-F77C-1BB3-1DF0BAC5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728DC0-A317-FC5C-0463-54E46651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63B4-A743-4958-B611-FCF26028C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550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02CA2-C5E3-D828-FCE3-98E995795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DAE868-5B7B-4B9A-A52A-1076F4378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3933DA-0D98-1E06-A989-9367D960A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A4BB35-CBE5-E0E6-424C-84DAA393D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8EFBB9-4356-D8DD-D803-9915A945C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69B73D-92C5-C097-EDD8-2101DF15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2FBA5-57BE-4E0D-B9AB-8FA0886BAC02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4D9FF3-7542-CE1F-717F-A69CE4084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8E31C3-D665-8545-9DBA-B74832515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63B4-A743-4958-B611-FCF26028C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6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0E670-D942-95B1-AE41-3E707ECBF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76992-5E07-0E76-593B-FC9A87250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2FBA5-57BE-4E0D-B9AB-8FA0886BAC02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369F3E-1121-3AAC-1E69-0BC18125D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527F10-DCF4-F699-32EB-2BBBA72A4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63B4-A743-4958-B611-FCF26028C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53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A5AFBD7-3AEA-34AF-D9FF-944401AA3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2FBA5-57BE-4E0D-B9AB-8FA0886BAC02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AEE058E-6903-F7E5-F408-F0AE2FC70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9C5E64-AE9B-60A0-F73D-3183D9C31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63B4-A743-4958-B611-FCF26028C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90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14420-DD5C-DECB-9806-DF581E7E4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15135D-351F-A89D-8DE1-D1DC0E4D9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5A4EB2-8EF9-DC44-146B-E64F8A8A0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7E7D85-45AD-CFCF-417B-34E9B17E3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2FBA5-57BE-4E0D-B9AB-8FA0886BAC02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41522-B641-D6F9-FD23-D5FF963EE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F29B88-FBD0-8031-C4DD-55528C300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63B4-A743-4958-B611-FCF26028C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628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086543-FCC9-C9C6-03E6-3CE81D656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93B036-468E-C0F2-275B-BBA853E7CE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62C7FD-C5F9-4F1C-D321-DF5FD10F0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FA8964-CE06-D2F7-1199-7718CA71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2FBA5-57BE-4E0D-B9AB-8FA0886BAC02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8F6A27-68A7-6745-B81A-589A2C0C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A7E51E-ADB5-CD86-867B-C6B066BF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63B4-A743-4958-B611-FCF26028C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67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A4F1D-974D-632B-EB72-5E62A573D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8C21FC-196D-A95A-0FFE-626C209CC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6BB5E2-ADB0-63FD-EEB6-F0AF4BF3C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2FBA5-57BE-4E0D-B9AB-8FA0886BAC02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ACF7B1-8E68-E4B5-EB3F-023616F19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7AB042-729D-AEDD-0BDA-EFDFFC1C1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63B4-A743-4958-B611-FCF26028C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749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D89E3B-4D11-D7B4-19B3-FF88B71AC3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8E73CC-09BD-1632-A340-61F2E3BD6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9045C4-CFFD-549C-D189-8CFBDAD15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2FBA5-57BE-4E0D-B9AB-8FA0886BAC02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E77874-C438-80AD-6DC9-D640A5F1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D09ABF-F42F-36B5-84A6-67ACCD18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63B4-A743-4958-B611-FCF26028C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974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52751D-DE86-69EE-D2D7-9A0D38733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4090B5-C0ED-11F0-D7B6-C03D77E69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BBEDD3-49DF-4F58-505F-EEAF1C6B6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2FBA5-57BE-4E0D-B9AB-8FA0886BAC02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E16CB7-8235-6674-B28E-230042162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6DF745-704E-093B-79A5-9EBE13DEE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0963B4-A743-4958-B611-FCF26028C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56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84A7C6-0EE8-1164-9067-14879FDFD2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삼국 약식 체스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260721-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375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617F77-7A8D-D552-98D6-A3F3317ACBBA}"/>
              </a:ext>
            </a:extLst>
          </p:cNvPr>
          <p:cNvSpPr txBox="1"/>
          <p:nvPr/>
        </p:nvSpPr>
        <p:spPr>
          <a:xfrm>
            <a:off x="1013637" y="1162493"/>
            <a:ext cx="10164726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게임</a:t>
            </a:r>
            <a:r>
              <a:rPr lang="en-US" altLang="ko-KR" b="1" dirty="0"/>
              <a:t> </a:t>
            </a:r>
            <a:r>
              <a:rPr lang="ko-KR" altLang="en-US" b="1" dirty="0"/>
              <a:t>설명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체스의 기물 </a:t>
            </a:r>
            <a:r>
              <a:rPr lang="en-US" altLang="ko-KR" dirty="0"/>
              <a:t>[</a:t>
            </a:r>
            <a:r>
              <a:rPr lang="ko-KR" altLang="en-US" dirty="0"/>
              <a:t>킹</a:t>
            </a:r>
            <a:r>
              <a:rPr lang="en-US" altLang="ko-KR" dirty="0"/>
              <a:t>, </a:t>
            </a:r>
            <a:r>
              <a:rPr lang="ko-KR" altLang="en-US" dirty="0"/>
              <a:t>퀸</a:t>
            </a:r>
            <a:r>
              <a:rPr lang="en-US" altLang="ko-KR" dirty="0"/>
              <a:t>, </a:t>
            </a:r>
            <a:r>
              <a:rPr lang="ko-KR" altLang="en-US" dirty="0"/>
              <a:t>나이트</a:t>
            </a:r>
            <a:r>
              <a:rPr lang="en-US" altLang="ko-KR" dirty="0"/>
              <a:t>, </a:t>
            </a:r>
            <a:r>
              <a:rPr lang="ko-KR" altLang="en-US" dirty="0" err="1"/>
              <a:t>비숍</a:t>
            </a:r>
            <a:r>
              <a:rPr lang="en-US" altLang="ko-KR" dirty="0"/>
              <a:t>, </a:t>
            </a:r>
            <a:r>
              <a:rPr lang="ko-KR" altLang="en-US" dirty="0"/>
              <a:t>록</a:t>
            </a:r>
            <a:r>
              <a:rPr lang="en-US" altLang="ko-KR" dirty="0"/>
              <a:t>, </a:t>
            </a:r>
            <a:r>
              <a:rPr lang="ko-KR" altLang="en-US" dirty="0"/>
              <a:t>폰</a:t>
            </a:r>
            <a:r>
              <a:rPr lang="en-US" altLang="ko-KR" dirty="0"/>
              <a:t>] </a:t>
            </a:r>
            <a:r>
              <a:rPr lang="ko-KR" altLang="en-US" dirty="0"/>
              <a:t>의 이동 규칙을 변용</a:t>
            </a:r>
            <a:r>
              <a:rPr lang="en-US" altLang="ko-KR" dirty="0"/>
              <a:t>, </a:t>
            </a:r>
            <a:r>
              <a:rPr lang="ko-KR" altLang="en-US" dirty="0"/>
              <a:t>기물 고유의 공격 범위를 가짐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상대방 킹을 먼저 잡는 플레이어가 승리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3:3, 5:5 </a:t>
            </a:r>
            <a:r>
              <a:rPr lang="ko-KR" altLang="en-US" dirty="0"/>
              <a:t>대전이 가능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3:3</a:t>
            </a:r>
            <a:r>
              <a:rPr lang="ko-KR" altLang="en-US" dirty="0"/>
              <a:t>부터는 킹 필수 선택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차례에 따라 양쪽의 플레이어가 기물을 움직이는데</a:t>
            </a:r>
            <a:r>
              <a:rPr lang="en-US" altLang="ko-KR" dirty="0"/>
              <a:t>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절대시간 </a:t>
            </a:r>
            <a:r>
              <a:rPr lang="en-US" altLang="ko-KR" dirty="0"/>
              <a:t>Time</a:t>
            </a:r>
            <a:r>
              <a:rPr lang="ko-KR" altLang="en-US" dirty="0"/>
              <a:t>이 흐르고 </a:t>
            </a:r>
            <a:r>
              <a:rPr lang="en-US" altLang="ko-KR" dirty="0"/>
              <a:t>(</a:t>
            </a:r>
            <a:r>
              <a:rPr lang="ko-KR" altLang="en-US" dirty="0"/>
              <a:t>단위</a:t>
            </a:r>
            <a:r>
              <a:rPr lang="en-US" altLang="ko-KR" dirty="0"/>
              <a:t>: 0.1</a:t>
            </a:r>
            <a:r>
              <a:rPr lang="ko-KR" altLang="en-US" dirty="0"/>
              <a:t>초씩 흐름</a:t>
            </a:r>
            <a:r>
              <a:rPr lang="en-US" altLang="ko-KR" dirty="0"/>
              <a:t>. 1</a:t>
            </a:r>
            <a:r>
              <a:rPr lang="ko-KR" altLang="en-US" dirty="0"/>
              <a:t>초 </a:t>
            </a:r>
            <a:r>
              <a:rPr lang="en-US" altLang="ko-KR" dirty="0"/>
              <a:t>=</a:t>
            </a:r>
            <a:r>
              <a:rPr lang="ko-KR" altLang="en-US" dirty="0"/>
              <a:t> 게임상에서 </a:t>
            </a:r>
            <a:r>
              <a:rPr lang="en-US" altLang="ko-KR" dirty="0"/>
              <a:t>1</a:t>
            </a:r>
            <a:r>
              <a:rPr lang="ko-KR" altLang="en-US" dirty="0"/>
              <a:t>일</a:t>
            </a:r>
            <a:r>
              <a:rPr lang="en-US" altLang="ko-KR" dirty="0"/>
              <a:t>),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각 캐릭터마다 고유한 </a:t>
            </a:r>
            <a:r>
              <a:rPr lang="en-US" altLang="ko-KR" dirty="0"/>
              <a:t>waiting time</a:t>
            </a:r>
            <a:r>
              <a:rPr lang="ko-KR" altLang="en-US" dirty="0"/>
              <a:t> 있음</a:t>
            </a:r>
            <a:r>
              <a:rPr lang="en-US" altLang="ko-KR" dirty="0"/>
              <a:t>. </a:t>
            </a:r>
            <a:r>
              <a:rPr lang="ko-KR" altLang="en-US" dirty="0"/>
              <a:t>절대시간이 흘러 </a:t>
            </a:r>
            <a:r>
              <a:rPr lang="en-US" altLang="ko-KR" dirty="0"/>
              <a:t>waiting</a:t>
            </a:r>
            <a:r>
              <a:rPr lang="ko-KR" altLang="en-US" dirty="0"/>
              <a:t> </a:t>
            </a:r>
            <a:r>
              <a:rPr lang="en-US" altLang="ko-KR" dirty="0"/>
              <a:t>time</a:t>
            </a:r>
            <a:r>
              <a:rPr lang="ko-KR" altLang="en-US" dirty="0"/>
              <a:t> </a:t>
            </a:r>
            <a:r>
              <a:rPr lang="en-US" altLang="ko-KR" dirty="0"/>
              <a:t>0 </a:t>
            </a:r>
            <a:r>
              <a:rPr lang="ko-KR" altLang="en-US" dirty="0"/>
              <a:t>이 되면 컨트롤 가능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기물을 컨트롤 하고 나면 </a:t>
            </a:r>
            <a:r>
              <a:rPr lang="en-US" altLang="ko-KR" dirty="0"/>
              <a:t>waiting time </a:t>
            </a:r>
            <a:r>
              <a:rPr lang="ko-KR" altLang="en-US" dirty="0"/>
              <a:t>이 다시 세팅 됨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</a:t>
            </a:r>
            <a:r>
              <a:rPr lang="ko-KR" altLang="en-US" dirty="0"/>
              <a:t>일 마다 양쪽 플레이어에 </a:t>
            </a:r>
            <a:r>
              <a:rPr lang="en-US" altLang="ko-KR" dirty="0"/>
              <a:t>SP (Skill Point) 1</a:t>
            </a:r>
            <a:r>
              <a:rPr lang="ko-KR" altLang="en-US" dirty="0"/>
              <a:t>이 충전되고</a:t>
            </a:r>
            <a:r>
              <a:rPr lang="en-US" altLang="ko-KR" dirty="0"/>
              <a:t>, </a:t>
            </a:r>
            <a:r>
              <a:rPr lang="ko-KR" altLang="en-US" dirty="0"/>
              <a:t>캐릭터마다 고유한 기술 발동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15420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9724-2753-05DD-6343-CA66BE654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F1A11C-51EF-8B64-E735-11D3DB895EF6}"/>
              </a:ext>
            </a:extLst>
          </p:cNvPr>
          <p:cNvSpPr txBox="1"/>
          <p:nvPr/>
        </p:nvSpPr>
        <p:spPr>
          <a:xfrm>
            <a:off x="1013637" y="1162493"/>
            <a:ext cx="10164726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메인 화면 </a:t>
            </a:r>
            <a:r>
              <a:rPr lang="en-US" altLang="ko-KR" b="1" dirty="0"/>
              <a:t>(</a:t>
            </a:r>
            <a:r>
              <a:rPr lang="ko-KR" altLang="en-US" b="1" dirty="0"/>
              <a:t>진영</a:t>
            </a:r>
            <a:r>
              <a:rPr lang="en-US" altLang="ko-KR" b="1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전투</a:t>
            </a:r>
            <a:r>
              <a:rPr lang="en-US" altLang="ko-KR" dirty="0"/>
              <a:t>(</a:t>
            </a:r>
            <a:r>
              <a:rPr lang="ko-KR" altLang="en-US" dirty="0"/>
              <a:t>게임 공간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</a:t>
            </a:r>
            <a:r>
              <a:rPr lang="ko-KR" altLang="en-US" dirty="0"/>
              <a:t>튜토리얼</a:t>
            </a:r>
            <a:r>
              <a:rPr lang="en-US" altLang="ko-KR" dirty="0"/>
              <a:t>, AI</a:t>
            </a:r>
            <a:r>
              <a:rPr lang="ko-KR" altLang="en-US" dirty="0"/>
              <a:t> 대전</a:t>
            </a:r>
            <a:r>
              <a:rPr lang="en-US" altLang="ko-KR" dirty="0"/>
              <a:t>, </a:t>
            </a:r>
            <a:r>
              <a:rPr lang="ko-KR" altLang="en-US" dirty="0"/>
              <a:t>온라인 대전 </a:t>
            </a:r>
            <a:r>
              <a:rPr lang="en-US" altLang="ko-KR" dirty="0">
                <a:sym typeface="Wingdings" panose="05000000000000000000" pitchFamily="2" charset="2"/>
              </a:rPr>
              <a:t> 1:1, 3:3, 5:5 </a:t>
            </a:r>
            <a:r>
              <a:rPr lang="ko-KR" altLang="en-US" dirty="0">
                <a:sym typeface="Wingdings" panose="05000000000000000000" pitchFamily="2" charset="2"/>
              </a:rPr>
              <a:t>체스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도시</a:t>
            </a:r>
            <a:r>
              <a:rPr lang="en-US" altLang="ko-KR" dirty="0"/>
              <a:t>(</a:t>
            </a:r>
            <a:r>
              <a:rPr lang="ko-KR" altLang="en-US" dirty="0"/>
              <a:t>내 캐릭터 관리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장수 관리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도시 관리</a:t>
            </a:r>
            <a:r>
              <a:rPr lang="en-US" altLang="ko-KR" dirty="0">
                <a:sym typeface="Wingdings" panose="05000000000000000000" pitchFamily="2" charset="2"/>
              </a:rPr>
              <a:t>  </a:t>
            </a:r>
            <a:r>
              <a:rPr lang="ko-KR" altLang="en-US" dirty="0">
                <a:sym typeface="Wingdings" panose="05000000000000000000" pitchFamily="2" charset="2"/>
              </a:rPr>
              <a:t>장수 정보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장수 </a:t>
            </a:r>
            <a:r>
              <a:rPr lang="ko-KR" altLang="en-US" dirty="0" err="1">
                <a:sym typeface="Wingdings" panose="05000000000000000000" pitchFamily="2" charset="2"/>
              </a:rPr>
              <a:t>업글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도시 정보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도시 증축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상점</a:t>
            </a:r>
            <a:r>
              <a:rPr lang="en-US" altLang="ko-KR" dirty="0"/>
              <a:t>(</a:t>
            </a:r>
            <a:r>
              <a:rPr lang="ko-KR" altLang="en-US" dirty="0"/>
              <a:t>금화</a:t>
            </a:r>
            <a:r>
              <a:rPr lang="en-US" altLang="ko-KR" dirty="0"/>
              <a:t>/</a:t>
            </a:r>
            <a:r>
              <a:rPr lang="ko-KR" altLang="en-US" dirty="0"/>
              <a:t>카드 구매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금화 구매</a:t>
            </a:r>
            <a:r>
              <a:rPr lang="en-US" altLang="ko-KR" dirty="0">
                <a:sym typeface="Wingdings" panose="05000000000000000000" pitchFamily="2" charset="2"/>
              </a:rPr>
              <a:t>  </a:t>
            </a:r>
            <a:r>
              <a:rPr lang="ko-KR" altLang="en-US" dirty="0">
                <a:sym typeface="Wingdings" panose="05000000000000000000" pitchFamily="2" charset="2"/>
              </a:rPr>
              <a:t>군량 구매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건축자재 구매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장수카드 구매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랭킹</a:t>
            </a:r>
            <a:r>
              <a:rPr lang="en-US" altLang="ko-KR" dirty="0"/>
              <a:t>(</a:t>
            </a:r>
            <a:r>
              <a:rPr lang="ko-KR" altLang="en-US" dirty="0"/>
              <a:t>다른 플레이어 공적 보기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랭킹 보기</a:t>
            </a:r>
            <a:r>
              <a:rPr lang="en-US" altLang="ko-KR" dirty="0">
                <a:sym typeface="Wingdings" panose="05000000000000000000" pitchFamily="2" charset="2"/>
              </a:rPr>
              <a:t>  </a:t>
            </a:r>
            <a:r>
              <a:rPr lang="ko-KR" altLang="en-US" dirty="0">
                <a:sym typeface="Wingdings" panose="05000000000000000000" pitchFamily="2" charset="2"/>
              </a:rPr>
              <a:t>다른 도시 방문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환경설정</a:t>
            </a:r>
            <a:r>
              <a:rPr lang="en-US" altLang="ko-KR" dirty="0"/>
              <a:t>(</a:t>
            </a:r>
            <a:r>
              <a:rPr lang="ko-KR" altLang="en-US" dirty="0"/>
              <a:t>계정 관리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비밀번호 변경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결제 내역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32337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3637D-688C-431E-BAC0-E9A598B6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C38252-516B-ABFA-4ECD-10DE59A65A38}"/>
              </a:ext>
            </a:extLst>
          </p:cNvPr>
          <p:cNvSpPr txBox="1"/>
          <p:nvPr/>
        </p:nvSpPr>
        <p:spPr>
          <a:xfrm>
            <a:off x="1013637" y="1162493"/>
            <a:ext cx="10164726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상점 </a:t>
            </a:r>
            <a:r>
              <a:rPr lang="en-US" altLang="ko-KR" b="1" dirty="0"/>
              <a:t>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금화 </a:t>
            </a:r>
            <a:r>
              <a:rPr lang="en-US" altLang="ko-KR" dirty="0"/>
              <a:t>: </a:t>
            </a:r>
            <a:r>
              <a:rPr lang="ko-KR" altLang="en-US" dirty="0"/>
              <a:t>모든 거래는 금화로 이뤄짐</a:t>
            </a:r>
            <a:r>
              <a:rPr lang="en-US" altLang="ko-KR" dirty="0"/>
              <a:t>. </a:t>
            </a:r>
            <a:r>
              <a:rPr lang="ko-KR" altLang="en-US" dirty="0"/>
              <a:t>금화 </a:t>
            </a:r>
            <a:r>
              <a:rPr lang="en-US" altLang="ko-KR" dirty="0">
                <a:sym typeface="Wingdings" panose="05000000000000000000" pitchFamily="2" charset="2"/>
              </a:rPr>
              <a:t> </a:t>
            </a:r>
            <a:r>
              <a:rPr lang="ko-KR" altLang="en-US" dirty="0">
                <a:sym typeface="Wingdings" panose="05000000000000000000" pitchFamily="2" charset="2"/>
              </a:rPr>
              <a:t>현금 </a:t>
            </a:r>
            <a:r>
              <a:rPr lang="en-US" altLang="ko-KR" dirty="0">
                <a:sym typeface="Wingdings" panose="05000000000000000000" pitchFamily="2" charset="2"/>
              </a:rPr>
              <a:t>(1</a:t>
            </a:r>
            <a:r>
              <a:rPr lang="ko-KR" altLang="en-US" dirty="0">
                <a:sym typeface="Wingdings" panose="05000000000000000000" pitchFamily="2" charset="2"/>
              </a:rPr>
              <a:t>냥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ko-KR" altLang="en-US" dirty="0">
                <a:sym typeface="Wingdings" panose="05000000000000000000" pitchFamily="2" charset="2"/>
              </a:rPr>
              <a:t>백 원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군량 </a:t>
            </a:r>
            <a:r>
              <a:rPr lang="en-US" altLang="ko-KR" dirty="0"/>
              <a:t>: </a:t>
            </a:r>
            <a:r>
              <a:rPr lang="ko-KR" altLang="en-US" dirty="0"/>
              <a:t>게임을 할 수 있는 코인</a:t>
            </a:r>
            <a:r>
              <a:rPr lang="en-US" altLang="ko-KR" dirty="0"/>
              <a:t>, 1 </a:t>
            </a:r>
            <a:r>
              <a:rPr lang="ko-KR" altLang="en-US" dirty="0"/>
              <a:t>기물당 군량 </a:t>
            </a:r>
            <a:r>
              <a:rPr lang="en-US" altLang="ko-KR" dirty="0"/>
              <a:t>1 </a:t>
            </a:r>
            <a:r>
              <a:rPr lang="ko-KR" altLang="en-US" dirty="0"/>
              <a:t>소모</a:t>
            </a:r>
            <a:r>
              <a:rPr lang="en-US" altLang="ko-KR" dirty="0"/>
              <a:t>, </a:t>
            </a:r>
            <a:r>
              <a:rPr lang="ko-KR" altLang="en-US" dirty="0"/>
              <a:t>도시 레벨에 따라 충전 속도 달라짐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장수 카드 </a:t>
            </a:r>
            <a:r>
              <a:rPr lang="en-US" altLang="ko-KR" dirty="0"/>
              <a:t>: </a:t>
            </a:r>
            <a:r>
              <a:rPr lang="ko-KR" altLang="en-US" dirty="0"/>
              <a:t>각 캐릭터 당 레벨 업에 필요한 카드 수가 모이면 레벨 업 가능</a:t>
            </a:r>
            <a:r>
              <a:rPr lang="en-US" altLang="ko-KR" dirty="0"/>
              <a:t>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처음으로 등장한 캐릭터는 캐릭터 보유 풀로 이동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건축 자재 </a:t>
            </a:r>
            <a:r>
              <a:rPr lang="en-US" altLang="ko-KR" dirty="0"/>
              <a:t>: </a:t>
            </a:r>
            <a:r>
              <a:rPr lang="ko-KR" altLang="en-US" dirty="0"/>
              <a:t>도시 증축</a:t>
            </a:r>
            <a:r>
              <a:rPr lang="en-US" altLang="ko-KR" dirty="0"/>
              <a:t>. </a:t>
            </a:r>
            <a:r>
              <a:rPr lang="ko-KR" altLang="en-US" dirty="0"/>
              <a:t>보유 캐릭터 풀을 늘릴 수 있음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캐릭터 풀이 가득 찬 상태에서 장수 카드 구매할 수 없음</a:t>
            </a:r>
            <a:r>
              <a:rPr lang="en-US" altLang="ko-KR" dirty="0"/>
              <a:t>. </a:t>
            </a:r>
            <a:r>
              <a:rPr lang="ko-KR" altLang="en-US" dirty="0"/>
              <a:t>장수 카드 뽑는 도중 캐릭터 풀이 가득차면</a:t>
            </a:r>
            <a:r>
              <a:rPr lang="en-US" altLang="ko-KR" dirty="0"/>
              <a:t>, </a:t>
            </a:r>
            <a:r>
              <a:rPr lang="ko-KR" altLang="en-US" dirty="0"/>
              <a:t>기존의 풀에서 캐릭터를 방출하거나</a:t>
            </a:r>
            <a:r>
              <a:rPr lang="en-US" altLang="ko-KR" dirty="0"/>
              <a:t>, </a:t>
            </a:r>
            <a:r>
              <a:rPr lang="ko-KR" altLang="en-US" dirty="0"/>
              <a:t>뽑은 캐릭터 카드를 보관함으로</a:t>
            </a:r>
            <a:r>
              <a:rPr lang="en-US" altLang="ko-KR" dirty="0"/>
              <a:t>,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증축 후 보관함에 있던 카드를 캐릭터 풀로 가져올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07143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E8CF1-AAB7-8581-7F91-2CDD3526A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06613E-A08C-DD30-2DC9-A5845E471FE6}"/>
              </a:ext>
            </a:extLst>
          </p:cNvPr>
          <p:cNvSpPr txBox="1"/>
          <p:nvPr/>
        </p:nvSpPr>
        <p:spPr>
          <a:xfrm>
            <a:off x="1013637" y="1162493"/>
            <a:ext cx="10164726" cy="5440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상점 </a:t>
            </a:r>
            <a:r>
              <a:rPr lang="en-US" altLang="ko-KR" b="1" dirty="0"/>
              <a:t>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금화 </a:t>
            </a:r>
            <a:r>
              <a:rPr lang="en-US" altLang="ko-KR" dirty="0"/>
              <a:t>: 10</a:t>
            </a:r>
            <a:r>
              <a:rPr lang="ko-KR" altLang="en-US" dirty="0"/>
              <a:t>냥 </a:t>
            </a:r>
            <a:r>
              <a:rPr lang="en-US" altLang="ko-KR" dirty="0"/>
              <a:t>1</a:t>
            </a:r>
            <a:r>
              <a:rPr lang="ko-KR" altLang="en-US" dirty="0"/>
              <a:t>천원</a:t>
            </a:r>
            <a:r>
              <a:rPr lang="en-US" altLang="ko-KR" dirty="0"/>
              <a:t>, 60</a:t>
            </a:r>
            <a:r>
              <a:rPr lang="ko-KR" altLang="en-US" dirty="0"/>
              <a:t>냥 </a:t>
            </a:r>
            <a:r>
              <a:rPr lang="en-US" altLang="ko-KR" dirty="0"/>
              <a:t>5</a:t>
            </a:r>
            <a:r>
              <a:rPr lang="ko-KR" altLang="en-US" dirty="0"/>
              <a:t>천원</a:t>
            </a:r>
            <a:r>
              <a:rPr lang="en-US" altLang="ko-KR" dirty="0"/>
              <a:t>, 120</a:t>
            </a:r>
            <a:r>
              <a:rPr lang="ko-KR" altLang="en-US" dirty="0"/>
              <a:t>냥 </a:t>
            </a:r>
            <a:r>
              <a:rPr lang="en-US" altLang="ko-KR" dirty="0"/>
              <a:t>1</a:t>
            </a:r>
            <a:r>
              <a:rPr lang="ko-KR" altLang="en-US" dirty="0"/>
              <a:t>만원</a:t>
            </a:r>
            <a:r>
              <a:rPr lang="en-US" altLang="ko-KR" dirty="0"/>
              <a:t>,</a:t>
            </a:r>
            <a:r>
              <a:rPr lang="ko-KR" altLang="en-US" dirty="0"/>
              <a:t> 세 종류 제공 </a:t>
            </a:r>
            <a:r>
              <a:rPr lang="en-US" altLang="ko-KR" dirty="0"/>
              <a:t>(1</a:t>
            </a:r>
            <a:r>
              <a:rPr lang="ko-KR" altLang="en-US" dirty="0"/>
              <a:t>냥 </a:t>
            </a:r>
            <a:r>
              <a:rPr lang="en-US" altLang="ko-KR" dirty="0"/>
              <a:t>=</a:t>
            </a:r>
            <a:r>
              <a:rPr lang="ko-KR" altLang="en-US" dirty="0"/>
              <a:t>백 원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군량 </a:t>
            </a:r>
            <a:r>
              <a:rPr lang="en-US" altLang="ko-KR" dirty="0"/>
              <a:t>: 1</a:t>
            </a:r>
            <a:r>
              <a:rPr lang="ko-KR" altLang="en-US" dirty="0"/>
              <a:t>냥에 군량 </a:t>
            </a:r>
            <a:r>
              <a:rPr lang="en-US" altLang="ko-KR" dirty="0"/>
              <a:t>20 </a:t>
            </a:r>
            <a:r>
              <a:rPr lang="ko-KR" altLang="en-US" dirty="0"/>
              <a:t>충전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건축 자재 </a:t>
            </a:r>
            <a:r>
              <a:rPr lang="en-US" altLang="ko-KR" dirty="0"/>
              <a:t>: 1</a:t>
            </a:r>
            <a:r>
              <a:rPr lang="ko-KR" altLang="en-US" dirty="0"/>
              <a:t>냥에 자재 </a:t>
            </a:r>
            <a:r>
              <a:rPr lang="en-US" altLang="ko-KR" dirty="0"/>
              <a:t>1 </a:t>
            </a:r>
            <a:r>
              <a:rPr lang="ko-KR" altLang="en-US" dirty="0"/>
              <a:t>충전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장수 카드 </a:t>
            </a:r>
            <a:r>
              <a:rPr lang="en-US" altLang="ko-KR" dirty="0"/>
              <a:t>: 10</a:t>
            </a:r>
            <a:r>
              <a:rPr lang="ko-KR" altLang="en-US" dirty="0"/>
              <a:t>냥에 장수카드 </a:t>
            </a:r>
            <a:r>
              <a:rPr lang="en-US" altLang="ko-KR" dirty="0"/>
              <a:t>1</a:t>
            </a:r>
            <a:r>
              <a:rPr lang="ko-KR" altLang="en-US" dirty="0"/>
              <a:t>장</a:t>
            </a:r>
            <a:r>
              <a:rPr lang="en-US" altLang="ko-KR" dirty="0"/>
              <a:t>, 20</a:t>
            </a:r>
            <a:r>
              <a:rPr lang="ko-KR" altLang="en-US" dirty="0"/>
              <a:t>냥에 장수카드 </a:t>
            </a:r>
            <a:r>
              <a:rPr lang="en-US" altLang="ko-KR" dirty="0"/>
              <a:t>3</a:t>
            </a:r>
            <a:r>
              <a:rPr lang="ko-KR" altLang="en-US" dirty="0"/>
              <a:t>장</a:t>
            </a:r>
            <a:r>
              <a:rPr lang="en-US" altLang="ko-KR" dirty="0"/>
              <a:t>, 30</a:t>
            </a:r>
            <a:r>
              <a:rPr lang="ko-KR" altLang="en-US" dirty="0"/>
              <a:t>냥에 장수카드 </a:t>
            </a:r>
            <a:r>
              <a:rPr lang="en-US" altLang="ko-KR" dirty="0"/>
              <a:t>5</a:t>
            </a:r>
            <a:r>
              <a:rPr lang="ko-KR" altLang="en-US" dirty="0"/>
              <a:t>장</a:t>
            </a:r>
            <a:endParaRPr lang="en-US" altLang="ko-KR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S-C </a:t>
            </a:r>
            <a:r>
              <a:rPr lang="ko-KR" altLang="en-US" dirty="0"/>
              <a:t>등급 사이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잉여 카드 리사이클 </a:t>
            </a:r>
            <a:r>
              <a:rPr lang="en-US" altLang="ko-KR" dirty="0"/>
              <a:t>: </a:t>
            </a:r>
            <a:r>
              <a:rPr lang="ko-KR" altLang="en-US" dirty="0"/>
              <a:t>게임을 하다 보면 필요 없는 카드가 생김</a:t>
            </a:r>
            <a:r>
              <a:rPr lang="en-US" altLang="ko-KR" dirty="0"/>
              <a:t>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종류에 상관 없이</a:t>
            </a:r>
            <a:r>
              <a:rPr lang="en-US" altLang="ko-KR" dirty="0"/>
              <a:t>, 10</a:t>
            </a:r>
            <a:r>
              <a:rPr lang="ko-KR" altLang="en-US" dirty="0"/>
              <a:t>장을 소모해서 새 카드 </a:t>
            </a:r>
            <a:r>
              <a:rPr lang="en-US" altLang="ko-KR" dirty="0"/>
              <a:t>1</a:t>
            </a:r>
            <a:r>
              <a:rPr lang="ko-KR" altLang="en-US" dirty="0"/>
              <a:t>장을 뽑을 수 있음</a:t>
            </a:r>
            <a:endParaRPr lang="en-US" altLang="ko-KR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10</a:t>
            </a:r>
            <a:r>
              <a:rPr lang="ko-KR" altLang="en-US" dirty="0"/>
              <a:t>장에 대한 평균 점수 </a:t>
            </a:r>
            <a:r>
              <a:rPr lang="en-US" altLang="ko-KR" dirty="0"/>
              <a:t>(S=10,A=8,B=6,C=4,D=2) 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ko-KR" altLang="en-US" dirty="0"/>
              <a:t>반올림 후 가장 가까운 등급 </a:t>
            </a:r>
            <a:r>
              <a:rPr lang="en-US" altLang="ko-KR" dirty="0"/>
              <a:t>1</a:t>
            </a:r>
            <a:r>
              <a:rPr lang="ko-KR" altLang="en-US" dirty="0"/>
              <a:t>장</a:t>
            </a:r>
            <a:endParaRPr lang="en-US" altLang="ko-KR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평균이 걸쳐질 때 </a:t>
            </a:r>
            <a:r>
              <a:rPr lang="en-US" altLang="ko-KR" dirty="0"/>
              <a:t>(9, 7, 5, 3</a:t>
            </a:r>
            <a:r>
              <a:rPr lang="ko-KR" altLang="en-US" dirty="0"/>
              <a:t>점</a:t>
            </a:r>
            <a:r>
              <a:rPr lang="en-US" altLang="ko-KR" dirty="0"/>
              <a:t>) </a:t>
            </a:r>
            <a:r>
              <a:rPr lang="ko-KR" altLang="en-US" dirty="0"/>
              <a:t>위</a:t>
            </a:r>
            <a:r>
              <a:rPr lang="en-US" altLang="ko-KR" dirty="0"/>
              <a:t>/</a:t>
            </a:r>
            <a:r>
              <a:rPr lang="ko-KR" altLang="en-US" dirty="0"/>
              <a:t>아래 등급에 있는 카드 모두를 대상으로 </a:t>
            </a:r>
            <a:r>
              <a:rPr lang="ko-KR" altLang="en-US" dirty="0" err="1"/>
              <a:t>렌덤</a:t>
            </a:r>
            <a:r>
              <a:rPr lang="ko-KR" altLang="en-US" dirty="0"/>
              <a:t> 선택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아이템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둔갑천서 </a:t>
            </a:r>
            <a:r>
              <a:rPr lang="en-US" altLang="ko-KR" dirty="0"/>
              <a:t>(10</a:t>
            </a:r>
            <a:r>
              <a:rPr lang="ko-KR" altLang="en-US" dirty="0"/>
              <a:t>냥</a:t>
            </a:r>
            <a:r>
              <a:rPr lang="en-US" altLang="ko-KR" dirty="0"/>
              <a:t>) : </a:t>
            </a:r>
            <a:r>
              <a:rPr lang="ko-KR" altLang="en-US" dirty="0"/>
              <a:t>레벨 및 보유 책략 초기화</a:t>
            </a:r>
            <a:r>
              <a:rPr lang="en-US" altLang="ko-KR" dirty="0"/>
              <a:t>, </a:t>
            </a:r>
            <a:r>
              <a:rPr lang="ko-KR" altLang="en-US" dirty="0"/>
              <a:t>다시 선택 가능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46204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3CCF-C615-A6C7-FEF1-03FD447A3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0E28AB-83D1-562D-FD91-95C5570E2C60}"/>
              </a:ext>
            </a:extLst>
          </p:cNvPr>
          <p:cNvSpPr txBox="1"/>
          <p:nvPr/>
        </p:nvSpPr>
        <p:spPr>
          <a:xfrm>
            <a:off x="1013637" y="1162493"/>
            <a:ext cx="10164726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도시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레벨 </a:t>
            </a:r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en-US" altLang="ko-KR" dirty="0"/>
              <a:t>9</a:t>
            </a:r>
            <a:r>
              <a:rPr lang="ko-KR" altLang="en-US" dirty="0"/>
              <a:t>까지 있고 군량 생산량</a:t>
            </a:r>
            <a:r>
              <a:rPr lang="en-US" altLang="ko-KR" dirty="0"/>
              <a:t>, </a:t>
            </a:r>
            <a:r>
              <a:rPr lang="ko-KR" altLang="en-US" dirty="0"/>
              <a:t>캐릭터 보유 </a:t>
            </a:r>
            <a:r>
              <a:rPr lang="ko-KR" altLang="en-US" dirty="0" err="1"/>
              <a:t>덱</a:t>
            </a:r>
            <a:r>
              <a:rPr lang="ko-KR" altLang="en-US" dirty="0"/>
              <a:t> 크기가 달라짐 </a:t>
            </a:r>
            <a:r>
              <a:rPr lang="en-US" altLang="ko-KR" dirty="0"/>
              <a:t>(</a:t>
            </a:r>
            <a:r>
              <a:rPr lang="ko-KR" altLang="en-US" dirty="0"/>
              <a:t>엑셀 참조</a:t>
            </a:r>
            <a:r>
              <a:rPr lang="en-US" altLang="ko-KR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(</a:t>
            </a:r>
            <a:r>
              <a:rPr lang="ko-KR" altLang="en-US" dirty="0"/>
              <a:t>도시 레벨에 따른 풍경 이미지 변경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장수 관리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메뉴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장수 일람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장수 정보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성명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급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고유기술 및 설명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레벨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능력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책략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기물 별 출전 승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패 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적 처치 수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장수 업그레이드 메뉴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향상 능력</a:t>
            </a:r>
            <a:r>
              <a:rPr lang="en-US" altLang="ko-KR" dirty="0">
                <a:sym typeface="Wingdings" panose="05000000000000000000" pitchFamily="2" charset="2"/>
              </a:rPr>
              <a:t>(HP/MP/</a:t>
            </a:r>
            <a:r>
              <a:rPr lang="ko-KR" altLang="en-US" dirty="0">
                <a:sym typeface="Wingdings" panose="05000000000000000000" pitchFamily="2" charset="2"/>
              </a:rPr>
              <a:t>데미지 </a:t>
            </a:r>
            <a:r>
              <a:rPr lang="ko-KR" altLang="en-US" dirty="0" err="1">
                <a:sym typeface="Wingdings" panose="05000000000000000000" pitchFamily="2" charset="2"/>
              </a:rPr>
              <a:t>택</a:t>
            </a:r>
            <a:r>
              <a:rPr lang="en-US" altLang="ko-KR" dirty="0">
                <a:sym typeface="Wingdings" panose="05000000000000000000" pitchFamily="2" charset="2"/>
              </a:rPr>
              <a:t>1), </a:t>
            </a:r>
            <a:r>
              <a:rPr lang="ko-KR" altLang="en-US" dirty="0">
                <a:sym typeface="Wingdings" panose="05000000000000000000" pitchFamily="2" charset="2"/>
              </a:rPr>
              <a:t>책략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지원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 err="1">
                <a:sym typeface="Wingdings" panose="05000000000000000000" pitchFamily="2" charset="2"/>
              </a:rPr>
              <a:t>환술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택</a:t>
            </a:r>
            <a:r>
              <a:rPr lang="en-US" altLang="ko-KR" dirty="0">
                <a:sym typeface="Wingdings" panose="05000000000000000000" pitchFamily="2" charset="2"/>
              </a:rPr>
              <a:t>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도시 관리 메뉴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현재 도시 정보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도시 레벨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군량 생산량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캐릭터 풀 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보유 장군 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재료 현황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동맹 도시 리스트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증축 메뉴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1430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D6F8D-FF11-C451-24A2-BADBC315B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7CF985-4796-2D49-713C-FDDEEF7F7288}"/>
              </a:ext>
            </a:extLst>
          </p:cNvPr>
          <p:cNvSpPr txBox="1"/>
          <p:nvPr/>
        </p:nvSpPr>
        <p:spPr>
          <a:xfrm>
            <a:off x="1013637" y="1162493"/>
            <a:ext cx="10164726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랭킹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장군 기물 별</a:t>
            </a:r>
            <a:r>
              <a:rPr lang="en-US" altLang="ko-KR" dirty="0"/>
              <a:t>, </a:t>
            </a:r>
            <a:r>
              <a:rPr lang="ko-KR" altLang="en-US" dirty="0"/>
              <a:t>토탈 출전 승</a:t>
            </a:r>
            <a:r>
              <a:rPr lang="en-US" altLang="ko-KR" dirty="0"/>
              <a:t>/</a:t>
            </a:r>
            <a:r>
              <a:rPr lang="ko-KR" altLang="en-US" dirty="0"/>
              <a:t>패 수</a:t>
            </a:r>
            <a:r>
              <a:rPr lang="en-US" altLang="ko-KR" dirty="0"/>
              <a:t>, </a:t>
            </a:r>
            <a:r>
              <a:rPr lang="ko-KR" altLang="en-US" dirty="0"/>
              <a:t>적 처치 수</a:t>
            </a:r>
            <a:r>
              <a:rPr lang="en-US" altLang="ko-KR" dirty="0"/>
              <a:t> </a:t>
            </a:r>
            <a:r>
              <a:rPr lang="ko-KR" altLang="en-US" dirty="0"/>
              <a:t>랭킹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캐릭터 정보</a:t>
            </a:r>
            <a:r>
              <a:rPr lang="en-US" altLang="ko-KR" dirty="0"/>
              <a:t>, </a:t>
            </a:r>
            <a:r>
              <a:rPr lang="ko-KR" altLang="en-US" dirty="0"/>
              <a:t>사용자 정보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사용자의 도시 방문하기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도시 레벨</a:t>
            </a:r>
            <a:r>
              <a:rPr lang="en-US" altLang="ko-KR" dirty="0"/>
              <a:t>, </a:t>
            </a:r>
            <a:r>
              <a:rPr lang="ko-KR" altLang="en-US" dirty="0"/>
              <a:t>보유 장수 풀 공개</a:t>
            </a:r>
            <a:r>
              <a:rPr lang="en-US" altLang="ko-KR" dirty="0"/>
              <a:t> (</a:t>
            </a:r>
            <a:r>
              <a:rPr lang="ko-KR" altLang="en-US" dirty="0"/>
              <a:t>보유 장수들의 상세 정보 미공개</a:t>
            </a:r>
            <a:r>
              <a:rPr lang="en-US" altLang="ko-KR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동맹 맺기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다른 한쪽이 수락하면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보유 장수들의 상세 정보도 공개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도시 랭킹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도시 레벨</a:t>
            </a:r>
            <a:r>
              <a:rPr lang="en-US" altLang="ko-KR" dirty="0"/>
              <a:t>, </a:t>
            </a:r>
            <a:r>
              <a:rPr lang="ko-KR" altLang="en-US" dirty="0"/>
              <a:t>보유 장군 수</a:t>
            </a:r>
            <a:r>
              <a:rPr lang="en-US" altLang="ko-KR" dirty="0"/>
              <a:t>, </a:t>
            </a:r>
            <a:r>
              <a:rPr lang="ko-KR" altLang="en-US" dirty="0"/>
              <a:t>보유 장군들의 급 대로 환산 카운트하여 합계 랭킹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S=10, A=8, B=6, C=4, D=2</a:t>
            </a:r>
          </a:p>
        </p:txBody>
      </p:sp>
    </p:spTree>
    <p:extLst>
      <p:ext uri="{BB962C8B-B14F-4D97-AF65-F5344CB8AC3E}">
        <p14:creationId xmlns:p14="http://schemas.microsoft.com/office/powerpoint/2010/main" val="2824264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8499-2ABF-EB2E-296D-DE4924402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BC530C-116F-CB48-F4EE-D8448DBE12F3}"/>
              </a:ext>
            </a:extLst>
          </p:cNvPr>
          <p:cNvSpPr txBox="1"/>
          <p:nvPr/>
        </p:nvSpPr>
        <p:spPr>
          <a:xfrm>
            <a:off x="1013637" y="1042750"/>
            <a:ext cx="10164726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전투 </a:t>
            </a:r>
            <a:r>
              <a:rPr lang="en-US" altLang="ko-KR" b="1" dirty="0"/>
              <a:t>(</a:t>
            </a:r>
            <a:r>
              <a:rPr lang="ko-KR" altLang="en-US" b="1" dirty="0"/>
              <a:t>전투 전</a:t>
            </a:r>
            <a:r>
              <a:rPr lang="en-US" altLang="ko-KR" b="1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[AI </a:t>
            </a:r>
            <a:r>
              <a:rPr lang="ko-KR" altLang="en-US" dirty="0"/>
              <a:t>대전</a:t>
            </a:r>
            <a:r>
              <a:rPr lang="en-US" altLang="ko-KR" dirty="0"/>
              <a:t>, </a:t>
            </a:r>
            <a:r>
              <a:rPr lang="ko-KR" altLang="en-US" dirty="0"/>
              <a:t>온라인</a:t>
            </a:r>
            <a:r>
              <a:rPr lang="en-US" altLang="ko-KR" dirty="0"/>
              <a:t>]</a:t>
            </a:r>
            <a:r>
              <a:rPr lang="ko-KR" altLang="en-US" dirty="0"/>
              <a:t> 선택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[3:3, 5:5] </a:t>
            </a:r>
            <a:r>
              <a:rPr lang="ko-KR" altLang="en-US" dirty="0"/>
              <a:t>대결 선택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군량 체크 </a:t>
            </a:r>
            <a:r>
              <a:rPr lang="en-US" altLang="ko-KR" dirty="0"/>
              <a:t>(</a:t>
            </a:r>
            <a:r>
              <a:rPr lang="ko-KR" altLang="en-US" dirty="0"/>
              <a:t>충분하지 않다면 선택 불가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기물 선택 </a:t>
            </a:r>
            <a:r>
              <a:rPr lang="en-US" altLang="ko-KR" dirty="0"/>
              <a:t>(</a:t>
            </a:r>
            <a:r>
              <a:rPr lang="ko-KR" altLang="en-US" dirty="0"/>
              <a:t>킹은 이미 선택되어 있음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기물과 캐릭터 카드 매치 </a:t>
            </a:r>
            <a:r>
              <a:rPr lang="en-US" altLang="ko-KR" dirty="0"/>
              <a:t>&gt; </a:t>
            </a:r>
            <a:r>
              <a:rPr lang="ko-KR" altLang="en-US" dirty="0"/>
              <a:t>장수 선택 화면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기물 위치 선정 </a:t>
            </a:r>
            <a:r>
              <a:rPr lang="en-US" altLang="ko-KR" dirty="0"/>
              <a:t>[5 x 25 </a:t>
            </a:r>
            <a:r>
              <a:rPr lang="ko-KR" altLang="en-US" dirty="0"/>
              <a:t>맵 제공</a:t>
            </a:r>
            <a:r>
              <a:rPr lang="en-US" altLang="ko-KR" dirty="0"/>
              <a:t>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[</a:t>
            </a:r>
            <a:r>
              <a:rPr lang="ko-KR" altLang="en-US" dirty="0"/>
              <a:t>준비완료</a:t>
            </a:r>
            <a:r>
              <a:rPr lang="en-US" altLang="ko-KR" dirty="0"/>
              <a:t>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상대편이 완료되었는지 대기 최대 </a:t>
            </a:r>
            <a:r>
              <a:rPr lang="en-US" altLang="ko-KR" dirty="0"/>
              <a:t>1</a:t>
            </a:r>
            <a:r>
              <a:rPr lang="ko-KR" altLang="en-US" dirty="0"/>
              <a:t>분</a:t>
            </a:r>
            <a:r>
              <a:rPr lang="en-US" altLang="ko-KR" dirty="0"/>
              <a:t>. 1</a:t>
            </a:r>
            <a:r>
              <a:rPr lang="ko-KR" altLang="en-US" dirty="0"/>
              <a:t>분이 초과할 경우 커넥션 체크를 해서</a:t>
            </a:r>
            <a:r>
              <a:rPr lang="en-US" altLang="ko-KR" dirty="0"/>
              <a:t>,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상대방이 연결이 끊겼다면 안내 후 끝냄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연결 되었다면 전투화면으로 이동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45F318-8C3E-BE8C-7413-3301592FF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203" y="2858387"/>
            <a:ext cx="4026107" cy="749339"/>
          </a:xfrm>
          <a:prstGeom prst="rect">
            <a:avLst/>
          </a:prstGeom>
        </p:spPr>
      </p:pic>
      <p:sp>
        <p:nvSpPr>
          <p:cNvPr id="7" name="화살표: 위쪽 6">
            <a:extLst>
              <a:ext uri="{FF2B5EF4-FFF2-40B4-BE49-F238E27FC236}">
                <a16:creationId xmlns:a16="http://schemas.microsoft.com/office/drawing/2014/main" id="{B3175608-A8C9-1A6F-DC48-4BEF86C555B3}"/>
              </a:ext>
            </a:extLst>
          </p:cNvPr>
          <p:cNvSpPr/>
          <p:nvPr/>
        </p:nvSpPr>
        <p:spPr>
          <a:xfrm>
            <a:off x="8196943" y="1765261"/>
            <a:ext cx="859971" cy="97971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1711AC-278D-BB73-CBF3-1FABC4643A26}"/>
              </a:ext>
            </a:extLst>
          </p:cNvPr>
          <p:cNvSpPr txBox="1"/>
          <p:nvPr/>
        </p:nvSpPr>
        <p:spPr>
          <a:xfrm>
            <a:off x="6629399" y="2361597"/>
            <a:ext cx="1458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공격 방향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179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81B72-3EFE-1340-7C80-D4C28D0F1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916286-34C3-3790-17B6-513A30F73F78}"/>
              </a:ext>
            </a:extLst>
          </p:cNvPr>
          <p:cNvSpPr txBox="1"/>
          <p:nvPr/>
        </p:nvSpPr>
        <p:spPr>
          <a:xfrm>
            <a:off x="1013637" y="1042750"/>
            <a:ext cx="10164726" cy="2947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전투 </a:t>
            </a:r>
            <a:r>
              <a:rPr lang="en-US" altLang="ko-KR" b="1" dirty="0"/>
              <a:t>(</a:t>
            </a:r>
            <a:r>
              <a:rPr lang="ko-KR" altLang="en-US" b="1" dirty="0"/>
              <a:t>전투 직전</a:t>
            </a:r>
            <a:r>
              <a:rPr lang="en-US" altLang="ko-KR" b="1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누가 위</a:t>
            </a:r>
            <a:r>
              <a:rPr lang="en-US" altLang="ko-KR" dirty="0"/>
              <a:t>, </a:t>
            </a:r>
            <a:r>
              <a:rPr lang="ko-KR" altLang="en-US" dirty="0"/>
              <a:t>누가 아래 플레이어를 결정 </a:t>
            </a:r>
            <a:r>
              <a:rPr lang="en-US" altLang="ko-KR" dirty="0"/>
              <a:t>(</a:t>
            </a:r>
            <a:r>
              <a:rPr lang="ko-KR" altLang="en-US" dirty="0"/>
              <a:t>또는 좌</a:t>
            </a:r>
            <a:r>
              <a:rPr lang="en-US" altLang="ko-KR" dirty="0"/>
              <a:t>/</a:t>
            </a:r>
            <a:r>
              <a:rPr lang="ko-KR" altLang="en-US" dirty="0"/>
              <a:t>우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통솔력 기준으로 전 캐릭터 정렬</a:t>
            </a:r>
            <a:r>
              <a:rPr lang="en-US" altLang="ko-KR" dirty="0"/>
              <a:t>, </a:t>
            </a:r>
            <a:r>
              <a:rPr lang="ko-KR" altLang="en-US" dirty="0"/>
              <a:t>동점인 캐릭터들 간 순서는 랜덤으로 결정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각자 </a:t>
            </a:r>
            <a:r>
              <a:rPr lang="ko-KR" altLang="en-US" dirty="0" err="1"/>
              <a:t>맵을</a:t>
            </a:r>
            <a:r>
              <a:rPr lang="ko-KR" altLang="en-US" dirty="0"/>
              <a:t> 탐방하며 전략을 짜는 시간 </a:t>
            </a:r>
            <a:r>
              <a:rPr lang="en-US" altLang="ko-KR" dirty="0"/>
              <a:t>15</a:t>
            </a:r>
            <a:r>
              <a:rPr lang="ko-KR" altLang="en-US" dirty="0"/>
              <a:t>초 제공</a:t>
            </a:r>
            <a:r>
              <a:rPr lang="en-US" altLang="ko-KR" dirty="0"/>
              <a:t>, 20</a:t>
            </a:r>
            <a:r>
              <a:rPr lang="ko-KR" altLang="en-US" dirty="0"/>
              <a:t>초를 세는데</a:t>
            </a:r>
            <a:r>
              <a:rPr lang="en-US" altLang="ko-KR" dirty="0"/>
              <a:t>, 5</a:t>
            </a:r>
            <a:r>
              <a:rPr lang="ko-KR" altLang="en-US" dirty="0"/>
              <a:t>초전부터 카운트 다운 표시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자기 것 및 상대방 기물을 클릭했을 때 캐릭터 장수 정보를 확인 가능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기물</a:t>
            </a:r>
            <a:r>
              <a:rPr lang="en-US" altLang="ko-KR" dirty="0"/>
              <a:t> </a:t>
            </a:r>
            <a:r>
              <a:rPr lang="ko-KR" altLang="en-US" dirty="0"/>
              <a:t>왼쪽 아래에 장수 급과 레벨이 표시됨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상단에는 </a:t>
            </a:r>
            <a:r>
              <a:rPr lang="en-US" altLang="ko-KR" dirty="0"/>
              <a:t>HP(</a:t>
            </a:r>
            <a:r>
              <a:rPr lang="ko-KR" altLang="en-US" dirty="0"/>
              <a:t>초록</a:t>
            </a:r>
            <a:r>
              <a:rPr lang="en-US" altLang="ko-KR" dirty="0"/>
              <a:t>),</a:t>
            </a:r>
            <a:r>
              <a:rPr lang="ko-KR" altLang="en-US" dirty="0"/>
              <a:t> </a:t>
            </a:r>
            <a:r>
              <a:rPr lang="en-US" altLang="ko-KR" dirty="0"/>
              <a:t>MP(</a:t>
            </a:r>
            <a:r>
              <a:rPr lang="ko-KR" altLang="en-US" dirty="0"/>
              <a:t>파랑</a:t>
            </a:r>
            <a:r>
              <a:rPr lang="en-US" altLang="ko-KR" dirty="0"/>
              <a:t>), Waiting time (</a:t>
            </a:r>
            <a:r>
              <a:rPr lang="ko-KR" altLang="en-US" dirty="0"/>
              <a:t>흰색</a:t>
            </a:r>
            <a:r>
              <a:rPr lang="en-US" altLang="ko-KR" dirty="0"/>
              <a:t>, </a:t>
            </a:r>
            <a:r>
              <a:rPr lang="ko-KR" altLang="en-US" dirty="0"/>
              <a:t>내 턴이 끝나면 회색으로 채움</a:t>
            </a:r>
            <a:r>
              <a:rPr lang="en-US" altLang="ko-KR" dirty="0"/>
              <a:t>)</a:t>
            </a:r>
          </a:p>
        </p:txBody>
      </p:sp>
      <p:pic>
        <p:nvPicPr>
          <p:cNvPr id="3" name="그래픽 2" descr="전당포 단색으로 채워진">
            <a:extLst>
              <a:ext uri="{FF2B5EF4-FFF2-40B4-BE49-F238E27FC236}">
                <a16:creationId xmlns:a16="http://schemas.microsoft.com/office/drawing/2014/main" id="{DD8EDFA7-A6F9-0B7B-779F-1F95E1E807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79171" y="5009708"/>
            <a:ext cx="914400" cy="914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A9319CC-94B0-571B-0B5D-B1EE51A29893}"/>
              </a:ext>
            </a:extLst>
          </p:cNvPr>
          <p:cNvSpPr/>
          <p:nvPr/>
        </p:nvSpPr>
        <p:spPr>
          <a:xfrm>
            <a:off x="2001882" y="5651963"/>
            <a:ext cx="435429" cy="4136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A2</a:t>
            </a:r>
            <a:endParaRPr lang="ko-KR" altLang="en-US" sz="1200" b="1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E846A7D-3FFC-2C4D-6288-7F7E78E0CB8D}"/>
              </a:ext>
            </a:extLst>
          </p:cNvPr>
          <p:cNvSpPr/>
          <p:nvPr/>
        </p:nvSpPr>
        <p:spPr>
          <a:xfrm>
            <a:off x="2001882" y="4986848"/>
            <a:ext cx="1068977" cy="10689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D21B39B-B763-E9D1-013B-DB3B5174A583}"/>
              </a:ext>
            </a:extLst>
          </p:cNvPr>
          <p:cNvSpPr/>
          <p:nvPr/>
        </p:nvSpPr>
        <p:spPr>
          <a:xfrm>
            <a:off x="2001882" y="4428881"/>
            <a:ext cx="1068977" cy="13062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8401E7A-0AEA-8AAC-FE1D-27D43F11226A}"/>
              </a:ext>
            </a:extLst>
          </p:cNvPr>
          <p:cNvSpPr/>
          <p:nvPr/>
        </p:nvSpPr>
        <p:spPr>
          <a:xfrm>
            <a:off x="2001882" y="4610516"/>
            <a:ext cx="1068977" cy="130628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493EFB2-47D4-1D5E-392B-1ABA1208519C}"/>
              </a:ext>
            </a:extLst>
          </p:cNvPr>
          <p:cNvSpPr/>
          <p:nvPr/>
        </p:nvSpPr>
        <p:spPr>
          <a:xfrm>
            <a:off x="2001882" y="4805213"/>
            <a:ext cx="1068977" cy="1306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1EB33C0-C1E1-E36C-B3DC-4E95A9E3C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208" y="4614295"/>
            <a:ext cx="2828373" cy="207533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D7BCA4E-851F-4E56-1F5F-5478B1F51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318" y="4614295"/>
            <a:ext cx="2841820" cy="207533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6419DF3-540F-2DA9-9D54-ACE1C2D6B937}"/>
              </a:ext>
            </a:extLst>
          </p:cNvPr>
          <p:cNvSpPr txBox="1"/>
          <p:nvPr/>
        </p:nvSpPr>
        <p:spPr>
          <a:xfrm>
            <a:off x="3626208" y="4105217"/>
            <a:ext cx="510413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[3:3]</a:t>
            </a:r>
            <a:r>
              <a:rPr lang="ko-KR" altLang="en-US" b="1" dirty="0"/>
              <a:t> 전투</a:t>
            </a:r>
            <a:r>
              <a:rPr lang="en-US" altLang="ko-KR" b="1" dirty="0"/>
              <a:t>, [5:5] </a:t>
            </a:r>
            <a:r>
              <a:rPr lang="ko-KR" altLang="en-US" b="1" dirty="0"/>
              <a:t>전투</a:t>
            </a:r>
            <a:r>
              <a:rPr lang="en-US" altLang="ko-KR" b="1" dirty="0"/>
              <a:t> = 20 x 25 </a:t>
            </a:r>
            <a:r>
              <a:rPr lang="ko-KR" altLang="en-US" b="1" dirty="0"/>
              <a:t>바둑판식 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02911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2C3AD-06BD-5819-6BAF-6B7DE1EC8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74557817-7AFC-73AB-E536-00E4390928CC}"/>
              </a:ext>
            </a:extLst>
          </p:cNvPr>
          <p:cNvSpPr txBox="1"/>
          <p:nvPr/>
        </p:nvSpPr>
        <p:spPr>
          <a:xfrm>
            <a:off x="1013638" y="1042750"/>
            <a:ext cx="9632592" cy="5024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전투 화면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절대 시간 흐름 영역 </a:t>
            </a:r>
            <a:r>
              <a:rPr lang="en-US" altLang="ko-KR" dirty="0"/>
              <a:t>(</a:t>
            </a:r>
            <a:r>
              <a:rPr lang="ko-KR" altLang="en-US" dirty="0"/>
              <a:t>실제시간 </a:t>
            </a:r>
            <a:r>
              <a:rPr lang="en-US" altLang="ko-KR" dirty="0"/>
              <a:t>1</a:t>
            </a:r>
            <a:r>
              <a:rPr lang="ko-KR" altLang="en-US" dirty="0"/>
              <a:t>초를 게임상에서</a:t>
            </a:r>
            <a:r>
              <a:rPr lang="en-US" altLang="ko-KR" dirty="0"/>
              <a:t> 1</a:t>
            </a:r>
            <a:r>
              <a:rPr lang="ko-KR" altLang="en-US" dirty="0"/>
              <a:t>일로 표시</a:t>
            </a:r>
            <a:r>
              <a:rPr lang="en-US" altLang="ko-KR" dirty="0"/>
              <a:t>, 0.1</a:t>
            </a:r>
            <a:r>
              <a:rPr lang="ko-KR" altLang="en-US" dirty="0"/>
              <a:t>초 단위 시간 증가 보임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SP </a:t>
            </a:r>
            <a:r>
              <a:rPr lang="ko-KR" altLang="en-US" dirty="0"/>
              <a:t>바 영역 </a:t>
            </a:r>
            <a:r>
              <a:rPr lang="en-US" altLang="ko-KR" dirty="0"/>
              <a:t>(time 100 </a:t>
            </a:r>
            <a:r>
              <a:rPr lang="ko-KR" altLang="en-US" dirty="0"/>
              <a:t>마다 </a:t>
            </a:r>
            <a:r>
              <a:rPr lang="en-US" altLang="ko-KR" dirty="0"/>
              <a:t>1</a:t>
            </a:r>
            <a:r>
              <a:rPr lang="ko-KR" altLang="en-US" dirty="0"/>
              <a:t>씩 증가</a:t>
            </a:r>
            <a:r>
              <a:rPr lang="en-US" altLang="ko-KR" dirty="0"/>
              <a:t>, </a:t>
            </a:r>
            <a:r>
              <a:rPr lang="ko-KR" altLang="en-US" dirty="0"/>
              <a:t>최대</a:t>
            </a:r>
            <a:r>
              <a:rPr lang="en-US" altLang="ko-KR" dirty="0"/>
              <a:t> SP = 3:3</a:t>
            </a:r>
            <a:r>
              <a:rPr lang="ko-KR" altLang="en-US" dirty="0"/>
              <a:t>일 때 </a:t>
            </a:r>
            <a:r>
              <a:rPr lang="en-US" altLang="ko-KR" dirty="0"/>
              <a:t>15, 5:5</a:t>
            </a:r>
            <a:r>
              <a:rPr lang="ko-KR" altLang="en-US" dirty="0"/>
              <a:t>일 때 </a:t>
            </a:r>
            <a:r>
              <a:rPr lang="en-US" altLang="ko-KR" dirty="0"/>
              <a:t>25)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</a:t>
            </a:r>
            <a:r>
              <a:rPr lang="ko-KR" altLang="en-US" dirty="0"/>
              <a:t>급 부터 </a:t>
            </a:r>
            <a:r>
              <a:rPr lang="en-US" altLang="ko-KR" dirty="0"/>
              <a:t>B</a:t>
            </a:r>
            <a:r>
              <a:rPr lang="ko-KR" altLang="en-US" dirty="0"/>
              <a:t>급 까지 장수가 있다면</a:t>
            </a:r>
            <a:r>
              <a:rPr lang="en-US" altLang="ko-KR" dirty="0"/>
              <a:t>, </a:t>
            </a:r>
            <a:r>
              <a:rPr lang="ko-KR" altLang="en-US" dirty="0"/>
              <a:t>이들의 고유 기술 버튼 리스트 영역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버튼 누르면</a:t>
            </a:r>
            <a:r>
              <a:rPr lang="en-US" altLang="ko-KR" dirty="0"/>
              <a:t>, </a:t>
            </a:r>
            <a:r>
              <a:rPr lang="ko-KR" altLang="en-US" dirty="0"/>
              <a:t>잠깐 절대시간 멈추고 기술 애니메이션 표시 </a:t>
            </a:r>
            <a:r>
              <a:rPr lang="en-US" altLang="ko-KR" dirty="0"/>
              <a:t>1-3</a:t>
            </a:r>
            <a:r>
              <a:rPr lang="ko-KR" altLang="en-US" dirty="0"/>
              <a:t>초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발동된 고유 기술에 대한 이름과 시간 표시 영역</a:t>
            </a:r>
            <a:r>
              <a:rPr lang="en-US" altLang="ko-KR" dirty="0"/>
              <a:t>, </a:t>
            </a:r>
            <a:r>
              <a:rPr lang="ko-KR" altLang="en-US" dirty="0"/>
              <a:t>해당 캐릭터의 왼쪽 위에 배지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게임 맵 화면 영역</a:t>
            </a:r>
            <a:r>
              <a:rPr lang="en-US" altLang="ko-KR" dirty="0"/>
              <a:t>:</a:t>
            </a:r>
            <a:r>
              <a:rPr lang="ko-KR" altLang="en-US" dirty="0"/>
              <a:t> 줌</a:t>
            </a:r>
            <a:r>
              <a:rPr lang="en-US" altLang="ko-KR" dirty="0"/>
              <a:t>, </a:t>
            </a:r>
            <a:r>
              <a:rPr lang="ko-KR" altLang="en-US" dirty="0"/>
              <a:t>스크롤 기능 제공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어떤 캐릭터가 </a:t>
            </a:r>
            <a:r>
              <a:rPr lang="en-US" altLang="ko-KR" dirty="0"/>
              <a:t>waiting time </a:t>
            </a:r>
            <a:r>
              <a:rPr lang="ko-KR" altLang="en-US" dirty="0"/>
              <a:t>이 </a:t>
            </a:r>
            <a:r>
              <a:rPr lang="en-US" altLang="ko-KR" dirty="0"/>
              <a:t>0</a:t>
            </a:r>
            <a:r>
              <a:rPr lang="ko-KR" altLang="en-US" dirty="0"/>
              <a:t>이 되어 제어권을 가졌을 때 제어 </a:t>
            </a:r>
            <a:r>
              <a:rPr lang="ko-KR" altLang="en-US" dirty="0" err="1"/>
              <a:t>모달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이동</a:t>
            </a:r>
            <a:r>
              <a:rPr lang="en-US" altLang="ko-KR" dirty="0"/>
              <a:t>(</a:t>
            </a:r>
            <a:r>
              <a:rPr lang="ko-KR" altLang="en-US" dirty="0"/>
              <a:t>또는 제자리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</a:t>
            </a:r>
            <a:r>
              <a:rPr lang="ko-KR" altLang="en-US" dirty="0">
                <a:sym typeface="Wingdings" panose="05000000000000000000" pitchFamily="2" charset="2"/>
              </a:rPr>
              <a:t>공격</a:t>
            </a:r>
            <a:r>
              <a:rPr lang="en-US" altLang="ko-KR" dirty="0">
                <a:sym typeface="Wingdings" panose="05000000000000000000" pitchFamily="2" charset="2"/>
              </a:rPr>
              <a:t> or </a:t>
            </a:r>
            <a:r>
              <a:rPr lang="ko-KR" altLang="en-US" dirty="0">
                <a:sym typeface="Wingdings" panose="05000000000000000000" pitchFamily="2" charset="2"/>
              </a:rPr>
              <a:t>책략 </a:t>
            </a:r>
            <a:r>
              <a:rPr lang="en-US" altLang="ko-KR" dirty="0">
                <a:sym typeface="Wingdings" panose="05000000000000000000" pitchFamily="2" charset="2"/>
              </a:rPr>
              <a:t>or </a:t>
            </a:r>
            <a:r>
              <a:rPr lang="ko-KR" altLang="en-US" dirty="0">
                <a:sym typeface="Wingdings" panose="05000000000000000000" pitchFamily="2" charset="2"/>
              </a:rPr>
              <a:t>명상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제어 중일때는 절대 시간 멈춤</a:t>
            </a:r>
            <a:r>
              <a:rPr lang="en-US" altLang="ko-KR" dirty="0">
                <a:sym typeface="Wingdings" panose="05000000000000000000" pitchFamily="2" charset="2"/>
              </a:rPr>
              <a:t>. (</a:t>
            </a:r>
            <a:r>
              <a:rPr lang="ko-KR" altLang="en-US" dirty="0">
                <a:sym typeface="Wingdings" panose="05000000000000000000" pitchFamily="2" charset="2"/>
              </a:rPr>
              <a:t>명상 </a:t>
            </a:r>
            <a:r>
              <a:rPr lang="en-US" altLang="ko-KR" dirty="0">
                <a:sym typeface="Wingdings" panose="05000000000000000000" pitchFamily="2" charset="2"/>
              </a:rPr>
              <a:t>= MP </a:t>
            </a:r>
            <a:r>
              <a:rPr lang="ko-KR" altLang="en-US" dirty="0">
                <a:sym typeface="Wingdings" panose="05000000000000000000" pitchFamily="2" charset="2"/>
              </a:rPr>
              <a:t>회복 </a:t>
            </a:r>
            <a:r>
              <a:rPr lang="en-US" altLang="ko-KR" dirty="0">
                <a:sym typeface="Wingdings" panose="05000000000000000000" pitchFamily="2" charset="2"/>
              </a:rPr>
              <a:t>+1)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공격 </a:t>
            </a:r>
            <a:r>
              <a:rPr lang="en-US" altLang="ko-KR" dirty="0">
                <a:sym typeface="Wingdings" panose="05000000000000000000" pitchFamily="2" charset="2"/>
              </a:rPr>
              <a:t>or </a:t>
            </a:r>
            <a:r>
              <a:rPr lang="ko-KR" altLang="en-US" dirty="0">
                <a:sym typeface="Wingdings" panose="05000000000000000000" pitchFamily="2" charset="2"/>
              </a:rPr>
              <a:t>책략 </a:t>
            </a:r>
            <a:r>
              <a:rPr lang="en-US" altLang="ko-KR" dirty="0">
                <a:sym typeface="Wingdings" panose="05000000000000000000" pitchFamily="2" charset="2"/>
              </a:rPr>
              <a:t>or </a:t>
            </a:r>
            <a:r>
              <a:rPr lang="ko-KR" altLang="en-US" dirty="0">
                <a:sym typeface="Wingdings" panose="05000000000000000000" pitchFamily="2" charset="2"/>
              </a:rPr>
              <a:t>명상까지 끝냈을 때 절대시간 </a:t>
            </a:r>
            <a:r>
              <a:rPr lang="en-US" altLang="ko-KR" dirty="0">
                <a:sym typeface="Wingdings" panose="05000000000000000000" pitchFamily="2" charset="2"/>
              </a:rPr>
              <a:t>+1 </a:t>
            </a:r>
            <a:r>
              <a:rPr lang="ko-KR" altLang="en-US" dirty="0">
                <a:sym typeface="Wingdings" panose="05000000000000000000" pitchFamily="2" charset="2"/>
              </a:rPr>
              <a:t>흐름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제어 최대 시간 </a:t>
            </a:r>
            <a:r>
              <a:rPr lang="en-US" altLang="ko-KR" dirty="0">
                <a:sym typeface="Wingdings" panose="05000000000000000000" pitchFamily="2" charset="2"/>
              </a:rPr>
              <a:t>20</a:t>
            </a:r>
            <a:r>
              <a:rPr lang="ko-KR" altLang="en-US" dirty="0">
                <a:sym typeface="Wingdings" panose="05000000000000000000" pitchFamily="2" charset="2"/>
              </a:rPr>
              <a:t>초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그 이후로도 상대가 플레이 중이라면 </a:t>
            </a:r>
            <a:r>
              <a:rPr lang="en-US" altLang="ko-KR" dirty="0">
                <a:sym typeface="Wingdings" panose="05000000000000000000" pitchFamily="2" charset="2"/>
              </a:rPr>
              <a:t>[</a:t>
            </a:r>
            <a:r>
              <a:rPr lang="ko-KR" altLang="en-US" dirty="0">
                <a:sym typeface="Wingdings" panose="05000000000000000000" pitchFamily="2" charset="2"/>
              </a:rPr>
              <a:t>차례 넘기기</a:t>
            </a:r>
            <a:r>
              <a:rPr lang="en-US" altLang="ko-KR" dirty="0">
                <a:sym typeface="Wingdings" panose="05000000000000000000" pitchFamily="2" charset="2"/>
              </a:rPr>
              <a:t>] </a:t>
            </a:r>
            <a:r>
              <a:rPr lang="ko-KR" altLang="en-US" dirty="0">
                <a:sym typeface="Wingdings" panose="05000000000000000000" pitchFamily="2" charset="2"/>
              </a:rPr>
              <a:t>버튼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F12EF77-EF8D-32A1-5F53-342965C3C0F7}"/>
              </a:ext>
            </a:extLst>
          </p:cNvPr>
          <p:cNvSpPr/>
          <p:nvPr/>
        </p:nvSpPr>
        <p:spPr>
          <a:xfrm>
            <a:off x="9785168" y="4363566"/>
            <a:ext cx="1068977" cy="13062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36D3D89-360E-4C9A-F8E8-15BBCB48505F}"/>
              </a:ext>
            </a:extLst>
          </p:cNvPr>
          <p:cNvSpPr/>
          <p:nvPr/>
        </p:nvSpPr>
        <p:spPr>
          <a:xfrm>
            <a:off x="9785168" y="4545201"/>
            <a:ext cx="1068977" cy="130628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02E25F4-FFAB-4568-52F3-3A66F118209F}"/>
              </a:ext>
            </a:extLst>
          </p:cNvPr>
          <p:cNvSpPr/>
          <p:nvPr/>
        </p:nvSpPr>
        <p:spPr>
          <a:xfrm>
            <a:off x="9785168" y="4739898"/>
            <a:ext cx="1068977" cy="1306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B2AB90E-374B-A17D-776D-C43B721AAC19}"/>
              </a:ext>
            </a:extLst>
          </p:cNvPr>
          <p:cNvGrpSpPr/>
          <p:nvPr/>
        </p:nvGrpSpPr>
        <p:grpSpPr>
          <a:xfrm>
            <a:off x="9785168" y="4921533"/>
            <a:ext cx="1068977" cy="1078774"/>
            <a:chOff x="9785168" y="4921533"/>
            <a:chExt cx="1068977" cy="1078774"/>
          </a:xfrm>
        </p:grpSpPr>
        <p:pic>
          <p:nvPicPr>
            <p:cNvPr id="24" name="그래픽 23" descr="전당포 단색으로 채워진">
              <a:extLst>
                <a:ext uri="{FF2B5EF4-FFF2-40B4-BE49-F238E27FC236}">
                  <a16:creationId xmlns:a16="http://schemas.microsoft.com/office/drawing/2014/main" id="{71922631-5584-513C-C233-659095FD95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2457" y="4944393"/>
              <a:ext cx="914400" cy="914400"/>
            </a:xfrm>
            <a:prstGeom prst="rect">
              <a:avLst/>
            </a:prstGeom>
          </p:spPr>
        </p:pic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158A60A-17CF-82CD-8C9C-BA0E5F324FCF}"/>
                </a:ext>
              </a:extLst>
            </p:cNvPr>
            <p:cNvSpPr/>
            <p:nvPr/>
          </p:nvSpPr>
          <p:spPr>
            <a:xfrm>
              <a:off x="9785168" y="5586648"/>
              <a:ext cx="435429" cy="41365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/>
                <a:t>A2</a:t>
              </a:r>
              <a:endParaRPr lang="ko-KR" altLang="en-US" sz="1200" b="1" dirty="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119C2DA-C4BF-EFDE-7EC8-4691690481E1}"/>
                </a:ext>
              </a:extLst>
            </p:cNvPr>
            <p:cNvSpPr/>
            <p:nvPr/>
          </p:nvSpPr>
          <p:spPr>
            <a:xfrm>
              <a:off x="9785168" y="4921533"/>
              <a:ext cx="1068977" cy="106897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0B58A4D-E01F-CA0D-0127-274C0C36A7A6}"/>
                </a:ext>
              </a:extLst>
            </p:cNvPr>
            <p:cNvSpPr/>
            <p:nvPr/>
          </p:nvSpPr>
          <p:spPr>
            <a:xfrm>
              <a:off x="9785168" y="4921533"/>
              <a:ext cx="435429" cy="413659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/>
                <a:t>SP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5225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F3079-F453-1853-99B2-EF401ACE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D91D64F9-4CC3-1B49-73F3-757E282E9956}"/>
              </a:ext>
            </a:extLst>
          </p:cNvPr>
          <p:cNvSpPr txBox="1"/>
          <p:nvPr/>
        </p:nvSpPr>
        <p:spPr>
          <a:xfrm>
            <a:off x="1013638" y="1042750"/>
            <a:ext cx="6486619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기물의 이동과 공격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ym typeface="Wingdings" panose="05000000000000000000" pitchFamily="2" charset="2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4B9350F-2391-19BC-4DBF-B577AD5D7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751262"/>
              </p:ext>
            </p:extLst>
          </p:nvPr>
        </p:nvGraphicFramePr>
        <p:xfrm>
          <a:off x="1013638" y="1619160"/>
          <a:ext cx="5691962" cy="153797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04411">
                  <a:extLst>
                    <a:ext uri="{9D8B030D-6E8A-4147-A177-3AD203B41FA5}">
                      <a16:colId xmlns:a16="http://schemas.microsoft.com/office/drawing/2014/main" val="2758207367"/>
                    </a:ext>
                  </a:extLst>
                </a:gridCol>
                <a:gridCol w="2315014">
                  <a:extLst>
                    <a:ext uri="{9D8B030D-6E8A-4147-A177-3AD203B41FA5}">
                      <a16:colId xmlns:a16="http://schemas.microsoft.com/office/drawing/2014/main" val="1754078468"/>
                    </a:ext>
                  </a:extLst>
                </a:gridCol>
                <a:gridCol w="2272537">
                  <a:extLst>
                    <a:ext uri="{9D8B030D-6E8A-4147-A177-3AD203B41FA5}">
                      <a16:colId xmlns:a16="http://schemas.microsoft.com/office/drawing/2014/main" val="3063153241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이동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공격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0928201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King</a:t>
                      </a:r>
                      <a:endParaRPr lang="ko-KR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8방향 1칸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8방향 1칸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5705288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Rock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십자로 4칸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대각 1칸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1214851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Bishop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대각 4칸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4방향 1칸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1639913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Knight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전진2+대각1칸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r>
                        <a:rPr lang="ko-KR" sz="1400" u="none" strike="noStrike" dirty="0">
                          <a:effectLst/>
                        </a:rPr>
                        <a:t>방향 1칸</a:t>
                      </a:r>
                      <a:endParaRPr 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1072520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Queen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8방향 3칸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상하 1칸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3571562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Pawn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8방향 1칸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 dirty="0">
                          <a:effectLst/>
                        </a:rPr>
                        <a:t>4방향 2칸 (최대 2명 공격)</a:t>
                      </a:r>
                      <a:endParaRPr 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621983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5566E4E-5C96-313A-A871-220368725DFD}"/>
              </a:ext>
            </a:extLst>
          </p:cNvPr>
          <p:cNvSpPr txBox="1"/>
          <p:nvPr/>
        </p:nvSpPr>
        <p:spPr>
          <a:xfrm>
            <a:off x="1013638" y="3246579"/>
            <a:ext cx="6096000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(</a:t>
            </a:r>
            <a:r>
              <a:rPr lang="ko-KR" altLang="en-US" b="1" dirty="0"/>
              <a:t>좌</a:t>
            </a:r>
            <a:r>
              <a:rPr lang="en-US" altLang="ko-KR" b="1" dirty="0"/>
              <a:t>) </a:t>
            </a:r>
            <a:r>
              <a:rPr lang="ko-KR" altLang="en-US" b="1" dirty="0"/>
              <a:t>노란색은 이동범위</a:t>
            </a:r>
            <a:r>
              <a:rPr lang="en-US" altLang="ko-KR" b="1" dirty="0"/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(</a:t>
            </a:r>
            <a:r>
              <a:rPr lang="ko-KR" altLang="en-US" b="1" dirty="0"/>
              <a:t>중</a:t>
            </a:r>
            <a:r>
              <a:rPr lang="en-US" altLang="ko-KR" b="1" dirty="0"/>
              <a:t>) </a:t>
            </a:r>
            <a:r>
              <a:rPr lang="ko-KR" altLang="en-US" b="1" dirty="0"/>
              <a:t>빨간색은 공격범위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sz="1800" b="1" dirty="0"/>
              <a:t>(</a:t>
            </a:r>
            <a:r>
              <a:rPr lang="ko-KR" altLang="en-US" sz="1800" b="1" dirty="0"/>
              <a:t>우</a:t>
            </a:r>
            <a:r>
              <a:rPr lang="en-US" altLang="ko-KR" sz="1800" b="1" dirty="0"/>
              <a:t>) </a:t>
            </a:r>
            <a:r>
              <a:rPr lang="ko-KR" altLang="en-US" sz="1800" b="1" dirty="0"/>
              <a:t>이동하며 공격했을 때 한 턴에 최대 공격 가용 범위</a:t>
            </a:r>
            <a:endParaRPr lang="en-US" altLang="ko-KR" sz="1800" b="1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C53B183-2B47-EA87-3F41-2692F5EAFA85}"/>
              </a:ext>
            </a:extLst>
          </p:cNvPr>
          <p:cNvGrpSpPr/>
          <p:nvPr/>
        </p:nvGrpSpPr>
        <p:grpSpPr>
          <a:xfrm>
            <a:off x="7500257" y="254127"/>
            <a:ext cx="3971232" cy="6364725"/>
            <a:chOff x="7500257" y="254127"/>
            <a:chExt cx="3971232" cy="6364725"/>
          </a:xfrm>
        </p:grpSpPr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7907AD8A-C1CD-44CE-7E60-FBEAA0290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6688" y="254127"/>
              <a:ext cx="3025006" cy="6205940"/>
            </a:xfrm>
            <a:prstGeom prst="rect">
              <a:avLst/>
            </a:prstGeom>
          </p:spPr>
        </p:pic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4CBAFF69-1159-2A36-09DE-4497436D44E5}"/>
                </a:ext>
              </a:extLst>
            </p:cNvPr>
            <p:cNvGrpSpPr/>
            <p:nvPr/>
          </p:nvGrpSpPr>
          <p:grpSpPr>
            <a:xfrm>
              <a:off x="7500257" y="412915"/>
              <a:ext cx="3971232" cy="6205937"/>
              <a:chOff x="7500257" y="401691"/>
              <a:chExt cx="3971232" cy="6205937"/>
            </a:xfrm>
          </p:grpSpPr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B722319D-29FE-573A-8976-9626FD48FC17}"/>
                  </a:ext>
                </a:extLst>
              </p:cNvPr>
              <p:cNvCxnSpPr/>
              <p:nvPr/>
            </p:nvCxnSpPr>
            <p:spPr>
              <a:xfrm>
                <a:off x="8028421" y="869483"/>
                <a:ext cx="3429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2862655A-E667-B51B-E2D3-CE3DCBC329B2}"/>
                  </a:ext>
                </a:extLst>
              </p:cNvPr>
              <p:cNvCxnSpPr/>
              <p:nvPr/>
            </p:nvCxnSpPr>
            <p:spPr>
              <a:xfrm>
                <a:off x="8042489" y="2115350"/>
                <a:ext cx="3429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C0AE463D-E2A8-1CE5-C79F-A600588FD663}"/>
                  </a:ext>
                </a:extLst>
              </p:cNvPr>
              <p:cNvCxnSpPr/>
              <p:nvPr/>
            </p:nvCxnSpPr>
            <p:spPr>
              <a:xfrm>
                <a:off x="8042489" y="3331805"/>
                <a:ext cx="3429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3D9BE2DB-0874-8ED4-AD1E-5EA90C8146C0}"/>
                  </a:ext>
                </a:extLst>
              </p:cNvPr>
              <p:cNvCxnSpPr/>
              <p:nvPr/>
            </p:nvCxnSpPr>
            <p:spPr>
              <a:xfrm>
                <a:off x="8016069" y="4424898"/>
                <a:ext cx="3429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A242D18C-6121-439A-07A3-F4BF67AB461E}"/>
                  </a:ext>
                </a:extLst>
              </p:cNvPr>
              <p:cNvCxnSpPr/>
              <p:nvPr/>
            </p:nvCxnSpPr>
            <p:spPr>
              <a:xfrm>
                <a:off x="8042489" y="5542945"/>
                <a:ext cx="3429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1BFDF47B-24E5-DBC1-31C9-81F62ED6CC6F}"/>
                  </a:ext>
                </a:extLst>
              </p:cNvPr>
              <p:cNvCxnSpPr/>
              <p:nvPr/>
            </p:nvCxnSpPr>
            <p:spPr>
              <a:xfrm>
                <a:off x="8042489" y="6607628"/>
                <a:ext cx="3429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959B1415-6727-BB08-DF98-29CB75362E5E}"/>
                  </a:ext>
                </a:extLst>
              </p:cNvPr>
              <p:cNvGrpSpPr/>
              <p:nvPr/>
            </p:nvGrpSpPr>
            <p:grpSpPr>
              <a:xfrm>
                <a:off x="7500257" y="401691"/>
                <a:ext cx="914400" cy="5746137"/>
                <a:chOff x="7721420" y="401691"/>
                <a:chExt cx="914400" cy="5746137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68C52B7-9DD1-BD3B-5D4A-63B300C14C41}"/>
                    </a:ext>
                  </a:extLst>
                </p:cNvPr>
                <p:cNvSpPr txBox="1"/>
                <p:nvPr/>
              </p:nvSpPr>
              <p:spPr>
                <a:xfrm>
                  <a:off x="7721420" y="401691"/>
                  <a:ext cx="914400" cy="3693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King</a:t>
                  </a:r>
                  <a:endParaRPr lang="ko-KR" altLang="en-US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966E096-3588-BDE7-EDE8-6B98EDA63061}"/>
                    </a:ext>
                  </a:extLst>
                </p:cNvPr>
                <p:cNvSpPr txBox="1"/>
                <p:nvPr/>
              </p:nvSpPr>
              <p:spPr>
                <a:xfrm>
                  <a:off x="7721420" y="1268404"/>
                  <a:ext cx="914400" cy="3693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Rock</a:t>
                  </a:r>
                  <a:endParaRPr lang="ko-KR" altLang="en-US" dirty="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44CB095-19AA-F4A6-B5E4-4432A38C4B73}"/>
                    </a:ext>
                  </a:extLst>
                </p:cNvPr>
                <p:cNvSpPr txBox="1"/>
                <p:nvPr/>
              </p:nvSpPr>
              <p:spPr>
                <a:xfrm>
                  <a:off x="7721420" y="2297956"/>
                  <a:ext cx="914400" cy="3693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Bishop</a:t>
                  </a:r>
                  <a:endParaRPr lang="ko-KR" altLang="en-US" dirty="0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77BC7E6-B314-B0A8-C94E-D7A611154A09}"/>
                    </a:ext>
                  </a:extLst>
                </p:cNvPr>
                <p:cNvSpPr txBox="1"/>
                <p:nvPr/>
              </p:nvSpPr>
              <p:spPr>
                <a:xfrm>
                  <a:off x="7721420" y="3519906"/>
                  <a:ext cx="914400" cy="3693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Knight</a:t>
                  </a:r>
                  <a:endParaRPr lang="ko-KR" altLang="en-US" dirty="0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AFB8A56-5853-DD71-2966-960369EB4CAA}"/>
                    </a:ext>
                  </a:extLst>
                </p:cNvPr>
                <p:cNvSpPr txBox="1"/>
                <p:nvPr/>
              </p:nvSpPr>
              <p:spPr>
                <a:xfrm>
                  <a:off x="7721420" y="4741538"/>
                  <a:ext cx="914400" cy="3693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Queen</a:t>
                  </a:r>
                  <a:endParaRPr lang="ko-KR" altLang="en-US" dirty="0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AD9D7AF-22B8-467E-62FA-5EF5BD936DC0}"/>
                    </a:ext>
                  </a:extLst>
                </p:cNvPr>
                <p:cNvSpPr txBox="1"/>
                <p:nvPr/>
              </p:nvSpPr>
              <p:spPr>
                <a:xfrm>
                  <a:off x="7721420" y="5778511"/>
                  <a:ext cx="914400" cy="3693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Pawn</a:t>
                  </a:r>
                  <a:endParaRPr lang="ko-KR" alt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0796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14123-FE50-2267-238B-E82266E33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1A2510A2-4FAC-7229-0144-A0D2EF203C2A}"/>
              </a:ext>
            </a:extLst>
          </p:cNvPr>
          <p:cNvSpPr/>
          <p:nvPr/>
        </p:nvSpPr>
        <p:spPr>
          <a:xfrm>
            <a:off x="4600646" y="930985"/>
            <a:ext cx="3141170" cy="49581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A01045C-3D3E-C158-7C5F-8641E2D4E6A1}"/>
              </a:ext>
            </a:extLst>
          </p:cNvPr>
          <p:cNvSpPr/>
          <p:nvPr/>
        </p:nvSpPr>
        <p:spPr>
          <a:xfrm>
            <a:off x="1013638" y="930985"/>
            <a:ext cx="3141170" cy="49581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29CB6E-3E17-E61B-DB6B-B755218C6399}"/>
              </a:ext>
            </a:extLst>
          </p:cNvPr>
          <p:cNvSpPr txBox="1"/>
          <p:nvPr/>
        </p:nvSpPr>
        <p:spPr>
          <a:xfrm>
            <a:off x="1013638" y="476693"/>
            <a:ext cx="159893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전투 중 화면</a:t>
            </a:r>
            <a:endParaRPr lang="en-US" altLang="ko-KR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90F4C00-35A9-AB85-2E28-86AA01EF4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526" y="2622787"/>
            <a:ext cx="2841820" cy="207533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89AB39D-E766-2014-CDA9-5E408C3E5018}"/>
              </a:ext>
            </a:extLst>
          </p:cNvPr>
          <p:cNvSpPr/>
          <p:nvPr/>
        </p:nvSpPr>
        <p:spPr>
          <a:xfrm>
            <a:off x="1162525" y="1031435"/>
            <a:ext cx="1420910" cy="31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절대시간 흐름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95418D-71CD-6F1A-91B1-B8AB5BC76EFC}"/>
              </a:ext>
            </a:extLst>
          </p:cNvPr>
          <p:cNvSpPr/>
          <p:nvPr/>
        </p:nvSpPr>
        <p:spPr>
          <a:xfrm>
            <a:off x="1162525" y="1470298"/>
            <a:ext cx="1420910" cy="31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SP </a:t>
            </a:r>
            <a:r>
              <a:rPr lang="ko-KR" altLang="en-US" sz="1400" dirty="0"/>
              <a:t>바 영역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EE7C17-28AF-8506-85E8-4B3B2C7B7C5F}"/>
              </a:ext>
            </a:extLst>
          </p:cNvPr>
          <p:cNvSpPr/>
          <p:nvPr/>
        </p:nvSpPr>
        <p:spPr>
          <a:xfrm>
            <a:off x="1162525" y="1871756"/>
            <a:ext cx="2841820" cy="31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발동 가능한 고유 기술 들</a:t>
            </a:r>
          </a:p>
        </p:txBody>
      </p:sp>
      <p:pic>
        <p:nvPicPr>
          <p:cNvPr id="12" name="그래픽 11" descr="남자 옆모습 단색으로 채워진">
            <a:extLst>
              <a:ext uri="{FF2B5EF4-FFF2-40B4-BE49-F238E27FC236}">
                <a16:creationId xmlns:a16="http://schemas.microsoft.com/office/drawing/2014/main" id="{5CDD872D-7272-1390-B250-E6DC773983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638" y="4715950"/>
            <a:ext cx="914400" cy="9144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BFECDD-3A47-7BEF-E612-6C9F2D45202A}"/>
              </a:ext>
            </a:extLst>
          </p:cNvPr>
          <p:cNvSpPr/>
          <p:nvPr/>
        </p:nvSpPr>
        <p:spPr>
          <a:xfrm>
            <a:off x="1847923" y="4781265"/>
            <a:ext cx="2156422" cy="7288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/>
              <a:t>장수 이름 </a:t>
            </a:r>
            <a:r>
              <a:rPr lang="en-US" altLang="ko-KR" sz="1400" dirty="0"/>
              <a:t>[</a:t>
            </a:r>
            <a:r>
              <a:rPr lang="ko-KR" altLang="en-US" sz="1400" dirty="0"/>
              <a:t>기물</a:t>
            </a:r>
            <a:r>
              <a:rPr lang="en-US" altLang="ko-KR" sz="1400" dirty="0"/>
              <a:t>]</a:t>
            </a:r>
          </a:p>
          <a:p>
            <a:r>
              <a:rPr lang="en-US" altLang="ko-KR" sz="1400" dirty="0"/>
              <a:t>HP, MP, </a:t>
            </a:r>
            <a:r>
              <a:rPr lang="ko-KR" altLang="en-US" sz="1400" dirty="0"/>
              <a:t>공격력</a:t>
            </a:r>
            <a:endParaRPr lang="en-US" altLang="ko-KR" sz="1400" dirty="0"/>
          </a:p>
          <a:p>
            <a:r>
              <a:rPr lang="ko-KR" altLang="en-US" sz="1400" dirty="0"/>
              <a:t>무력</a:t>
            </a:r>
            <a:r>
              <a:rPr lang="en-US" altLang="ko-KR" sz="1400" dirty="0"/>
              <a:t>, </a:t>
            </a:r>
            <a:r>
              <a:rPr lang="ko-KR" altLang="en-US" sz="1400" dirty="0"/>
              <a:t>지력</a:t>
            </a:r>
            <a:r>
              <a:rPr lang="en-US" altLang="ko-KR" sz="1400" dirty="0"/>
              <a:t>, </a:t>
            </a:r>
            <a:r>
              <a:rPr lang="ko-KR" altLang="en-US" sz="1400" dirty="0"/>
              <a:t>통솔력</a:t>
            </a:r>
            <a:endParaRPr lang="en-US" altLang="ko-KR" sz="1400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383D252-B291-3127-8975-0A81F905F440}"/>
              </a:ext>
            </a:extLst>
          </p:cNvPr>
          <p:cNvSpPr/>
          <p:nvPr/>
        </p:nvSpPr>
        <p:spPr>
          <a:xfrm>
            <a:off x="2629702" y="3100474"/>
            <a:ext cx="779919" cy="1134305"/>
          </a:xfrm>
          <a:prstGeom prst="roundRect">
            <a:avLst>
              <a:gd name="adj" fmla="val 271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C4F6D1-EE8C-0149-6BAE-5F102E567A32}"/>
              </a:ext>
            </a:extLst>
          </p:cNvPr>
          <p:cNvSpPr/>
          <p:nvPr/>
        </p:nvSpPr>
        <p:spPr>
          <a:xfrm>
            <a:off x="2733209" y="3182645"/>
            <a:ext cx="572907" cy="1988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이동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1D927DD-8127-6CFB-1100-6E5A7470291F}"/>
              </a:ext>
            </a:extLst>
          </p:cNvPr>
          <p:cNvSpPr/>
          <p:nvPr/>
        </p:nvSpPr>
        <p:spPr>
          <a:xfrm>
            <a:off x="2733209" y="3447653"/>
            <a:ext cx="572907" cy="1988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공격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E0E57C6-15D6-91A0-B573-2626940FC5B2}"/>
              </a:ext>
            </a:extLst>
          </p:cNvPr>
          <p:cNvSpPr/>
          <p:nvPr/>
        </p:nvSpPr>
        <p:spPr>
          <a:xfrm>
            <a:off x="2733209" y="3712661"/>
            <a:ext cx="572907" cy="1988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책략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D4CF73-B632-A676-3583-B34A96497CCD}"/>
              </a:ext>
            </a:extLst>
          </p:cNvPr>
          <p:cNvGrpSpPr/>
          <p:nvPr/>
        </p:nvGrpSpPr>
        <p:grpSpPr>
          <a:xfrm>
            <a:off x="2269522" y="4156663"/>
            <a:ext cx="545375" cy="550373"/>
            <a:chOff x="9785168" y="4921533"/>
            <a:chExt cx="1068977" cy="1078774"/>
          </a:xfrm>
        </p:grpSpPr>
        <p:pic>
          <p:nvPicPr>
            <p:cNvPr id="21" name="그래픽 20" descr="전당포 단색으로 채워진">
              <a:extLst>
                <a:ext uri="{FF2B5EF4-FFF2-40B4-BE49-F238E27FC236}">
                  <a16:creationId xmlns:a16="http://schemas.microsoft.com/office/drawing/2014/main" id="{3A7D3805-85F7-1545-C7A2-CBF095388B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862457" y="4944393"/>
              <a:ext cx="914400" cy="914400"/>
            </a:xfrm>
            <a:prstGeom prst="rect">
              <a:avLst/>
            </a:prstGeom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3F2EA4D-7D0C-9F59-CD16-69551D43F8B3}"/>
                </a:ext>
              </a:extLst>
            </p:cNvPr>
            <p:cNvSpPr/>
            <p:nvPr/>
          </p:nvSpPr>
          <p:spPr>
            <a:xfrm>
              <a:off x="9785168" y="5586648"/>
              <a:ext cx="435429" cy="41365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/>
                <a:t>A2</a:t>
              </a:r>
              <a:endParaRPr lang="ko-KR" altLang="en-US" sz="800" b="1" dirty="0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2494AB3C-0EDE-353B-DE7A-67438DEE244C}"/>
                </a:ext>
              </a:extLst>
            </p:cNvPr>
            <p:cNvSpPr/>
            <p:nvPr/>
          </p:nvSpPr>
          <p:spPr>
            <a:xfrm>
              <a:off x="9785168" y="4921533"/>
              <a:ext cx="1068977" cy="106897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0F6D59C-469E-F5E2-56C0-7564ECC36485}"/>
                </a:ext>
              </a:extLst>
            </p:cNvPr>
            <p:cNvSpPr/>
            <p:nvPr/>
          </p:nvSpPr>
          <p:spPr>
            <a:xfrm>
              <a:off x="9785168" y="4921533"/>
              <a:ext cx="435429" cy="413659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/>
                <a:t>SP</a:t>
              </a:r>
              <a:endParaRPr lang="ko-KR" altLang="en-US" sz="800" b="1" dirty="0"/>
            </a:p>
          </p:txBody>
        </p:sp>
      </p:grp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7C9D1F3-3E00-BFB3-DF17-BB2869CC938F}"/>
              </a:ext>
            </a:extLst>
          </p:cNvPr>
          <p:cNvSpPr/>
          <p:nvPr/>
        </p:nvSpPr>
        <p:spPr>
          <a:xfrm>
            <a:off x="3270349" y="1031435"/>
            <a:ext cx="733996" cy="72886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14</a:t>
            </a:r>
            <a:r>
              <a:rPr lang="ko-KR" altLang="en-US" sz="1400" dirty="0"/>
              <a:t>초</a:t>
            </a: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BDC5C1E8-F784-1BFE-83AC-55F5EB388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534" y="2601810"/>
            <a:ext cx="2841820" cy="2075335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9993E022-06F9-E93A-9232-7F2CC588D9FB}"/>
              </a:ext>
            </a:extLst>
          </p:cNvPr>
          <p:cNvSpPr/>
          <p:nvPr/>
        </p:nvSpPr>
        <p:spPr>
          <a:xfrm>
            <a:off x="4749533" y="1010458"/>
            <a:ext cx="1420910" cy="31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절대시간 흐름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62D5C3F-E64F-C19D-E57B-258EFD77D07F}"/>
              </a:ext>
            </a:extLst>
          </p:cNvPr>
          <p:cNvSpPr/>
          <p:nvPr/>
        </p:nvSpPr>
        <p:spPr>
          <a:xfrm>
            <a:off x="4749533" y="1449321"/>
            <a:ext cx="1420910" cy="31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SP </a:t>
            </a:r>
            <a:r>
              <a:rPr lang="ko-KR" altLang="en-US" sz="1400" dirty="0"/>
              <a:t>바 영역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A694C69-9652-B1A8-23B8-A05B7D7284BB}"/>
              </a:ext>
            </a:extLst>
          </p:cNvPr>
          <p:cNvSpPr/>
          <p:nvPr/>
        </p:nvSpPr>
        <p:spPr>
          <a:xfrm>
            <a:off x="4749533" y="1850779"/>
            <a:ext cx="2841820" cy="31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발동 가능한 고유 기술 들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FE3F441-FCD8-24B3-99DC-FAFF3843D86D}"/>
              </a:ext>
            </a:extLst>
          </p:cNvPr>
          <p:cNvGrpSpPr/>
          <p:nvPr/>
        </p:nvGrpSpPr>
        <p:grpSpPr>
          <a:xfrm>
            <a:off x="5856530" y="4135686"/>
            <a:ext cx="545375" cy="550373"/>
            <a:chOff x="9785168" y="4921533"/>
            <a:chExt cx="1068977" cy="1078774"/>
          </a:xfrm>
        </p:grpSpPr>
        <p:pic>
          <p:nvPicPr>
            <p:cNvPr id="47" name="그래픽 46" descr="전당포 단색으로 채워진">
              <a:extLst>
                <a:ext uri="{FF2B5EF4-FFF2-40B4-BE49-F238E27FC236}">
                  <a16:creationId xmlns:a16="http://schemas.microsoft.com/office/drawing/2014/main" id="{D5427A91-1A9D-A3FC-B09C-3609127685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862457" y="4944393"/>
              <a:ext cx="914400" cy="914400"/>
            </a:xfrm>
            <a:prstGeom prst="rect">
              <a:avLst/>
            </a:prstGeom>
          </p:spPr>
        </p:pic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5807120-3C6A-DBCE-8A51-6DF7BC6C3524}"/>
                </a:ext>
              </a:extLst>
            </p:cNvPr>
            <p:cNvSpPr/>
            <p:nvPr/>
          </p:nvSpPr>
          <p:spPr>
            <a:xfrm>
              <a:off x="9785168" y="5586648"/>
              <a:ext cx="435429" cy="41365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/>
                <a:t>A2</a:t>
              </a:r>
              <a:endParaRPr lang="ko-KR" altLang="en-US" sz="800" b="1" dirty="0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680AEA17-0CBA-9C07-B2CF-695133C3E6AB}"/>
                </a:ext>
              </a:extLst>
            </p:cNvPr>
            <p:cNvSpPr/>
            <p:nvPr/>
          </p:nvSpPr>
          <p:spPr>
            <a:xfrm>
              <a:off x="9785168" y="4921533"/>
              <a:ext cx="1068977" cy="106897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C5A0AB22-FA7D-A84A-FDEA-7C21A1FDF7C6}"/>
                </a:ext>
              </a:extLst>
            </p:cNvPr>
            <p:cNvSpPr/>
            <p:nvPr/>
          </p:nvSpPr>
          <p:spPr>
            <a:xfrm>
              <a:off x="9785168" y="4921533"/>
              <a:ext cx="435429" cy="413659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/>
                <a:t>SP</a:t>
              </a:r>
              <a:endParaRPr lang="ko-KR" altLang="en-US" sz="800" b="1" dirty="0"/>
            </a:p>
          </p:txBody>
        </p:sp>
      </p:grp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F9DCBAC6-DF02-901F-07B7-328680A48006}"/>
              </a:ext>
            </a:extLst>
          </p:cNvPr>
          <p:cNvSpPr/>
          <p:nvPr/>
        </p:nvSpPr>
        <p:spPr>
          <a:xfrm>
            <a:off x="6857357" y="1010458"/>
            <a:ext cx="733996" cy="72886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14</a:t>
            </a:r>
            <a:r>
              <a:rPr lang="ko-KR" altLang="en-US" sz="1400" dirty="0"/>
              <a:t>초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F78DAEE-83D0-D015-5AD5-48B551AE4DD4}"/>
              </a:ext>
            </a:extLst>
          </p:cNvPr>
          <p:cNvSpPr/>
          <p:nvPr/>
        </p:nvSpPr>
        <p:spPr>
          <a:xfrm>
            <a:off x="4749534" y="5235761"/>
            <a:ext cx="2841820" cy="34925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턴 넘기기</a:t>
            </a:r>
            <a:endParaRPr lang="en-US" altLang="ko-KR" sz="140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67FD451-F490-1EAD-D574-631204CDB9ED}"/>
              </a:ext>
            </a:extLst>
          </p:cNvPr>
          <p:cNvSpPr/>
          <p:nvPr/>
        </p:nvSpPr>
        <p:spPr>
          <a:xfrm>
            <a:off x="4749533" y="4777369"/>
            <a:ext cx="2841820" cy="3492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r>
              <a:rPr lang="ko-KR" altLang="en-US" sz="1400" dirty="0"/>
              <a:t>님이 </a:t>
            </a:r>
            <a:r>
              <a:rPr lang="en-US" altLang="ko-KR" sz="1400" dirty="0"/>
              <a:t>“</a:t>
            </a:r>
            <a:r>
              <a:rPr lang="ko-KR" altLang="en-US" sz="1400" dirty="0"/>
              <a:t>유비</a:t>
            </a:r>
            <a:r>
              <a:rPr lang="en-US" altLang="ko-KR" sz="1400" dirty="0"/>
              <a:t>”</a:t>
            </a:r>
            <a:r>
              <a:rPr lang="ko-KR" altLang="en-US" sz="1400" dirty="0"/>
              <a:t>를 제어 중입니다</a:t>
            </a:r>
            <a:r>
              <a:rPr lang="en-US" altLang="ko-KR" sz="1400" dirty="0"/>
              <a:t>.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B347F06-3F74-78C1-52F0-9D095931E016}"/>
              </a:ext>
            </a:extLst>
          </p:cNvPr>
          <p:cNvSpPr/>
          <p:nvPr/>
        </p:nvSpPr>
        <p:spPr>
          <a:xfrm>
            <a:off x="8265783" y="930985"/>
            <a:ext cx="3141170" cy="49581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E6A9A183-0D50-F4B4-6085-D2307E66D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671" y="2622787"/>
            <a:ext cx="2841820" cy="2075335"/>
          </a:xfrm>
          <a:prstGeom prst="rect">
            <a:avLst/>
          </a:prstGeom>
        </p:spPr>
      </p:pic>
      <p:sp>
        <p:nvSpPr>
          <p:cNvPr id="68" name="직사각형 67">
            <a:extLst>
              <a:ext uri="{FF2B5EF4-FFF2-40B4-BE49-F238E27FC236}">
                <a16:creationId xmlns:a16="http://schemas.microsoft.com/office/drawing/2014/main" id="{E40DBDA1-9F91-B098-9393-C2762FFBC789}"/>
              </a:ext>
            </a:extLst>
          </p:cNvPr>
          <p:cNvSpPr/>
          <p:nvPr/>
        </p:nvSpPr>
        <p:spPr>
          <a:xfrm>
            <a:off x="8414670" y="1031435"/>
            <a:ext cx="1420910" cy="31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절대시간 흐름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1C99B57-C2E7-3342-DD92-F1AAEAC0A467}"/>
              </a:ext>
            </a:extLst>
          </p:cNvPr>
          <p:cNvSpPr/>
          <p:nvPr/>
        </p:nvSpPr>
        <p:spPr>
          <a:xfrm>
            <a:off x="8414670" y="1470298"/>
            <a:ext cx="1420910" cy="31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SP </a:t>
            </a:r>
            <a:r>
              <a:rPr lang="ko-KR" altLang="en-US" sz="1400" dirty="0"/>
              <a:t>바 영역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8AAFA45-C308-836E-DDE1-646C4BA54B8E}"/>
              </a:ext>
            </a:extLst>
          </p:cNvPr>
          <p:cNvSpPr/>
          <p:nvPr/>
        </p:nvSpPr>
        <p:spPr>
          <a:xfrm>
            <a:off x="8414670" y="1871756"/>
            <a:ext cx="2841820" cy="31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발동 가능한 고유 기술 들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C03395BD-4ED3-3B63-A5DD-EE9BD8AFABBF}"/>
              </a:ext>
            </a:extLst>
          </p:cNvPr>
          <p:cNvSpPr/>
          <p:nvPr/>
        </p:nvSpPr>
        <p:spPr>
          <a:xfrm>
            <a:off x="6358675" y="3243603"/>
            <a:ext cx="975888" cy="958518"/>
          </a:xfrm>
          <a:prstGeom prst="roundRect">
            <a:avLst>
              <a:gd name="adj" fmla="val 271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유비 관련 정보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8B356DA9-77F9-9B30-8718-77245DE038EB}"/>
              </a:ext>
            </a:extLst>
          </p:cNvPr>
          <p:cNvSpPr/>
          <p:nvPr/>
        </p:nvSpPr>
        <p:spPr>
          <a:xfrm>
            <a:off x="8414670" y="4733826"/>
            <a:ext cx="936159" cy="31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유비</a:t>
            </a:r>
            <a:endParaRPr lang="en-US" altLang="ko-KR" sz="1400" dirty="0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40AFE6E-68BF-D80B-B883-CA2899D10090}"/>
              </a:ext>
            </a:extLst>
          </p:cNvPr>
          <p:cNvSpPr/>
          <p:nvPr/>
        </p:nvSpPr>
        <p:spPr>
          <a:xfrm>
            <a:off x="8414670" y="5131388"/>
            <a:ext cx="936159" cy="31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조조</a:t>
            </a:r>
            <a:endParaRPr lang="en-US" altLang="ko-KR" sz="1400" dirty="0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B894C8E-7922-B582-6CC3-47C78637AEED}"/>
              </a:ext>
            </a:extLst>
          </p:cNvPr>
          <p:cNvSpPr/>
          <p:nvPr/>
        </p:nvSpPr>
        <p:spPr>
          <a:xfrm>
            <a:off x="8414670" y="5527314"/>
            <a:ext cx="936159" cy="31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관우</a:t>
            </a:r>
            <a:endParaRPr lang="en-US" altLang="ko-KR" sz="1400" dirty="0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C4CC44DE-11A6-7143-9763-4E1D16579FE8}"/>
              </a:ext>
            </a:extLst>
          </p:cNvPr>
          <p:cNvSpPr/>
          <p:nvPr/>
        </p:nvSpPr>
        <p:spPr>
          <a:xfrm>
            <a:off x="9350829" y="4811485"/>
            <a:ext cx="993248" cy="1609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51913865-7A44-B8F3-4E3B-3F4B6B04929C}"/>
              </a:ext>
            </a:extLst>
          </p:cNvPr>
          <p:cNvSpPr/>
          <p:nvPr/>
        </p:nvSpPr>
        <p:spPr>
          <a:xfrm>
            <a:off x="9350828" y="5213171"/>
            <a:ext cx="1230085" cy="1609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5B336BC5-0291-6048-B418-C9B771779452}"/>
              </a:ext>
            </a:extLst>
          </p:cNvPr>
          <p:cNvSpPr/>
          <p:nvPr/>
        </p:nvSpPr>
        <p:spPr>
          <a:xfrm>
            <a:off x="9350827" y="5605995"/>
            <a:ext cx="1426030" cy="1609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C1687BB-4D4F-F5BE-A55B-3E67ACF165CA}"/>
              </a:ext>
            </a:extLst>
          </p:cNvPr>
          <p:cNvSpPr txBox="1"/>
          <p:nvPr/>
        </p:nvSpPr>
        <p:spPr>
          <a:xfrm>
            <a:off x="1013339" y="6055327"/>
            <a:ext cx="3141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내가 제어권을 가졌을 때</a:t>
            </a:r>
            <a:endParaRPr lang="ko-KR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1CDAD15-61B4-653C-4366-1A391F410023}"/>
              </a:ext>
            </a:extLst>
          </p:cNvPr>
          <p:cNvSpPr txBox="1"/>
          <p:nvPr/>
        </p:nvSpPr>
        <p:spPr>
          <a:xfrm>
            <a:off x="4600646" y="6055327"/>
            <a:ext cx="3141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상대가 </a:t>
            </a:r>
            <a:r>
              <a:rPr lang="ko-KR" altLang="en-US" dirty="0"/>
              <a:t>제어권을 가졌을 때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C757B5A-8248-EF54-1F6C-203344600D44}"/>
              </a:ext>
            </a:extLst>
          </p:cNvPr>
          <p:cNvSpPr txBox="1"/>
          <p:nvPr/>
        </p:nvSpPr>
        <p:spPr>
          <a:xfrm>
            <a:off x="8264994" y="6045465"/>
            <a:ext cx="3141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누구의 턴도 아닐 때</a:t>
            </a:r>
            <a:endParaRPr lang="ko-KR" altLang="en-US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5FF5C08-AF01-0AD8-6F41-B071EE19520D}"/>
              </a:ext>
            </a:extLst>
          </p:cNvPr>
          <p:cNvSpPr txBox="1"/>
          <p:nvPr/>
        </p:nvSpPr>
        <p:spPr>
          <a:xfrm>
            <a:off x="10535697" y="4884087"/>
            <a:ext cx="8561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Waiting </a:t>
            </a:r>
          </a:p>
          <a:p>
            <a:pPr algn="ctr"/>
            <a:r>
              <a:rPr lang="en-US" altLang="ko-KR" sz="1400" dirty="0"/>
              <a:t>time</a:t>
            </a:r>
            <a:endParaRPr lang="ko-KR" altLang="en-US" sz="1400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0455376D-5471-D024-F061-4AD7B67A06FB}"/>
              </a:ext>
            </a:extLst>
          </p:cNvPr>
          <p:cNvSpPr/>
          <p:nvPr/>
        </p:nvSpPr>
        <p:spPr>
          <a:xfrm>
            <a:off x="9318169" y="2240324"/>
            <a:ext cx="993250" cy="31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고유기술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0F1BCC1D-E44A-4118-9EE2-CBD58652909F}"/>
              </a:ext>
            </a:extLst>
          </p:cNvPr>
          <p:cNvSpPr/>
          <p:nvPr/>
        </p:nvSpPr>
        <p:spPr>
          <a:xfrm>
            <a:off x="8414670" y="2239701"/>
            <a:ext cx="843980" cy="3033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장수 명</a:t>
            </a: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8C501306-0DBB-1C8B-FBA3-B5AC4510E6FA}"/>
              </a:ext>
            </a:extLst>
          </p:cNvPr>
          <p:cNvSpPr/>
          <p:nvPr/>
        </p:nvSpPr>
        <p:spPr>
          <a:xfrm>
            <a:off x="10311036" y="2340469"/>
            <a:ext cx="993248" cy="1609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4C1B900D-89C2-EFD2-48DB-7FD8F1D012DA}"/>
              </a:ext>
            </a:extLst>
          </p:cNvPr>
          <p:cNvSpPr/>
          <p:nvPr/>
        </p:nvSpPr>
        <p:spPr>
          <a:xfrm>
            <a:off x="5648100" y="2229438"/>
            <a:ext cx="993250" cy="31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고유기술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47E7620F-171B-A84D-5660-0655352B0A4D}"/>
              </a:ext>
            </a:extLst>
          </p:cNvPr>
          <p:cNvSpPr/>
          <p:nvPr/>
        </p:nvSpPr>
        <p:spPr>
          <a:xfrm>
            <a:off x="4744601" y="2228815"/>
            <a:ext cx="843980" cy="3033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장수 명</a:t>
            </a:r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E02D3A97-7D97-AD37-457D-72264EE874E7}"/>
              </a:ext>
            </a:extLst>
          </p:cNvPr>
          <p:cNvSpPr/>
          <p:nvPr/>
        </p:nvSpPr>
        <p:spPr>
          <a:xfrm>
            <a:off x="6640967" y="2329583"/>
            <a:ext cx="993248" cy="1609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E0968B4C-D005-1E1D-C929-17EBCAABC265}"/>
              </a:ext>
            </a:extLst>
          </p:cNvPr>
          <p:cNvSpPr/>
          <p:nvPr/>
        </p:nvSpPr>
        <p:spPr>
          <a:xfrm>
            <a:off x="2066024" y="2263422"/>
            <a:ext cx="993250" cy="31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고유기술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6971E9B9-28A2-C58A-50E8-D699C6F60F59}"/>
              </a:ext>
            </a:extLst>
          </p:cNvPr>
          <p:cNvSpPr/>
          <p:nvPr/>
        </p:nvSpPr>
        <p:spPr>
          <a:xfrm>
            <a:off x="1162525" y="2262799"/>
            <a:ext cx="843980" cy="3033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장수 명</a:t>
            </a: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9AC12D44-9225-E70E-374C-FEE6CB83483B}"/>
              </a:ext>
            </a:extLst>
          </p:cNvPr>
          <p:cNvSpPr/>
          <p:nvPr/>
        </p:nvSpPr>
        <p:spPr>
          <a:xfrm>
            <a:off x="3058891" y="2363567"/>
            <a:ext cx="993248" cy="1609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E5EC6FEB-FF52-EC65-49FF-E9B7CA7CF02B}"/>
              </a:ext>
            </a:extLst>
          </p:cNvPr>
          <p:cNvSpPr/>
          <p:nvPr/>
        </p:nvSpPr>
        <p:spPr>
          <a:xfrm>
            <a:off x="2733209" y="3972053"/>
            <a:ext cx="572907" cy="1988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명상</a:t>
            </a:r>
          </a:p>
        </p:txBody>
      </p:sp>
    </p:spTree>
    <p:extLst>
      <p:ext uri="{BB962C8B-B14F-4D97-AF65-F5344CB8AC3E}">
        <p14:creationId xmlns:p14="http://schemas.microsoft.com/office/powerpoint/2010/main" val="3893345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718A7-2E19-5B79-CC0F-0452AD8E0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5AD03A7-F70C-8B1A-6951-9D625E828200}"/>
              </a:ext>
            </a:extLst>
          </p:cNvPr>
          <p:cNvSpPr txBox="1"/>
          <p:nvPr/>
        </p:nvSpPr>
        <p:spPr>
          <a:xfrm>
            <a:off x="1013638" y="1042750"/>
            <a:ext cx="9632592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전투 중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기물 아이콘 구성 왼쪽 </a:t>
            </a:r>
            <a:r>
              <a:rPr lang="en-US" altLang="ko-KR" dirty="0"/>
              <a:t>{</a:t>
            </a:r>
            <a:r>
              <a:rPr lang="ko-KR" altLang="en-US" dirty="0"/>
              <a:t>아래</a:t>
            </a:r>
            <a:r>
              <a:rPr lang="en-US" altLang="ko-KR" dirty="0"/>
              <a:t>: </a:t>
            </a:r>
            <a:r>
              <a:rPr lang="ko-KR" altLang="en-US" dirty="0"/>
              <a:t>급</a:t>
            </a:r>
            <a:r>
              <a:rPr lang="en-US" altLang="ko-KR" dirty="0"/>
              <a:t>+</a:t>
            </a:r>
            <a:r>
              <a:rPr lang="ko-KR" altLang="en-US" dirty="0"/>
              <a:t>레벨</a:t>
            </a:r>
            <a:r>
              <a:rPr lang="en-US" altLang="ko-KR" dirty="0"/>
              <a:t>}, {</a:t>
            </a:r>
            <a:r>
              <a:rPr lang="ko-KR" altLang="en-US" dirty="0"/>
              <a:t>위</a:t>
            </a:r>
            <a:r>
              <a:rPr lang="en-US" altLang="ko-KR" dirty="0"/>
              <a:t>: </a:t>
            </a:r>
            <a:r>
              <a:rPr lang="ko-KR" altLang="en-US" dirty="0"/>
              <a:t>고유기술 발동 상태 </a:t>
            </a:r>
            <a:r>
              <a:rPr lang="en-US" altLang="ko-KR" dirty="0"/>
              <a:t>– </a:t>
            </a:r>
            <a:r>
              <a:rPr lang="ko-KR" altLang="en-US" dirty="0"/>
              <a:t>본인 버프 기술</a:t>
            </a:r>
            <a:r>
              <a:rPr lang="en-US" altLang="ko-KR" dirty="0"/>
              <a:t>}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오른쪽 아래</a:t>
            </a:r>
            <a:r>
              <a:rPr lang="en-US" altLang="ko-KR" dirty="0"/>
              <a:t>: </a:t>
            </a:r>
            <a:r>
              <a:rPr lang="ko-KR" altLang="en-US" dirty="0" err="1"/>
              <a:t>환술</a:t>
            </a:r>
            <a:r>
              <a:rPr lang="en-US" altLang="ko-KR" dirty="0"/>
              <a:t>, </a:t>
            </a:r>
            <a:r>
              <a:rPr lang="ko-KR" altLang="en-US" dirty="0" err="1"/>
              <a:t>디버프</a:t>
            </a:r>
            <a:r>
              <a:rPr lang="ko-KR" altLang="en-US" dirty="0"/>
              <a:t> 상태</a:t>
            </a:r>
            <a:r>
              <a:rPr lang="en-US" altLang="ko-KR" dirty="0"/>
              <a:t>. </a:t>
            </a:r>
            <a:r>
              <a:rPr lang="ko-KR" altLang="en-US" dirty="0"/>
              <a:t>오른쪽 위</a:t>
            </a:r>
            <a:r>
              <a:rPr lang="en-US" altLang="ko-KR" dirty="0"/>
              <a:t>: </a:t>
            </a:r>
            <a:r>
              <a:rPr lang="ko-KR" altLang="en-US" dirty="0"/>
              <a:t>버프 효과 </a:t>
            </a:r>
            <a:r>
              <a:rPr lang="en-US" altLang="ko-KR" dirty="0"/>
              <a:t>(Critical 100%, </a:t>
            </a:r>
            <a:r>
              <a:rPr lang="ko-KR" altLang="en-US" dirty="0"/>
              <a:t>데미지 반감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오른쪽 아래나 위는 버프</a:t>
            </a:r>
            <a:r>
              <a:rPr lang="en-US" altLang="ko-KR" dirty="0"/>
              <a:t>, </a:t>
            </a:r>
            <a:r>
              <a:rPr lang="ko-KR" altLang="en-US" dirty="0" err="1"/>
              <a:t>디버프</a:t>
            </a:r>
            <a:r>
              <a:rPr lang="ko-KR" altLang="en-US" dirty="0"/>
              <a:t> 카드가 중첩되어 보일 수 있음</a:t>
            </a:r>
            <a:r>
              <a:rPr lang="en-US" altLang="ko-KR" dirty="0"/>
              <a:t>.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5D58324-B1BC-C8F7-6AF0-29D901A4ED02}"/>
              </a:ext>
            </a:extLst>
          </p:cNvPr>
          <p:cNvGrpSpPr/>
          <p:nvPr/>
        </p:nvGrpSpPr>
        <p:grpSpPr>
          <a:xfrm>
            <a:off x="8663940" y="3525367"/>
            <a:ext cx="1215931" cy="1724914"/>
            <a:chOff x="9785168" y="4363566"/>
            <a:chExt cx="1215931" cy="1724914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A0CA21E5-33EC-A8B8-3B31-F84166B922D1}"/>
                </a:ext>
              </a:extLst>
            </p:cNvPr>
            <p:cNvSpPr/>
            <p:nvPr/>
          </p:nvSpPr>
          <p:spPr>
            <a:xfrm>
              <a:off x="9785168" y="4921533"/>
              <a:ext cx="1068977" cy="106897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4" name="그래픽 23" descr="전당포 단색으로 채워진">
              <a:extLst>
                <a:ext uri="{FF2B5EF4-FFF2-40B4-BE49-F238E27FC236}">
                  <a16:creationId xmlns:a16="http://schemas.microsoft.com/office/drawing/2014/main" id="{043048EB-5356-6E66-D3F3-2055534648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2457" y="4944393"/>
              <a:ext cx="914400" cy="914400"/>
            </a:xfrm>
            <a:prstGeom prst="rect">
              <a:avLst/>
            </a:prstGeom>
          </p:spPr>
        </p:pic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9260EEB6-2040-3429-0497-675D7D691503}"/>
                </a:ext>
              </a:extLst>
            </p:cNvPr>
            <p:cNvSpPr/>
            <p:nvPr/>
          </p:nvSpPr>
          <p:spPr>
            <a:xfrm>
              <a:off x="9785168" y="4363566"/>
              <a:ext cx="1068977" cy="130628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155579BD-40DE-6FFC-0570-88638197AE3C}"/>
                </a:ext>
              </a:extLst>
            </p:cNvPr>
            <p:cNvSpPr/>
            <p:nvPr/>
          </p:nvSpPr>
          <p:spPr>
            <a:xfrm>
              <a:off x="9785168" y="4545201"/>
              <a:ext cx="1068977" cy="130628"/>
            </a:xfrm>
            <a:prstGeom prst="roundRect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70618528-E21E-98F7-A954-47E70CF8A213}"/>
                </a:ext>
              </a:extLst>
            </p:cNvPr>
            <p:cNvSpPr/>
            <p:nvPr/>
          </p:nvSpPr>
          <p:spPr>
            <a:xfrm>
              <a:off x="9785168" y="4739898"/>
              <a:ext cx="1068977" cy="130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7DD5F1C-509D-7E4D-24BF-5FCDC9AF3F29}"/>
                </a:ext>
              </a:extLst>
            </p:cNvPr>
            <p:cNvSpPr/>
            <p:nvPr/>
          </p:nvSpPr>
          <p:spPr>
            <a:xfrm>
              <a:off x="9785168" y="5586648"/>
              <a:ext cx="435429" cy="41365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/>
                <a:t>A2</a:t>
              </a:r>
              <a:endParaRPr lang="ko-KR" altLang="en-US" sz="1200" b="1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8E9F40FE-A761-7E95-35ED-44B28232758A}"/>
                </a:ext>
              </a:extLst>
            </p:cNvPr>
            <p:cNvSpPr/>
            <p:nvPr/>
          </p:nvSpPr>
          <p:spPr>
            <a:xfrm>
              <a:off x="9785168" y="4921533"/>
              <a:ext cx="435429" cy="413659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/>
                <a:t>SP</a:t>
              </a:r>
              <a:endParaRPr lang="ko-KR" altLang="en-US" sz="1200" b="1" dirty="0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7979B5A-BA1A-CCE8-494E-C684F46FF6A6}"/>
                </a:ext>
              </a:extLst>
            </p:cNvPr>
            <p:cNvGrpSpPr/>
            <p:nvPr/>
          </p:nvGrpSpPr>
          <p:grpSpPr>
            <a:xfrm>
              <a:off x="10418716" y="5576851"/>
              <a:ext cx="533399" cy="511629"/>
              <a:chOff x="10418716" y="5576851"/>
              <a:chExt cx="533399" cy="511629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3C874D6C-81BB-A3C7-817C-72FE983157F8}"/>
                  </a:ext>
                </a:extLst>
              </p:cNvPr>
              <p:cNvSpPr/>
              <p:nvPr/>
            </p:nvSpPr>
            <p:spPr>
              <a:xfrm>
                <a:off x="10516686" y="5674821"/>
                <a:ext cx="435429" cy="413659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/>
                  <a:t>A2</a:t>
                </a:r>
                <a:endParaRPr lang="ko-KR" altLang="en-US" sz="1200" b="1" dirty="0"/>
              </a:p>
            </p:txBody>
          </p:sp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18BE7A45-A030-A0D1-C2FC-D70EE4F7D9A3}"/>
                  </a:ext>
                </a:extLst>
              </p:cNvPr>
              <p:cNvSpPr/>
              <p:nvPr/>
            </p:nvSpPr>
            <p:spPr>
              <a:xfrm>
                <a:off x="10418716" y="5576851"/>
                <a:ext cx="435429" cy="413659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/>
                  <a:t>A</a:t>
                </a:r>
                <a:r>
                  <a:rPr lang="ko-KR" altLang="en-US" sz="1100" b="1" dirty="0"/>
                  <a:t>↓</a:t>
                </a: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113BBF6-7E4C-3B2C-7CAE-8C9C925B6FE7}"/>
                </a:ext>
              </a:extLst>
            </p:cNvPr>
            <p:cNvGrpSpPr/>
            <p:nvPr/>
          </p:nvGrpSpPr>
          <p:grpSpPr>
            <a:xfrm>
              <a:off x="10467700" y="4934595"/>
              <a:ext cx="533399" cy="511629"/>
              <a:chOff x="10418716" y="5576851"/>
              <a:chExt cx="533399" cy="511629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225E3855-630F-A45D-1F5D-06091B526C52}"/>
                  </a:ext>
                </a:extLst>
              </p:cNvPr>
              <p:cNvSpPr/>
              <p:nvPr/>
            </p:nvSpPr>
            <p:spPr>
              <a:xfrm>
                <a:off x="10516686" y="5674821"/>
                <a:ext cx="435429" cy="413659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/>
                  <a:t>A2</a:t>
                </a:r>
                <a:endParaRPr lang="ko-KR" altLang="en-US" sz="1200" b="1" dirty="0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B5154809-791F-D969-F55C-5C293F39BF42}"/>
                  </a:ext>
                </a:extLst>
              </p:cNvPr>
              <p:cNvSpPr/>
              <p:nvPr/>
            </p:nvSpPr>
            <p:spPr>
              <a:xfrm>
                <a:off x="10418716" y="5576851"/>
                <a:ext cx="435429" cy="413659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/>
                  <a:t>Cr</a:t>
                </a:r>
                <a:endParaRPr lang="ko-KR" altLang="en-US" sz="12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3078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A13B3-146C-1E44-BAFC-40D63CE6A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87139958-1573-BB9C-C52E-32CE688B64CA}"/>
              </a:ext>
            </a:extLst>
          </p:cNvPr>
          <p:cNvSpPr txBox="1"/>
          <p:nvPr/>
        </p:nvSpPr>
        <p:spPr>
          <a:xfrm>
            <a:off x="1013638" y="1059959"/>
            <a:ext cx="9480191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전투 종료 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조조의 고유기술을 제외하고</a:t>
            </a:r>
            <a:r>
              <a:rPr lang="en-US" altLang="ko-KR" dirty="0"/>
              <a:t>(2</a:t>
            </a:r>
            <a:r>
              <a:rPr lang="ko-KR" altLang="en-US" dirty="0"/>
              <a:t>번 격파해야 함</a:t>
            </a:r>
            <a:r>
              <a:rPr lang="en-US" altLang="ko-KR" dirty="0"/>
              <a:t>), </a:t>
            </a:r>
            <a:r>
              <a:rPr lang="ko-KR" altLang="en-US" dirty="0"/>
              <a:t>상대의 군주 캐릭터를 퇴각시키면 승리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승리 보상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군량 </a:t>
            </a:r>
            <a:r>
              <a:rPr lang="en-US" altLang="ko-KR" dirty="0"/>
              <a:t>+1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장수 카드 </a:t>
            </a:r>
            <a:r>
              <a:rPr lang="en-US" altLang="ko-KR" dirty="0"/>
              <a:t>1</a:t>
            </a:r>
            <a:r>
              <a:rPr lang="ko-KR" altLang="en-US" dirty="0"/>
              <a:t>장</a:t>
            </a:r>
            <a:endParaRPr lang="en-US" altLang="ko-KR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팀에 </a:t>
            </a:r>
            <a:r>
              <a:rPr lang="en-US" altLang="ko-KR" dirty="0"/>
              <a:t>D</a:t>
            </a:r>
            <a:r>
              <a:rPr lang="ko-KR" altLang="en-US" dirty="0"/>
              <a:t>급 장수 </a:t>
            </a:r>
            <a:r>
              <a:rPr lang="en-US" altLang="ko-KR" dirty="0"/>
              <a:t>1</a:t>
            </a:r>
            <a:r>
              <a:rPr lang="ko-KR" altLang="en-US" dirty="0"/>
              <a:t>명이 포함되었을 때</a:t>
            </a:r>
            <a:r>
              <a:rPr lang="en-US" altLang="ko-KR" dirty="0"/>
              <a:t>: C</a:t>
            </a:r>
            <a:r>
              <a:rPr lang="ko-KR" altLang="en-US" dirty="0"/>
              <a:t>급 장수 중 </a:t>
            </a:r>
            <a:r>
              <a:rPr lang="en-US" altLang="ko-KR" dirty="0"/>
              <a:t>1</a:t>
            </a:r>
            <a:r>
              <a:rPr lang="ko-KR" altLang="en-US" dirty="0"/>
              <a:t>장</a:t>
            </a:r>
            <a:endParaRPr lang="en-US" altLang="ko-KR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팀에 </a:t>
            </a:r>
            <a:r>
              <a:rPr lang="en-US" altLang="ko-KR" dirty="0"/>
              <a:t>D</a:t>
            </a:r>
            <a:r>
              <a:rPr lang="ko-KR" altLang="en-US" dirty="0"/>
              <a:t>급 장수 </a:t>
            </a:r>
            <a:r>
              <a:rPr lang="en-US" altLang="ko-KR" dirty="0"/>
              <a:t>2</a:t>
            </a:r>
            <a:r>
              <a:rPr lang="ko-KR" altLang="en-US" dirty="0"/>
              <a:t>명을 놓고 승리</a:t>
            </a:r>
            <a:r>
              <a:rPr lang="en-US" altLang="ko-KR" dirty="0"/>
              <a:t>: B</a:t>
            </a:r>
            <a:r>
              <a:rPr lang="ko-KR" altLang="en-US" dirty="0"/>
              <a:t>급 장수 중 </a:t>
            </a:r>
            <a:r>
              <a:rPr lang="en-US" altLang="ko-KR" dirty="0"/>
              <a:t>1</a:t>
            </a:r>
            <a:r>
              <a:rPr lang="ko-KR" altLang="en-US" dirty="0"/>
              <a:t>장</a:t>
            </a:r>
            <a:endParaRPr lang="en-US" altLang="ko-KR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그 외</a:t>
            </a:r>
            <a:r>
              <a:rPr lang="en-US" altLang="ko-KR" dirty="0"/>
              <a:t>: B-D</a:t>
            </a:r>
            <a:r>
              <a:rPr lang="ko-KR" altLang="en-US" dirty="0"/>
              <a:t>급 장수 중 </a:t>
            </a:r>
            <a:r>
              <a:rPr lang="en-US" altLang="ko-KR" dirty="0"/>
              <a:t>1</a:t>
            </a:r>
            <a:r>
              <a:rPr lang="ko-KR" altLang="en-US" dirty="0"/>
              <a:t>장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패배 보상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장수 카드</a:t>
            </a:r>
            <a:r>
              <a:rPr lang="en-US" altLang="ko-KR" dirty="0"/>
              <a:t> C-D</a:t>
            </a:r>
            <a:r>
              <a:rPr lang="ko-KR" altLang="en-US" dirty="0"/>
              <a:t>급 장수 중 </a:t>
            </a:r>
            <a:r>
              <a:rPr lang="en-US" altLang="ko-KR" dirty="0"/>
              <a:t>1</a:t>
            </a:r>
            <a:r>
              <a:rPr lang="ko-KR" altLang="en-US" dirty="0"/>
              <a:t>장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각 출전 캐릭터의 승패 기록</a:t>
            </a: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EB7653F-6717-5715-F79A-73C2412C5BA7}"/>
              </a:ext>
            </a:extLst>
          </p:cNvPr>
          <p:cNvGrpSpPr/>
          <p:nvPr/>
        </p:nvGrpSpPr>
        <p:grpSpPr>
          <a:xfrm>
            <a:off x="9959340" y="3390532"/>
            <a:ext cx="1068977" cy="1636741"/>
            <a:chOff x="9785168" y="4363566"/>
            <a:chExt cx="1068977" cy="1636741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6D815D97-077D-3E85-3587-95E7D8E54972}"/>
                </a:ext>
              </a:extLst>
            </p:cNvPr>
            <p:cNvSpPr/>
            <p:nvPr/>
          </p:nvSpPr>
          <p:spPr>
            <a:xfrm>
              <a:off x="9785168" y="4363566"/>
              <a:ext cx="1068977" cy="130628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E46005C8-31FA-B49D-A093-F0AD6118D0FA}"/>
                </a:ext>
              </a:extLst>
            </p:cNvPr>
            <p:cNvSpPr/>
            <p:nvPr/>
          </p:nvSpPr>
          <p:spPr>
            <a:xfrm>
              <a:off x="9785168" y="4545201"/>
              <a:ext cx="1068977" cy="130628"/>
            </a:xfrm>
            <a:prstGeom prst="roundRect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D4E18A40-EA91-2EE4-758D-B2B5D61FB4DB}"/>
                </a:ext>
              </a:extLst>
            </p:cNvPr>
            <p:cNvSpPr/>
            <p:nvPr/>
          </p:nvSpPr>
          <p:spPr>
            <a:xfrm>
              <a:off x="9785168" y="4739898"/>
              <a:ext cx="1068977" cy="130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64961D6-4079-44B2-5996-8DF5141E8E27}"/>
                </a:ext>
              </a:extLst>
            </p:cNvPr>
            <p:cNvGrpSpPr/>
            <p:nvPr/>
          </p:nvGrpSpPr>
          <p:grpSpPr>
            <a:xfrm>
              <a:off x="9785168" y="4921533"/>
              <a:ext cx="1068977" cy="1078774"/>
              <a:chOff x="9785168" y="4921533"/>
              <a:chExt cx="1068977" cy="1078774"/>
            </a:xfrm>
          </p:grpSpPr>
          <p:pic>
            <p:nvPicPr>
              <p:cNvPr id="24" name="그래픽 23" descr="전당포 단색으로 채워진">
                <a:extLst>
                  <a:ext uri="{FF2B5EF4-FFF2-40B4-BE49-F238E27FC236}">
                    <a16:creationId xmlns:a16="http://schemas.microsoft.com/office/drawing/2014/main" id="{B367F214-3410-8326-EFC7-1332620DAA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2457" y="494439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D6811158-6CE5-5987-8C7E-99A358D32DA3}"/>
                  </a:ext>
                </a:extLst>
              </p:cNvPr>
              <p:cNvSpPr/>
              <p:nvPr/>
            </p:nvSpPr>
            <p:spPr>
              <a:xfrm>
                <a:off x="9785168" y="5586648"/>
                <a:ext cx="435429" cy="41365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/>
                  <a:t>A2</a:t>
                </a:r>
                <a:endParaRPr lang="ko-KR" altLang="en-US" sz="1200" b="1" dirty="0"/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353C3367-7D5F-5632-0766-7A0ABC4A0BE3}"/>
                  </a:ext>
                </a:extLst>
              </p:cNvPr>
              <p:cNvSpPr/>
              <p:nvPr/>
            </p:nvSpPr>
            <p:spPr>
              <a:xfrm>
                <a:off x="9785168" y="4921533"/>
                <a:ext cx="1068977" cy="106897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DDC9F088-11CD-03C8-5032-EBD8E6592519}"/>
                  </a:ext>
                </a:extLst>
              </p:cNvPr>
              <p:cNvSpPr/>
              <p:nvPr/>
            </p:nvSpPr>
            <p:spPr>
              <a:xfrm>
                <a:off x="9785168" y="4921533"/>
                <a:ext cx="435429" cy="413659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/>
                  <a:t>SP</a:t>
                </a:r>
                <a:endParaRPr lang="ko-KR" altLang="en-US" sz="12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68491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98506-6A58-E267-8381-326195816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D5DA52A4-149E-1F01-0749-86D78A9AB2F8}"/>
              </a:ext>
            </a:extLst>
          </p:cNvPr>
          <p:cNvSpPr txBox="1"/>
          <p:nvPr/>
        </p:nvSpPr>
        <p:spPr>
          <a:xfrm>
            <a:off x="1013638" y="1059959"/>
            <a:ext cx="9480191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처음 게임을 실행했을 때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소셜 로그인 유도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로그인 후</a:t>
            </a:r>
            <a:r>
              <a:rPr lang="en-US" altLang="ko-KR" dirty="0"/>
              <a:t>, </a:t>
            </a:r>
            <a:r>
              <a:rPr lang="ko-KR" altLang="en-US" dirty="0"/>
              <a:t>튜토리얼 전투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튜토리얼 전투 후 초기 캐릭터 지급으로</a:t>
            </a:r>
            <a:r>
              <a:rPr lang="en-US" altLang="ko-KR" dirty="0"/>
              <a:t>, S-D</a:t>
            </a:r>
            <a:r>
              <a:rPr lang="ko-KR" altLang="en-US" dirty="0"/>
              <a:t>급 각 </a:t>
            </a:r>
            <a:r>
              <a:rPr lang="en-US" altLang="ko-KR" dirty="0"/>
              <a:t>1</a:t>
            </a:r>
            <a:r>
              <a:rPr lang="ko-KR" altLang="en-US" dirty="0"/>
              <a:t>명</a:t>
            </a:r>
            <a:r>
              <a:rPr lang="en-US" altLang="ko-KR" dirty="0"/>
              <a:t>,</a:t>
            </a:r>
            <a:r>
              <a:rPr lang="ko-KR" altLang="en-US" dirty="0"/>
              <a:t> 총 </a:t>
            </a:r>
            <a:r>
              <a:rPr lang="en-US" altLang="ko-KR" dirty="0"/>
              <a:t>5</a:t>
            </a:r>
            <a:r>
              <a:rPr lang="ko-KR" altLang="en-US" dirty="0"/>
              <a:t>명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도시 이름 정하기</a:t>
            </a:r>
            <a:r>
              <a:rPr lang="en-US" altLang="ko-KR" dirty="0"/>
              <a:t>, </a:t>
            </a:r>
            <a:r>
              <a:rPr lang="ko-KR" altLang="en-US" dirty="0"/>
              <a:t>도시 화면 및 메인 메뉴 설명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38816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0A226A-C4AC-B09F-41D4-39245CF3A459}"/>
              </a:ext>
            </a:extLst>
          </p:cNvPr>
          <p:cNvSpPr txBox="1"/>
          <p:nvPr/>
        </p:nvSpPr>
        <p:spPr>
          <a:xfrm>
            <a:off x="1013638" y="1059959"/>
            <a:ext cx="9480191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게임 컨셉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도시 화면</a:t>
            </a:r>
            <a:r>
              <a:rPr lang="en-US" altLang="ko-KR" dirty="0"/>
              <a:t>(</a:t>
            </a:r>
            <a:r>
              <a:rPr lang="ko-KR" altLang="en-US" dirty="0"/>
              <a:t>메인 메뉴들 화면</a:t>
            </a:r>
            <a:r>
              <a:rPr lang="en-US" altLang="ko-KR" dirty="0"/>
              <a:t>)</a:t>
            </a:r>
            <a:r>
              <a:rPr lang="ko-KR" altLang="en-US" dirty="0"/>
              <a:t> 및 전투 준비는 </a:t>
            </a:r>
            <a:r>
              <a:rPr lang="ko-KR" altLang="en-US" dirty="0" err="1"/>
              <a:t>다키스트</a:t>
            </a:r>
            <a:r>
              <a:rPr lang="ko-KR" altLang="en-US" dirty="0"/>
              <a:t> 던전 컨셉으로 </a:t>
            </a:r>
            <a:r>
              <a:rPr lang="en-US" altLang="ko-KR" dirty="0"/>
              <a:t>(</a:t>
            </a:r>
            <a:r>
              <a:rPr lang="ko-KR" altLang="en-US" dirty="0"/>
              <a:t>아이템 없음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전투 화면은 기물 이동은 체스와 닮았음</a:t>
            </a:r>
            <a:r>
              <a:rPr lang="en-US" altLang="ko-KR" dirty="0"/>
              <a:t>.</a:t>
            </a:r>
            <a:r>
              <a:rPr lang="ko-KR" altLang="en-US" dirty="0"/>
              <a:t> 삼국지 </a:t>
            </a:r>
            <a:r>
              <a:rPr lang="ko-KR" altLang="en-US" dirty="0" err="1"/>
              <a:t>영걸전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 err="1"/>
              <a:t>악튜러스</a:t>
            </a:r>
            <a:r>
              <a:rPr lang="ko-KR" altLang="en-US" dirty="0"/>
              <a:t> 컨셉으로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상점과 캐릭터 레벨업은 </a:t>
            </a:r>
            <a:r>
              <a:rPr lang="ko-KR" altLang="en-US" dirty="0" err="1"/>
              <a:t>리지니</a:t>
            </a:r>
            <a:r>
              <a:rPr lang="ko-KR" altLang="en-US" dirty="0"/>
              <a:t> </a:t>
            </a:r>
            <a:r>
              <a:rPr lang="en-US" altLang="ko-KR" dirty="0"/>
              <a:t>L2M </a:t>
            </a:r>
            <a:r>
              <a:rPr lang="ko-KR" altLang="en-US" dirty="0"/>
              <a:t>컨셉으로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랭킹과 이웃 도시 보기는 </a:t>
            </a:r>
            <a:r>
              <a:rPr lang="en-US" altLang="ko-KR" dirty="0"/>
              <a:t>Clash of Clan </a:t>
            </a:r>
            <a:r>
              <a:rPr lang="ko-KR" altLang="en-US" dirty="0"/>
              <a:t>컨셉으로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24143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59597-4F24-D769-7629-79455389D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4998D0-E779-5A41-69D9-8389B34A7B95}"/>
              </a:ext>
            </a:extLst>
          </p:cNvPr>
          <p:cNvSpPr txBox="1"/>
          <p:nvPr/>
        </p:nvSpPr>
        <p:spPr>
          <a:xfrm>
            <a:off x="1013638" y="1059959"/>
            <a:ext cx="9480191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캐릭터 구성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무력</a:t>
            </a:r>
            <a:r>
              <a:rPr lang="en-US" altLang="ko-KR" dirty="0"/>
              <a:t>, </a:t>
            </a:r>
            <a:r>
              <a:rPr lang="ko-KR" altLang="en-US" dirty="0"/>
              <a:t>지력</a:t>
            </a:r>
            <a:r>
              <a:rPr lang="en-US" altLang="ko-KR" dirty="0"/>
              <a:t>, </a:t>
            </a:r>
            <a:r>
              <a:rPr lang="ko-KR" altLang="en-US" dirty="0"/>
              <a:t>통솔력이 각각 </a:t>
            </a:r>
            <a:r>
              <a:rPr lang="en-US" altLang="ko-KR" dirty="0"/>
              <a:t>0-100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무력</a:t>
            </a:r>
            <a:r>
              <a:rPr lang="en-US" altLang="ko-KR" dirty="0"/>
              <a:t>: Critical Rate </a:t>
            </a:r>
            <a:r>
              <a:rPr lang="ko-KR" altLang="en-US" dirty="0"/>
              <a:t>에 영향 </a:t>
            </a:r>
            <a:r>
              <a:rPr lang="en-US" altLang="ko-KR" dirty="0">
                <a:sym typeface="Wingdings" panose="05000000000000000000" pitchFamily="2" charset="2"/>
              </a:rPr>
              <a:t> Critical </a:t>
            </a:r>
            <a:r>
              <a:rPr lang="ko-KR" altLang="en-US" dirty="0">
                <a:sym typeface="Wingdings" panose="05000000000000000000" pitchFamily="2" charset="2"/>
              </a:rPr>
              <a:t>발생 확률 </a:t>
            </a:r>
            <a:r>
              <a:rPr lang="en-US" altLang="ko-KR" dirty="0">
                <a:sym typeface="Wingdings" panose="05000000000000000000" pitchFamily="2" charset="2"/>
              </a:rPr>
              <a:t>= (30 + [</a:t>
            </a:r>
            <a:r>
              <a:rPr lang="ko-KR" altLang="en-US" dirty="0">
                <a:sym typeface="Wingdings" panose="05000000000000000000" pitchFamily="2" charset="2"/>
              </a:rPr>
              <a:t>내 무력 </a:t>
            </a:r>
            <a:r>
              <a:rPr lang="en-US" altLang="ko-KR" dirty="0">
                <a:sym typeface="Wingdings" panose="05000000000000000000" pitchFamily="2" charset="2"/>
              </a:rPr>
              <a:t>– </a:t>
            </a:r>
            <a:r>
              <a:rPr lang="ko-KR" altLang="en-US" dirty="0">
                <a:sym typeface="Wingdings" panose="05000000000000000000" pitchFamily="2" charset="2"/>
              </a:rPr>
              <a:t>상대방 무력</a:t>
            </a:r>
            <a:r>
              <a:rPr lang="en-US" altLang="ko-KR" dirty="0">
                <a:sym typeface="Wingdings" panose="05000000000000000000" pitchFamily="2" charset="2"/>
              </a:rPr>
              <a:t>]) %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지력</a:t>
            </a:r>
            <a:r>
              <a:rPr lang="en-US" altLang="ko-KR" dirty="0"/>
              <a:t>: </a:t>
            </a:r>
            <a:r>
              <a:rPr lang="ko-KR" altLang="en-US" dirty="0" err="1"/>
              <a:t>환술</a:t>
            </a:r>
            <a:r>
              <a:rPr lang="ko-KR" altLang="en-US" dirty="0"/>
              <a:t> 성공률에 영향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 err="1">
                <a:sym typeface="Wingdings" panose="05000000000000000000" pitchFamily="2" charset="2"/>
              </a:rPr>
              <a:t>환술</a:t>
            </a:r>
            <a:r>
              <a:rPr lang="ko-KR" altLang="en-US" dirty="0">
                <a:sym typeface="Wingdings" panose="05000000000000000000" pitchFamily="2" charset="2"/>
              </a:rPr>
              <a:t> 성공률 </a:t>
            </a:r>
            <a:r>
              <a:rPr lang="en-US" altLang="ko-KR" dirty="0">
                <a:sym typeface="Wingdings" panose="05000000000000000000" pitchFamily="2" charset="2"/>
              </a:rPr>
              <a:t>= (20 + [</a:t>
            </a:r>
            <a:r>
              <a:rPr lang="ko-KR" altLang="en-US" dirty="0">
                <a:sym typeface="Wingdings" panose="05000000000000000000" pitchFamily="2" charset="2"/>
              </a:rPr>
              <a:t>나의 지력 </a:t>
            </a:r>
            <a:r>
              <a:rPr lang="en-US" altLang="ko-KR" dirty="0">
                <a:sym typeface="Wingdings" panose="05000000000000000000" pitchFamily="2" charset="2"/>
              </a:rPr>
              <a:t>– </a:t>
            </a:r>
            <a:r>
              <a:rPr lang="ko-KR" altLang="en-US" dirty="0">
                <a:sym typeface="Wingdings" panose="05000000000000000000" pitchFamily="2" charset="2"/>
              </a:rPr>
              <a:t>상대방 지력</a:t>
            </a:r>
            <a:r>
              <a:rPr lang="en-US" altLang="ko-KR" dirty="0">
                <a:sym typeface="Wingdings" panose="05000000000000000000" pitchFamily="2" charset="2"/>
              </a:rPr>
              <a:t>]) 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anose="05000000000000000000" pitchFamily="2" charset="2"/>
              </a:rPr>
              <a:t>통솔력</a:t>
            </a:r>
            <a:r>
              <a:rPr lang="en-US" altLang="ko-KR" dirty="0">
                <a:sym typeface="Wingdings" panose="05000000000000000000" pitchFamily="2" charset="2"/>
              </a:rPr>
              <a:t>: Waiting time </a:t>
            </a:r>
            <a:r>
              <a:rPr lang="ko-KR" altLang="en-US" dirty="0">
                <a:sym typeface="Wingdings" panose="05000000000000000000" pitchFamily="2" charset="2"/>
              </a:rPr>
              <a:t>에 영향 </a:t>
            </a:r>
            <a:r>
              <a:rPr lang="en-US" altLang="ko-KR" dirty="0">
                <a:sym typeface="Wingdings" panose="05000000000000000000" pitchFamily="2" charset="2"/>
              </a:rPr>
              <a:t> Waiting time = 190 - </a:t>
            </a:r>
            <a:r>
              <a:rPr lang="ko-KR" altLang="en-US" dirty="0">
                <a:sym typeface="Wingdings" panose="05000000000000000000" pitchFamily="2" charset="2"/>
              </a:rPr>
              <a:t>통솔력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랭킹과 이웃 도시 보기는 </a:t>
            </a:r>
            <a:r>
              <a:rPr lang="en-US" altLang="ko-KR" dirty="0"/>
              <a:t>Clash of Clan </a:t>
            </a:r>
            <a:r>
              <a:rPr lang="ko-KR" altLang="en-US" dirty="0"/>
              <a:t>컨셉으로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S-D</a:t>
            </a:r>
            <a:r>
              <a:rPr lang="ko-KR" altLang="en-US" dirty="0"/>
              <a:t> 사이 등급표기</a:t>
            </a:r>
            <a:r>
              <a:rPr lang="en-US" altLang="ko-KR" dirty="0"/>
              <a:t>, </a:t>
            </a:r>
            <a:r>
              <a:rPr lang="ko-KR" altLang="en-US" dirty="0"/>
              <a:t>사진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레벨 및 능력치 구성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1-9 </a:t>
            </a:r>
            <a:r>
              <a:rPr lang="ko-KR" altLang="en-US" dirty="0"/>
              <a:t>사이 </a:t>
            </a:r>
            <a:r>
              <a:rPr lang="en-US" altLang="ko-KR" dirty="0"/>
              <a:t>Level </a:t>
            </a:r>
            <a:r>
              <a:rPr lang="ko-KR" altLang="en-US" dirty="0"/>
              <a:t>표시 및 </a:t>
            </a:r>
            <a:r>
              <a:rPr lang="en-US" altLang="ko-KR" dirty="0"/>
              <a:t>HP, MP, </a:t>
            </a:r>
            <a:r>
              <a:rPr lang="ko-KR" altLang="en-US" dirty="0"/>
              <a:t>데미지 표시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Level 1 HP 10, MP 5, AT(</a:t>
            </a:r>
            <a:r>
              <a:rPr lang="ko-KR" altLang="en-US" dirty="0"/>
              <a:t>데미지</a:t>
            </a:r>
            <a:r>
              <a:rPr lang="en-US" altLang="ko-KR" dirty="0"/>
              <a:t>) 2, </a:t>
            </a:r>
            <a:r>
              <a:rPr lang="ko-KR" altLang="en-US" dirty="0"/>
              <a:t>이후 </a:t>
            </a:r>
            <a:r>
              <a:rPr lang="en-US" altLang="ko-KR" dirty="0"/>
              <a:t>Lv+1</a:t>
            </a:r>
            <a:r>
              <a:rPr lang="ko-KR" altLang="en-US" dirty="0"/>
              <a:t> 마다 </a:t>
            </a:r>
            <a:r>
              <a:rPr lang="en-US" altLang="ko-KR" dirty="0"/>
              <a:t>[HP+5, MP+2, AT+1] </a:t>
            </a:r>
            <a:r>
              <a:rPr lang="ko-KR" altLang="en-US" dirty="0"/>
              <a:t>중 </a:t>
            </a:r>
            <a:r>
              <a:rPr lang="ko-KR" altLang="en-US" dirty="0" err="1"/>
              <a:t>택</a:t>
            </a:r>
            <a:r>
              <a:rPr lang="en-US" altLang="ko-K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31802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48346-E2AB-97EE-5A58-9C8FE67E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65062B-B88B-BF68-88D1-7A210479F890}"/>
              </a:ext>
            </a:extLst>
          </p:cNvPr>
          <p:cNvSpPr txBox="1"/>
          <p:nvPr/>
        </p:nvSpPr>
        <p:spPr>
          <a:xfrm>
            <a:off x="1013639" y="1059959"/>
            <a:ext cx="3926110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캐릭터 구성 </a:t>
            </a:r>
            <a:r>
              <a:rPr lang="en-US" altLang="ko-KR" b="1" dirty="0"/>
              <a:t>- </a:t>
            </a:r>
            <a:r>
              <a:rPr lang="ko-KR" altLang="en-US" b="1" dirty="0"/>
              <a:t>책략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Lv+1</a:t>
            </a:r>
            <a:r>
              <a:rPr lang="ko-KR" altLang="en-US" dirty="0"/>
              <a:t> 마다 </a:t>
            </a:r>
            <a:r>
              <a:rPr lang="en-US" altLang="ko-KR" dirty="0"/>
              <a:t>[</a:t>
            </a:r>
            <a:r>
              <a:rPr lang="ko-KR" altLang="en-US" dirty="0"/>
              <a:t>지원</a:t>
            </a:r>
            <a:r>
              <a:rPr lang="en-US" altLang="ko-KR" dirty="0"/>
              <a:t>, </a:t>
            </a:r>
            <a:r>
              <a:rPr lang="ko-KR" altLang="en-US" dirty="0" err="1"/>
              <a:t>환술</a:t>
            </a:r>
            <a:r>
              <a:rPr lang="en-US" altLang="ko-KR" dirty="0"/>
              <a:t>] </a:t>
            </a:r>
            <a:r>
              <a:rPr lang="ko-KR" altLang="en-US" dirty="0"/>
              <a:t>중 </a:t>
            </a:r>
            <a:r>
              <a:rPr lang="ko-KR" altLang="en-US" dirty="0" err="1"/>
              <a:t>택</a:t>
            </a:r>
            <a:r>
              <a:rPr lang="en-US" altLang="ko-KR" dirty="0"/>
              <a:t>1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D97D82D-7E87-9D4A-2C7C-2E61EFC4D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532318"/>
              </p:ext>
            </p:extLst>
          </p:nvPr>
        </p:nvGraphicFramePr>
        <p:xfrm>
          <a:off x="481599" y="2258667"/>
          <a:ext cx="4607237" cy="3078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3694">
                  <a:extLst>
                    <a:ext uri="{9D8B030D-6E8A-4147-A177-3AD203B41FA5}">
                      <a16:colId xmlns:a16="http://schemas.microsoft.com/office/drawing/2014/main" val="3401974701"/>
                    </a:ext>
                  </a:extLst>
                </a:gridCol>
                <a:gridCol w="1014769">
                  <a:extLst>
                    <a:ext uri="{9D8B030D-6E8A-4147-A177-3AD203B41FA5}">
                      <a16:colId xmlns:a16="http://schemas.microsoft.com/office/drawing/2014/main" val="60601315"/>
                    </a:ext>
                  </a:extLst>
                </a:gridCol>
                <a:gridCol w="935952">
                  <a:extLst>
                    <a:ext uri="{9D8B030D-6E8A-4147-A177-3AD203B41FA5}">
                      <a16:colId xmlns:a16="http://schemas.microsoft.com/office/drawing/2014/main" val="2181526193"/>
                    </a:ext>
                  </a:extLst>
                </a:gridCol>
                <a:gridCol w="1167926">
                  <a:extLst>
                    <a:ext uri="{9D8B030D-6E8A-4147-A177-3AD203B41FA5}">
                      <a16:colId xmlns:a16="http://schemas.microsoft.com/office/drawing/2014/main" val="3590000714"/>
                    </a:ext>
                  </a:extLst>
                </a:gridCol>
                <a:gridCol w="864896">
                  <a:extLst>
                    <a:ext uri="{9D8B030D-6E8A-4147-A177-3AD203B41FA5}">
                      <a16:colId xmlns:a16="http://schemas.microsoft.com/office/drawing/2014/main" val="2474299570"/>
                    </a:ext>
                  </a:extLst>
                </a:gridCol>
              </a:tblGrid>
              <a:tr h="3420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 dirty="0" err="1">
                          <a:effectLst/>
                        </a:rPr>
                        <a:t>Level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지원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소모 MP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 dirty="0" err="1">
                          <a:effectLst/>
                        </a:rPr>
                        <a:t>환술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 dirty="0">
                          <a:effectLst/>
                        </a:rPr>
                        <a:t>소모 MP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54016134"/>
                  </a:ext>
                </a:extLst>
              </a:tr>
              <a:tr h="3420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2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 dirty="0">
                          <a:effectLst/>
                        </a:rPr>
                        <a:t>증폭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1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공포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1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43037968"/>
                  </a:ext>
                </a:extLst>
              </a:tr>
              <a:tr h="3420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3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 dirty="0">
                          <a:effectLst/>
                        </a:rPr>
                        <a:t>반감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1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침묵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1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55313874"/>
                  </a:ext>
                </a:extLst>
              </a:tr>
              <a:tr h="3420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4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회복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 dirty="0">
                          <a:effectLst/>
                        </a:rPr>
                        <a:t>2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함정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2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53178139"/>
                  </a:ext>
                </a:extLst>
              </a:tr>
              <a:tr h="3420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5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결계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2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탈진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2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1497696"/>
                  </a:ext>
                </a:extLst>
              </a:tr>
              <a:tr h="3420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6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화계/진화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 dirty="0">
                          <a:effectLst/>
                        </a:rPr>
                        <a:t>2,1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 dirty="0">
                          <a:effectLst/>
                        </a:rPr>
                        <a:t>유인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 dirty="0">
                          <a:effectLst/>
                        </a:rPr>
                        <a:t>2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81601301"/>
                  </a:ext>
                </a:extLst>
              </a:tr>
              <a:tr h="3420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7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수계/매립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3,1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 dirty="0">
                          <a:effectLst/>
                        </a:rPr>
                        <a:t>경직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3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15800957"/>
                  </a:ext>
                </a:extLst>
              </a:tr>
              <a:tr h="3420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8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선공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3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 dirty="0">
                          <a:effectLst/>
                        </a:rPr>
                        <a:t>질병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 dirty="0">
                          <a:effectLst/>
                        </a:rPr>
                        <a:t>3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12115761"/>
                  </a:ext>
                </a:extLst>
              </a:tr>
              <a:tr h="3420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9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>
                          <a:effectLst/>
                        </a:rPr>
                        <a:t>대회복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 dirty="0">
                          <a:effectLst/>
                        </a:rPr>
                        <a:t>3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 dirty="0">
                          <a:effectLst/>
                        </a:rPr>
                        <a:t>초선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u="none" strike="noStrike" dirty="0">
                          <a:effectLst/>
                        </a:rPr>
                        <a:t>3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6624471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C60B0EC-54A5-DDBE-B148-0AA630A8A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460074"/>
              </p:ext>
            </p:extLst>
          </p:nvPr>
        </p:nvGraphicFramePr>
        <p:xfrm>
          <a:off x="5426765" y="817012"/>
          <a:ext cx="6460436" cy="2611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3852">
                  <a:extLst>
                    <a:ext uri="{9D8B030D-6E8A-4147-A177-3AD203B41FA5}">
                      <a16:colId xmlns:a16="http://schemas.microsoft.com/office/drawing/2014/main" val="2134280919"/>
                    </a:ext>
                  </a:extLst>
                </a:gridCol>
                <a:gridCol w="5456584">
                  <a:extLst>
                    <a:ext uri="{9D8B030D-6E8A-4147-A177-3AD203B41FA5}">
                      <a16:colId xmlns:a16="http://schemas.microsoft.com/office/drawing/2014/main" val="1840735480"/>
                    </a:ext>
                  </a:extLst>
                </a:gridCol>
              </a:tblGrid>
              <a:tr h="3264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증폭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06" marR="3806" marT="38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아군 1명의 1회 공격을 Critical 100% 로 만들어줌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06" marR="3806" marT="3806" marB="0" anchor="ctr"/>
                </a:tc>
                <a:extLst>
                  <a:ext uri="{0D108BD9-81ED-4DB2-BD59-A6C34878D82A}">
                    <a16:rowId xmlns:a16="http://schemas.microsoft.com/office/drawing/2014/main" val="3419800260"/>
                  </a:ext>
                </a:extLst>
              </a:tr>
              <a:tr h="3264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반감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06" marR="3806" marT="38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아군 1명이 1번, 받는 데미지가 절반이 됨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06" marR="3806" marT="3806" marB="0" anchor="ctr"/>
                </a:tc>
                <a:extLst>
                  <a:ext uri="{0D108BD9-81ED-4DB2-BD59-A6C34878D82A}">
                    <a16:rowId xmlns:a16="http://schemas.microsoft.com/office/drawing/2014/main" val="3582630634"/>
                  </a:ext>
                </a:extLst>
              </a:tr>
              <a:tr h="3264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회복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06" marR="3806" marT="38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8방향 내 아군 1명의 HP 회복 (최대 체력의 20%)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06" marR="3806" marT="3806" marB="0" anchor="ctr"/>
                </a:tc>
                <a:extLst>
                  <a:ext uri="{0D108BD9-81ED-4DB2-BD59-A6C34878D82A}">
                    <a16:rowId xmlns:a16="http://schemas.microsoft.com/office/drawing/2014/main" val="1485970200"/>
                  </a:ext>
                </a:extLst>
              </a:tr>
              <a:tr h="3264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결계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06" marR="3806" marT="38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time 200 동안 아군 1명이 환술에 걸리지 않음. 모든 환술 무효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06" marR="3806" marT="3806" marB="0" anchor="ctr"/>
                </a:tc>
                <a:extLst>
                  <a:ext uri="{0D108BD9-81ED-4DB2-BD59-A6C34878D82A}">
                    <a16:rowId xmlns:a16="http://schemas.microsoft.com/office/drawing/2014/main" val="2706849241"/>
                  </a:ext>
                </a:extLst>
              </a:tr>
              <a:tr h="3264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화계/진화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06" marR="3806" marT="38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 dirty="0">
                          <a:effectLst/>
                        </a:rPr>
                        <a:t>가로 1 </a:t>
                      </a:r>
                      <a:r>
                        <a:rPr lang="ko-KR" sz="1400" u="none" strike="noStrike" dirty="0" err="1">
                          <a:effectLst/>
                        </a:rPr>
                        <a:t>x</a:t>
                      </a:r>
                      <a:r>
                        <a:rPr lang="ko-KR" sz="1400" u="none" strike="noStrike" dirty="0">
                          <a:effectLst/>
                        </a:rPr>
                        <a:t> 세로 1 영역에 </a:t>
                      </a:r>
                      <a:r>
                        <a:rPr lang="ko-KR" sz="1400" u="none" strike="noStrike" dirty="0" err="1">
                          <a:effectLst/>
                        </a:rPr>
                        <a:t>time</a:t>
                      </a:r>
                      <a:r>
                        <a:rPr lang="ko-KR" sz="1400" u="none" strike="noStrike" dirty="0">
                          <a:effectLst/>
                        </a:rPr>
                        <a:t> 100 마다 HP 1씩 감소하는 지형 </a:t>
                      </a:r>
                      <a:r>
                        <a:rPr lang="ko-KR" altLang="en-US" sz="1400" u="none" strike="noStrike" dirty="0">
                          <a:effectLst/>
                        </a:rPr>
                        <a:t>생성</a:t>
                      </a:r>
                      <a:endParaRPr 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06" marR="3806" marT="3806" marB="0" anchor="ctr"/>
                </a:tc>
                <a:extLst>
                  <a:ext uri="{0D108BD9-81ED-4DB2-BD59-A6C34878D82A}">
                    <a16:rowId xmlns:a16="http://schemas.microsoft.com/office/drawing/2014/main" val="2084722799"/>
                  </a:ext>
                </a:extLst>
              </a:tr>
              <a:tr h="3264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수계/매립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06" marR="3806" marT="38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 dirty="0">
                          <a:effectLst/>
                        </a:rPr>
                        <a:t>맵 중 가로 1 </a:t>
                      </a:r>
                      <a:r>
                        <a:rPr lang="ko-KR" sz="1400" u="none" strike="noStrike" dirty="0" err="1">
                          <a:effectLst/>
                        </a:rPr>
                        <a:t>x</a:t>
                      </a:r>
                      <a:r>
                        <a:rPr lang="ko-KR" sz="1400" u="none" strike="noStrike" dirty="0">
                          <a:effectLst/>
                        </a:rPr>
                        <a:t> 세로 1 영역에 유닛을 위치시킬 수 없는 지형</a:t>
                      </a:r>
                      <a:r>
                        <a:rPr lang="en-US" altLang="ko-KR" sz="1400" u="none" strike="noStrike" dirty="0">
                          <a:effectLst/>
                        </a:rPr>
                        <a:t> </a:t>
                      </a:r>
                      <a:r>
                        <a:rPr lang="ko-KR" altLang="en-US" sz="1400" u="none" strike="noStrike" dirty="0">
                          <a:effectLst/>
                        </a:rPr>
                        <a:t>생성</a:t>
                      </a:r>
                      <a:endParaRPr 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06" marR="3806" marT="3806" marB="0" anchor="ctr"/>
                </a:tc>
                <a:extLst>
                  <a:ext uri="{0D108BD9-81ED-4DB2-BD59-A6C34878D82A}">
                    <a16:rowId xmlns:a16="http://schemas.microsoft.com/office/drawing/2014/main" val="1107117185"/>
                  </a:ext>
                </a:extLst>
              </a:tr>
              <a:tr h="3264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 dirty="0">
                          <a:effectLst/>
                        </a:rPr>
                        <a:t>선공</a:t>
                      </a:r>
                      <a:endParaRPr 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06" marR="3806" marT="38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아군 1명의 waiting time -100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06" marR="3806" marT="3806" marB="0" anchor="ctr"/>
                </a:tc>
                <a:extLst>
                  <a:ext uri="{0D108BD9-81ED-4DB2-BD59-A6C34878D82A}">
                    <a16:rowId xmlns:a16="http://schemas.microsoft.com/office/drawing/2014/main" val="1511567222"/>
                  </a:ext>
                </a:extLst>
              </a:tr>
              <a:tr h="3264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대회복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06" marR="3806" marT="38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 dirty="0">
                          <a:effectLst/>
                        </a:rPr>
                        <a:t>8방향 내 아군들의 HP 회복 (최대 체력의 20%)</a:t>
                      </a:r>
                      <a:endParaRPr 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06" marR="3806" marT="3806" marB="0" anchor="ctr"/>
                </a:tc>
                <a:extLst>
                  <a:ext uri="{0D108BD9-81ED-4DB2-BD59-A6C34878D82A}">
                    <a16:rowId xmlns:a16="http://schemas.microsoft.com/office/drawing/2014/main" val="178894873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141A40C-1AE8-0196-8993-F539E4DDC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650809"/>
              </p:ext>
            </p:extLst>
          </p:nvPr>
        </p:nvGraphicFramePr>
        <p:xfrm>
          <a:off x="5426765" y="3955777"/>
          <a:ext cx="6460436" cy="25145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3792">
                  <a:extLst>
                    <a:ext uri="{9D8B030D-6E8A-4147-A177-3AD203B41FA5}">
                      <a16:colId xmlns:a16="http://schemas.microsoft.com/office/drawing/2014/main" val="350211733"/>
                    </a:ext>
                  </a:extLst>
                </a:gridCol>
                <a:gridCol w="5446644">
                  <a:extLst>
                    <a:ext uri="{9D8B030D-6E8A-4147-A177-3AD203B41FA5}">
                      <a16:colId xmlns:a16="http://schemas.microsoft.com/office/drawing/2014/main" val="3077610901"/>
                    </a:ext>
                  </a:extLst>
                </a:gridCol>
              </a:tblGrid>
              <a:tr h="2996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공포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4" marR="4194" marT="41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time 200 동안 적군 1명의 공격력이 절반이 됨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4" marR="4194" marT="4194" marB="0" anchor="ctr"/>
                </a:tc>
                <a:extLst>
                  <a:ext uri="{0D108BD9-81ED-4DB2-BD59-A6C34878D82A}">
                    <a16:rowId xmlns:a16="http://schemas.microsoft.com/office/drawing/2014/main" val="174864623"/>
                  </a:ext>
                </a:extLst>
              </a:tr>
              <a:tr h="3591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침묵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4" marR="4194" marT="41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time 200 동안 적군 1명이 버프/환술을 사용할 수 없음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4" marR="4194" marT="4194" marB="0" anchor="ctr"/>
                </a:tc>
                <a:extLst>
                  <a:ext uri="{0D108BD9-81ED-4DB2-BD59-A6C34878D82A}">
                    <a16:rowId xmlns:a16="http://schemas.microsoft.com/office/drawing/2014/main" val="4270096499"/>
                  </a:ext>
                </a:extLst>
              </a:tr>
              <a:tr h="284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함정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4" marR="4194" marT="41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적군 1명의 waiting time +50, HP 1 감소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4" marR="4194" marT="4194" marB="0" anchor="ctr"/>
                </a:tc>
                <a:extLst>
                  <a:ext uri="{0D108BD9-81ED-4DB2-BD59-A6C34878D82A}">
                    <a16:rowId xmlns:a16="http://schemas.microsoft.com/office/drawing/2014/main" val="3942219404"/>
                  </a:ext>
                </a:extLst>
              </a:tr>
              <a:tr h="3591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탈진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4" marR="4194" marT="41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time 200 마다 체력이 1씩 감소 (결계로 해제 가능)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4" marR="4194" marT="4194" marB="0" anchor="ctr"/>
                </a:tc>
                <a:extLst>
                  <a:ext uri="{0D108BD9-81ED-4DB2-BD59-A6C34878D82A}">
                    <a16:rowId xmlns:a16="http://schemas.microsoft.com/office/drawing/2014/main" val="157265371"/>
                  </a:ext>
                </a:extLst>
              </a:tr>
              <a:tr h="284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유인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4" marR="4194" marT="41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 dirty="0">
                          <a:effectLst/>
                        </a:rPr>
                        <a:t>적군 1명을 컨트롤: 이동만 가능</a:t>
                      </a:r>
                      <a:endParaRPr 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4" marR="4194" marT="4194" marB="0" anchor="ctr"/>
                </a:tc>
                <a:extLst>
                  <a:ext uri="{0D108BD9-81ED-4DB2-BD59-A6C34878D82A}">
                    <a16:rowId xmlns:a16="http://schemas.microsoft.com/office/drawing/2014/main" val="1056562661"/>
                  </a:ext>
                </a:extLst>
              </a:tr>
              <a:tr h="284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경직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4" marR="4194" marT="41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적군 1명의 waiting time +100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4" marR="4194" marT="4194" marB="0" anchor="ctr"/>
                </a:tc>
                <a:extLst>
                  <a:ext uri="{0D108BD9-81ED-4DB2-BD59-A6C34878D82A}">
                    <a16:rowId xmlns:a16="http://schemas.microsoft.com/office/drawing/2014/main" val="4223919014"/>
                  </a:ext>
                </a:extLst>
              </a:tr>
              <a:tr h="3591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질병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4" marR="4194" marT="41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time 100 마다 체력이 1씩 감소 (결계로 해제 가능)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4" marR="4194" marT="4194" marB="0" anchor="ctr"/>
                </a:tc>
                <a:extLst>
                  <a:ext uri="{0D108BD9-81ED-4DB2-BD59-A6C34878D82A}">
                    <a16:rowId xmlns:a16="http://schemas.microsoft.com/office/drawing/2014/main" val="47947759"/>
                  </a:ext>
                </a:extLst>
              </a:tr>
              <a:tr h="284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초선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4" marR="4194" marT="41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 dirty="0">
                          <a:effectLst/>
                        </a:rPr>
                        <a:t>적군 1명을 컨트롤: </a:t>
                      </a:r>
                      <a:r>
                        <a:rPr lang="ko-KR" sz="1400" u="none" strike="noStrike" dirty="0" err="1">
                          <a:effectLst/>
                        </a:rPr>
                        <a:t>이동+공격</a:t>
                      </a:r>
                      <a:endParaRPr 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4" marR="4194" marT="4194" marB="0" anchor="ctr"/>
                </a:tc>
                <a:extLst>
                  <a:ext uri="{0D108BD9-81ED-4DB2-BD59-A6C34878D82A}">
                    <a16:rowId xmlns:a16="http://schemas.microsoft.com/office/drawing/2014/main" val="26456673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52F988D-6325-C984-CD4B-127819752A2B}"/>
              </a:ext>
            </a:extLst>
          </p:cNvPr>
          <p:cNvSpPr txBox="1"/>
          <p:nvPr/>
        </p:nvSpPr>
        <p:spPr>
          <a:xfrm>
            <a:off x="5426765" y="387627"/>
            <a:ext cx="2256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지원</a:t>
            </a:r>
            <a:r>
              <a:rPr lang="ko-KR" altLang="en-US" sz="1800"/>
              <a:t> 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B57C6E-B2DE-201C-70B7-C651479DF3BD}"/>
              </a:ext>
            </a:extLst>
          </p:cNvPr>
          <p:cNvSpPr txBox="1"/>
          <p:nvPr/>
        </p:nvSpPr>
        <p:spPr>
          <a:xfrm>
            <a:off x="5426765" y="3553272"/>
            <a:ext cx="2256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 err="1"/>
              <a:t>환술</a:t>
            </a:r>
            <a:r>
              <a:rPr lang="ko-KR" altLang="en-US" sz="1800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9683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BD75D-28A5-DF7A-8F4E-55BA08C19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DA17F4-796B-037C-830B-2BE40DD25D38}"/>
              </a:ext>
            </a:extLst>
          </p:cNvPr>
          <p:cNvSpPr txBox="1"/>
          <p:nvPr/>
        </p:nvSpPr>
        <p:spPr>
          <a:xfrm>
            <a:off x="1013638" y="1059959"/>
            <a:ext cx="9480191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고유 스킬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S-B</a:t>
            </a:r>
            <a:r>
              <a:rPr lang="ko-KR" altLang="en-US" dirty="0"/>
              <a:t> 등급 캐릭터는 고유 스킬을 가지고 있음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SP </a:t>
            </a:r>
            <a:r>
              <a:rPr lang="ko-KR" altLang="en-US" dirty="0"/>
              <a:t>소모 </a:t>
            </a:r>
            <a:r>
              <a:rPr lang="en-US" altLang="ko-KR" dirty="0"/>
              <a:t>: B</a:t>
            </a:r>
            <a:r>
              <a:rPr lang="ko-KR" altLang="en-US" dirty="0"/>
              <a:t>등급은 </a:t>
            </a:r>
            <a:r>
              <a:rPr lang="en-US" altLang="ko-KR" dirty="0"/>
              <a:t>4, A</a:t>
            </a:r>
            <a:r>
              <a:rPr lang="ko-KR" altLang="en-US" dirty="0"/>
              <a:t>등급은 </a:t>
            </a:r>
            <a:r>
              <a:rPr lang="en-US" altLang="ko-KR" dirty="0"/>
              <a:t>5, S</a:t>
            </a:r>
            <a:r>
              <a:rPr lang="ko-KR" altLang="en-US" dirty="0"/>
              <a:t>등급은 </a:t>
            </a:r>
            <a:r>
              <a:rPr lang="en-US" altLang="ko-KR" dirty="0"/>
              <a:t>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스킬 목록은 엑셀파일 참조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전투 동안 각 캐릭터는 고유 스킬을 </a:t>
            </a:r>
            <a:r>
              <a:rPr lang="en-US" altLang="ko-KR" dirty="0"/>
              <a:t>1</a:t>
            </a:r>
            <a:r>
              <a:rPr lang="ko-KR" altLang="en-US" dirty="0"/>
              <a:t>번 사용 가능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제갈량이 고유기술 시전 후</a:t>
            </a:r>
            <a:r>
              <a:rPr lang="en-US" altLang="ko-KR" dirty="0"/>
              <a:t>, </a:t>
            </a:r>
            <a:r>
              <a:rPr lang="ko-KR" altLang="en-US" dirty="0"/>
              <a:t>이미 사용했던 동료들의 고유 스킬 재사용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2209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1909</Words>
  <Application>Microsoft Office PowerPoint</Application>
  <PresentationFormat>와이드스크린</PresentationFormat>
  <Paragraphs>298</Paragraphs>
  <Slides>19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Wingdings</vt:lpstr>
      <vt:lpstr>Office 테마</vt:lpstr>
      <vt:lpstr>삼국 약식 체스  260721-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JoongEun Jung</dc:creator>
  <cp:lastModifiedBy>JoongEun Jung</cp:lastModifiedBy>
  <cp:revision>55</cp:revision>
  <dcterms:created xsi:type="dcterms:W3CDTF">2026-07-23T01:01:59Z</dcterms:created>
  <dcterms:modified xsi:type="dcterms:W3CDTF">2026-08-03T14:03:53Z</dcterms:modified>
</cp:coreProperties>
</file>