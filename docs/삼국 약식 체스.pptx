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2" r:id="rId12"/>
    <p:sldId id="266" r:id="rId13"/>
    <p:sldId id="268" r:id="rId14"/>
    <p:sldId id="267" r:id="rId15"/>
    <p:sldId id="269" r:id="rId16"/>
    <p:sldId id="270" r:id="rId17"/>
    <p:sldId id="273" r:id="rId18"/>
    <p:sldId id="274" r:id="rId19"/>
    <p:sldId id="275" r:id="rId20"/>
    <p:sldId id="276" r:id="rId21"/>
    <p:sldId id="278" r:id="rId22"/>
    <p:sldId id="279" r:id="rId23"/>
    <p:sldId id="281" r:id="rId24"/>
    <p:sldId id="282" r:id="rId25"/>
    <p:sldId id="283" r:id="rId26"/>
    <p:sldId id="284" r:id="rId27"/>
    <p:sldId id="289" r:id="rId28"/>
    <p:sldId id="290" r:id="rId29"/>
    <p:sldId id="291" r:id="rId30"/>
    <p:sldId id="288" r:id="rId31"/>
    <p:sldId id="285" r:id="rId32"/>
    <p:sldId id="292" r:id="rId33"/>
    <p:sldId id="293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94660"/>
  </p:normalViewPr>
  <p:slideViewPr>
    <p:cSldViewPr snapToGrid="0">
      <p:cViewPr varScale="1">
        <p:scale>
          <a:sx n="90" d="100"/>
          <a:sy n="90" d="100"/>
        </p:scale>
        <p:origin x="8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F07136-05B9-4084-83BF-56E9BCCDA6F9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3E85FD-8BB6-4550-BC6B-DDEFD3730AE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06454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45701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A411C-FEF0-4E77-EA69-5FC3280D3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AF9043-8D2B-2B33-FDC8-77EB38611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E7DF0D-BB1D-6398-D135-07CD6DA198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1AF0D1-188E-11E9-BA6B-860CC90A72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24352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7AF00-E926-AF8F-917D-5D6E29CE4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E36399-CCE7-494D-F469-74358F84E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6903FB-4289-8D8F-473C-3C97AC0FC9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28232-BD03-B4A3-5DFD-B7EBF07175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7637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1DDCB-62EB-16DA-71EB-00B17B86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A6301B-668C-2EE6-E9D8-CC61EE72F6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21206E-778A-4BBF-D286-4715984B1E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3497B0-CFB4-4317-91FF-397CC079B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41245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EE37E-1B69-623D-E2A0-243D2BC9F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E13558-4011-99F2-6636-1C06082E61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6601766-3D62-1CBA-B9B9-D7E1C050D0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1EF967-C9F5-0F30-3E52-18D5E05DD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503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42A68-15AA-B1C5-5A91-2C9AC3037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74D8B6-1256-362B-DBBD-FBD99C7A74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2978F8-5359-07A6-68A8-70954471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CC2987-B807-DC98-35D6-D236E2D791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3E85FD-8BB6-4550-BC6B-DDEFD3730AE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3005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9B3F6F-43A8-862E-5AF6-D863F2F750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03D19FC-A738-76D6-6E9E-35F4F56FB4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9D95B-FF44-834C-6003-7DF9826EB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AB86D2-11B1-BF68-919D-FB88CF1BC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C985B9-84EA-039B-A710-683AA6F9A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2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15A376-33A3-CB91-20FB-0E78D89E8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B00D2-411C-C623-C36D-3F9FC2EE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440BC6-CE37-B24B-70AF-BB423ECE4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AE16A-5D4C-77D4-A819-8A5402A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90EE58-1AE7-C73A-3680-B0CD94D1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5089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AC8B69-6337-A51B-7C50-252A8C48E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73BA26-7295-3281-BCC8-0488482BE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7533E7-7F5C-FE25-5A87-C32D243F6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4DA83FC-47AC-140A-D0A3-4FCFD80C8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B8F95D-2FEF-6E70-039A-3B5FEB9BA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3849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C386F5-CB8C-840F-B671-460D828E0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993B2E-C532-9E2F-69A4-10F7FD0B99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47B7F8E-C378-0185-11FF-7ED6D4E1CA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D3262C-0CA1-BCC1-30A1-D4DB47B29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BE2D11-A1F9-F77C-1BB3-1DF0BAC55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1728DC0-A317-FC5C-0463-54E46651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550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502CA2-C5E3-D828-FCE3-98E99579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DAE868-5B7B-4B9A-A52A-1076F4378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F3933DA-0D98-1E06-A989-9367D960A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1A4BB35-CBE5-E0E6-424C-84DAA393D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18EFBB9-4356-D8DD-D803-9915A945C9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469B73D-92C5-C097-EDD8-2101DF152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D4D9FF3-7542-CE1F-717F-A69CE4084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D8E31C3-D665-8545-9DBA-B74832515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36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20E670-D942-95B1-AE41-3E707ECB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8C76992-5E07-0E76-593B-FC9A87250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369F3E-1121-3AAC-1E69-0BC18125D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D527F10-DCF4-F699-32EB-2BBBA72A4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35361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5AFBD7-3AEA-34AF-D9FF-944401AA3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AEE058E-6903-F7E5-F408-F0AE2FC70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9C5E64-AE9B-60A0-F73D-3183D9C31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908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414420-DD5C-DECB-9806-DF581E7E4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15135D-351F-A89D-8DE1-D1DC0E4D9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5A4EB2-8EF9-DC44-146B-E64F8A8A03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A7E7D85-45AD-CFCF-417B-34E9B17E3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7E41522-B641-D6F9-FD23-D5FF963EE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7F29B88-FBD0-8031-C4DD-55528C300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662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086543-FCC9-C9C6-03E6-3CE81D656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393B036-468E-C0F2-275B-BBA853E7C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B62C7FD-C5F9-4F1C-D321-DF5FD10F08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FA8964-CE06-D2F7-1199-7718CA717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58F6A27-68A7-6745-B81A-589A2C0C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A7E51E-ADB5-CD86-867B-C6B066BFF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06733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8A4F1D-974D-632B-EB72-5E62A573D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8C21FC-196D-A95A-0FFE-626C209CC7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6BB5E2-ADB0-63FD-EEB6-F0AF4BF3C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ACF7B1-8E68-E4B5-EB3F-023616F19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27AB042-729D-AEDD-0BDA-EFDFFC1C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749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CD89E3B-4D11-D7B4-19B3-FF88B71AC3B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68E73CC-09BD-1632-A340-61F2E3BD62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9045C4-CFFD-549C-D189-8CFBDAD15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E77874-C438-80AD-6DC9-D640A5F13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D09ABF-F42F-36B5-84A6-67ACCD18F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89746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2751D-DE86-69EE-D2D7-9A0D38733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4090B5-C0ED-11F0-D7B6-C03D77E694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BEDD3-49DF-4F58-505F-EEAF1C6B6E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12FBA5-57BE-4E0D-B9AB-8FA0886BAC02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E16CB7-8235-6674-B28E-2300421625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6DF745-704E-093B-79A5-9EBE13DEE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0963B4-A743-4958-B611-FCF26028C8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45668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svg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jp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g"/><Relationship Id="rId3" Type="http://schemas.openxmlformats.org/officeDocument/2006/relationships/image" Target="../media/image8.png"/><Relationship Id="rId7" Type="http://schemas.openxmlformats.org/officeDocument/2006/relationships/image" Target="../media/image16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g"/><Relationship Id="rId5" Type="http://schemas.openxmlformats.org/officeDocument/2006/relationships/image" Target="../media/image14.jpg"/><Relationship Id="rId4" Type="http://schemas.openxmlformats.org/officeDocument/2006/relationships/image" Target="../media/image13.jpg"/><Relationship Id="rId9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84A7C6-0EE8-1164-9067-14879FDFD2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삼국 약식 체스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260721-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0375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C617F77-7A8D-D552-98D6-A3F3317ACBBA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</a:t>
            </a:r>
            <a:r>
              <a:rPr lang="en-US" altLang="ko-KR" b="1" dirty="0"/>
              <a:t> </a:t>
            </a:r>
            <a:r>
              <a:rPr lang="ko-KR" altLang="en-US" b="1" dirty="0"/>
              <a:t>설명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체스의 기물 </a:t>
            </a:r>
            <a:r>
              <a:rPr lang="en-US" altLang="ko-KR" dirty="0"/>
              <a:t>[</a:t>
            </a:r>
            <a:r>
              <a:rPr lang="ko-KR" altLang="en-US" dirty="0"/>
              <a:t>킹</a:t>
            </a:r>
            <a:r>
              <a:rPr lang="en-US" altLang="ko-KR" dirty="0"/>
              <a:t>, </a:t>
            </a:r>
            <a:r>
              <a:rPr lang="ko-KR" altLang="en-US" dirty="0"/>
              <a:t>퀸</a:t>
            </a:r>
            <a:r>
              <a:rPr lang="en-US" altLang="ko-KR" dirty="0"/>
              <a:t>, </a:t>
            </a:r>
            <a:r>
              <a:rPr lang="ko-KR" altLang="en-US" dirty="0"/>
              <a:t>나이트</a:t>
            </a:r>
            <a:r>
              <a:rPr lang="en-US" altLang="ko-KR" dirty="0"/>
              <a:t>, </a:t>
            </a:r>
            <a:r>
              <a:rPr lang="ko-KR" altLang="en-US" dirty="0" err="1"/>
              <a:t>비숍</a:t>
            </a:r>
            <a:r>
              <a:rPr lang="en-US" altLang="ko-KR" dirty="0"/>
              <a:t>, </a:t>
            </a:r>
            <a:r>
              <a:rPr lang="ko-KR" altLang="en-US" dirty="0"/>
              <a:t>록</a:t>
            </a:r>
            <a:r>
              <a:rPr lang="en-US" altLang="ko-KR" dirty="0"/>
              <a:t>, </a:t>
            </a:r>
            <a:r>
              <a:rPr lang="ko-KR" altLang="en-US" dirty="0"/>
              <a:t>폰</a:t>
            </a:r>
            <a:r>
              <a:rPr lang="en-US" altLang="ko-KR" dirty="0"/>
              <a:t>] </a:t>
            </a:r>
            <a:r>
              <a:rPr lang="ko-KR" altLang="en-US" dirty="0"/>
              <a:t>의 이동 규칙을 변용</a:t>
            </a:r>
            <a:r>
              <a:rPr lang="en-US" altLang="ko-KR" dirty="0"/>
              <a:t>, </a:t>
            </a:r>
            <a:r>
              <a:rPr lang="ko-KR" altLang="en-US" dirty="0"/>
              <a:t>기물 고유의 공격 범위를 가짐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 킹을 먼저 잡는 플레이어가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3:3, 5:5 </a:t>
            </a:r>
            <a:r>
              <a:rPr lang="ko-KR" altLang="en-US" dirty="0"/>
              <a:t>대전이 가능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3:3</a:t>
            </a:r>
            <a:r>
              <a:rPr lang="ko-KR" altLang="en-US" dirty="0"/>
              <a:t>부터는 킹 필수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차례에 따라 양쪽의 플레이어가 기물을 움직이는데</a:t>
            </a:r>
            <a:r>
              <a:rPr lang="en-US" altLang="ko-KR" dirty="0"/>
              <a:t>,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절대시간 </a:t>
            </a:r>
            <a:r>
              <a:rPr lang="en-US" altLang="ko-KR" dirty="0"/>
              <a:t>Time</a:t>
            </a:r>
            <a:r>
              <a:rPr lang="ko-KR" altLang="en-US" dirty="0"/>
              <a:t>이 흐르고 </a:t>
            </a:r>
            <a:r>
              <a:rPr lang="en-US" altLang="ko-KR" dirty="0"/>
              <a:t>(</a:t>
            </a:r>
            <a:r>
              <a:rPr lang="ko-KR" altLang="en-US" dirty="0"/>
              <a:t>단위</a:t>
            </a:r>
            <a:r>
              <a:rPr lang="en-US" altLang="ko-KR" dirty="0"/>
              <a:t>: 0.1</a:t>
            </a:r>
            <a:r>
              <a:rPr lang="ko-KR" altLang="en-US" dirty="0"/>
              <a:t>초씩 흐름</a:t>
            </a:r>
            <a:r>
              <a:rPr lang="en-US" altLang="ko-KR" dirty="0"/>
              <a:t>. 1</a:t>
            </a:r>
            <a:r>
              <a:rPr lang="ko-KR" altLang="en-US" dirty="0"/>
              <a:t>초 </a:t>
            </a:r>
            <a:r>
              <a:rPr lang="en-US" altLang="ko-KR" dirty="0"/>
              <a:t>=</a:t>
            </a:r>
            <a:r>
              <a:rPr lang="ko-KR" altLang="en-US" dirty="0"/>
              <a:t> 게임상에서 </a:t>
            </a:r>
            <a:r>
              <a:rPr lang="en-US" altLang="ko-KR" dirty="0"/>
              <a:t>1</a:t>
            </a:r>
            <a:r>
              <a:rPr lang="ko-KR" altLang="en-US" dirty="0"/>
              <a:t>일</a:t>
            </a:r>
            <a:r>
              <a:rPr lang="en-US" altLang="ko-KR" dirty="0"/>
              <a:t>),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캐릭터마다 고유한 </a:t>
            </a:r>
            <a:r>
              <a:rPr lang="en-US" altLang="ko-KR" dirty="0"/>
              <a:t>waiting time</a:t>
            </a:r>
            <a:r>
              <a:rPr lang="ko-KR" altLang="en-US" dirty="0"/>
              <a:t> 있음</a:t>
            </a:r>
            <a:r>
              <a:rPr lang="en-US" altLang="ko-KR" dirty="0"/>
              <a:t>. </a:t>
            </a:r>
            <a:r>
              <a:rPr lang="ko-KR" altLang="en-US" dirty="0"/>
              <a:t>절대시간이 흘러 </a:t>
            </a:r>
            <a:r>
              <a:rPr lang="en-US" altLang="ko-KR" dirty="0"/>
              <a:t>waiting</a:t>
            </a:r>
            <a:r>
              <a:rPr lang="ko-KR" altLang="en-US" dirty="0"/>
              <a:t> </a:t>
            </a:r>
            <a:r>
              <a:rPr lang="en-US" altLang="ko-KR" dirty="0"/>
              <a:t>time</a:t>
            </a:r>
            <a:r>
              <a:rPr lang="ko-KR" altLang="en-US" dirty="0"/>
              <a:t> </a:t>
            </a:r>
            <a:r>
              <a:rPr lang="en-US" altLang="ko-KR" dirty="0"/>
              <a:t>0 </a:t>
            </a:r>
            <a:r>
              <a:rPr lang="ko-KR" altLang="en-US" dirty="0"/>
              <a:t>이 되면 컨트롤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기물을 컨트롤 하고 나면 </a:t>
            </a:r>
            <a:r>
              <a:rPr lang="en-US" altLang="ko-KR" dirty="0"/>
              <a:t>waiting time </a:t>
            </a:r>
            <a:r>
              <a:rPr lang="ko-KR" altLang="en-US" dirty="0"/>
              <a:t>이 다시 세팅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</a:t>
            </a:r>
            <a:r>
              <a:rPr lang="ko-KR" altLang="en-US" dirty="0"/>
              <a:t>일 마다 양쪽 플레이어에 </a:t>
            </a:r>
            <a:r>
              <a:rPr lang="en-US" altLang="ko-KR" dirty="0"/>
              <a:t>SP (Skill Point) 1</a:t>
            </a:r>
            <a:r>
              <a:rPr lang="ko-KR" altLang="en-US" dirty="0"/>
              <a:t>이 충전되고</a:t>
            </a:r>
            <a:r>
              <a:rPr lang="en-US" altLang="ko-KR" dirty="0"/>
              <a:t>, </a:t>
            </a:r>
            <a:r>
              <a:rPr lang="ko-KR" altLang="en-US" dirty="0"/>
              <a:t>캐릭터마다 고유한 기술 발동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215420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E9724-2753-05DD-6343-CA66BE654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BF1A11C-51EF-8B64-E735-11D3DB895EF6}"/>
              </a:ext>
            </a:extLst>
          </p:cNvPr>
          <p:cNvSpPr txBox="1"/>
          <p:nvPr/>
        </p:nvSpPr>
        <p:spPr>
          <a:xfrm>
            <a:off x="1013637" y="1162493"/>
            <a:ext cx="10164726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메인 화면 </a:t>
            </a:r>
            <a:r>
              <a:rPr lang="en-US" altLang="ko-KR" b="1" dirty="0"/>
              <a:t>(</a:t>
            </a:r>
            <a:r>
              <a:rPr lang="ko-KR" altLang="en-US" b="1" dirty="0"/>
              <a:t>진영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</a:t>
            </a:r>
            <a:r>
              <a:rPr lang="en-US" altLang="ko-KR" dirty="0"/>
              <a:t>(</a:t>
            </a:r>
            <a:r>
              <a:rPr lang="ko-KR" altLang="en-US" dirty="0"/>
              <a:t>게임 공간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/>
              <a:t>튜토리얼</a:t>
            </a:r>
            <a:r>
              <a:rPr lang="en-US" altLang="ko-KR" dirty="0"/>
              <a:t>, AI</a:t>
            </a:r>
            <a:r>
              <a:rPr lang="ko-KR" altLang="en-US" dirty="0"/>
              <a:t> 대전</a:t>
            </a:r>
            <a:r>
              <a:rPr lang="en-US" altLang="ko-KR" dirty="0"/>
              <a:t>, </a:t>
            </a:r>
            <a:r>
              <a:rPr lang="ko-KR" altLang="en-US" dirty="0"/>
              <a:t>온라인 대전 </a:t>
            </a:r>
            <a:r>
              <a:rPr lang="en-US" altLang="ko-KR" dirty="0">
                <a:sym typeface="Wingdings" panose="05000000000000000000" pitchFamily="2" charset="2"/>
              </a:rPr>
              <a:t> 1:1, 3:3, 5:5 </a:t>
            </a:r>
            <a:r>
              <a:rPr lang="ko-KR" altLang="en-US" dirty="0">
                <a:sym typeface="Wingdings" panose="05000000000000000000" pitchFamily="2" charset="2"/>
              </a:rPr>
              <a:t>체스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</a:t>
            </a:r>
            <a:r>
              <a:rPr lang="en-US" altLang="ko-KR" dirty="0"/>
              <a:t>(</a:t>
            </a:r>
            <a:r>
              <a:rPr lang="ko-KR" altLang="en-US" dirty="0"/>
              <a:t>내 캐릭터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관리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장수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</a:t>
            </a:r>
            <a:r>
              <a:rPr lang="ko-KR" altLang="en-US" dirty="0" err="1">
                <a:sym typeface="Wingdings" panose="05000000000000000000" pitchFamily="2" charset="2"/>
              </a:rPr>
              <a:t>업글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정보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도시 증축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</a:t>
            </a:r>
            <a:r>
              <a:rPr lang="en-US" altLang="ko-KR" dirty="0"/>
              <a:t>(</a:t>
            </a:r>
            <a:r>
              <a:rPr lang="ko-KR" altLang="en-US" dirty="0"/>
              <a:t>금화</a:t>
            </a:r>
            <a:r>
              <a:rPr lang="en-US" altLang="ko-KR" dirty="0"/>
              <a:t>/</a:t>
            </a:r>
            <a:r>
              <a:rPr lang="ko-KR" altLang="en-US" dirty="0"/>
              <a:t>카드 구매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금화 구매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군량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건축자재 구매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장수카드 구매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</a:t>
            </a:r>
            <a:r>
              <a:rPr lang="en-US" altLang="ko-KR" dirty="0"/>
              <a:t>(</a:t>
            </a:r>
            <a:r>
              <a:rPr lang="ko-KR" altLang="en-US" dirty="0"/>
              <a:t>다른 플레이어 공적 보기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랭킹 보기</a:t>
            </a:r>
            <a:r>
              <a:rPr lang="en-US" altLang="ko-KR" dirty="0">
                <a:sym typeface="Wingdings" panose="05000000000000000000" pitchFamily="2" charset="2"/>
              </a:rPr>
              <a:t>  </a:t>
            </a:r>
            <a:r>
              <a:rPr lang="ko-KR" altLang="en-US" dirty="0">
                <a:sym typeface="Wingdings" panose="05000000000000000000" pitchFamily="2" charset="2"/>
              </a:rPr>
              <a:t>다른 도시 방문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환경설정</a:t>
            </a:r>
            <a:r>
              <a:rPr lang="en-US" altLang="ko-KR" dirty="0"/>
              <a:t>(</a:t>
            </a:r>
            <a:r>
              <a:rPr lang="ko-KR" altLang="en-US" dirty="0"/>
              <a:t>계정 관리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비밀번호 변경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결제 내역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32337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3637D-688C-431E-BAC0-E9A598B696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BC38252-516B-ABFA-4ECD-10DE59A65A3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1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</a:t>
            </a:r>
            <a:r>
              <a:rPr lang="ko-KR" altLang="en-US" dirty="0"/>
              <a:t>모든 거래는 금화로 이뤄짐</a:t>
            </a:r>
            <a:r>
              <a:rPr lang="en-US" altLang="ko-KR" dirty="0"/>
              <a:t>. </a:t>
            </a:r>
            <a:r>
              <a:rPr lang="ko-KR" altLang="en-US" dirty="0"/>
              <a:t>금화 </a:t>
            </a:r>
            <a:r>
              <a:rPr lang="en-US" altLang="ko-KR" dirty="0">
                <a:sym typeface="Wingdings" panose="05000000000000000000" pitchFamily="2" charset="2"/>
              </a:rPr>
              <a:t> </a:t>
            </a:r>
            <a:r>
              <a:rPr lang="ko-KR" altLang="en-US" dirty="0">
                <a:sym typeface="Wingdings" panose="05000000000000000000" pitchFamily="2" charset="2"/>
              </a:rPr>
              <a:t>현금 </a:t>
            </a:r>
            <a:r>
              <a:rPr lang="en-US" altLang="ko-KR" dirty="0">
                <a:sym typeface="Wingdings" panose="05000000000000000000" pitchFamily="2" charset="2"/>
              </a:rPr>
              <a:t>(1</a:t>
            </a:r>
            <a:r>
              <a:rPr lang="ko-KR" altLang="en-US" dirty="0">
                <a:sym typeface="Wingdings" panose="05000000000000000000" pitchFamily="2" charset="2"/>
              </a:rPr>
              <a:t>냥 </a:t>
            </a:r>
            <a:r>
              <a:rPr lang="en-US" altLang="ko-KR" dirty="0">
                <a:sym typeface="Wingdings" panose="05000000000000000000" pitchFamily="2" charset="2"/>
              </a:rPr>
              <a:t>= </a:t>
            </a:r>
            <a:r>
              <a:rPr lang="ko-KR" altLang="en-US" dirty="0">
                <a:sym typeface="Wingdings" panose="05000000000000000000" pitchFamily="2" charset="2"/>
              </a:rPr>
              <a:t>백 원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</a:t>
            </a:r>
            <a:r>
              <a:rPr lang="ko-KR" altLang="en-US" dirty="0"/>
              <a:t>게임을 할 수 있는 코인</a:t>
            </a:r>
            <a:r>
              <a:rPr lang="en-US" altLang="ko-KR" dirty="0"/>
              <a:t>, 1 </a:t>
            </a:r>
            <a:r>
              <a:rPr lang="ko-KR" altLang="en-US" dirty="0"/>
              <a:t>기물당 군량 </a:t>
            </a:r>
            <a:r>
              <a:rPr lang="en-US" altLang="ko-KR" dirty="0"/>
              <a:t>1 </a:t>
            </a:r>
            <a:r>
              <a:rPr lang="ko-KR" altLang="en-US" dirty="0"/>
              <a:t>소모</a:t>
            </a:r>
            <a:r>
              <a:rPr lang="en-US" altLang="ko-KR" dirty="0"/>
              <a:t>, </a:t>
            </a:r>
            <a:r>
              <a:rPr lang="ko-KR" altLang="en-US" dirty="0"/>
              <a:t>도시 레벨에 따라 충전 속도 달라짐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</a:t>
            </a:r>
            <a:r>
              <a:rPr lang="ko-KR" altLang="en-US" dirty="0"/>
              <a:t>각 캐릭터 당 레벨 업에 필요한 카드 수가 모이면 레벨 업 가능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처음으로 등장한 캐릭터는 캐릭터 보유 풀로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</a:t>
            </a:r>
            <a:r>
              <a:rPr lang="ko-KR" altLang="en-US" dirty="0"/>
              <a:t>도시 증축</a:t>
            </a:r>
            <a:r>
              <a:rPr lang="en-US" altLang="ko-KR" dirty="0"/>
              <a:t>. </a:t>
            </a:r>
            <a:r>
              <a:rPr lang="ko-KR" altLang="en-US" dirty="0"/>
              <a:t>보유 캐릭터 풀을 늘릴 수 있음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풀이 가득 찬 상태에서 장수 카드 구매할 수 없음</a:t>
            </a:r>
            <a:r>
              <a:rPr lang="en-US" altLang="ko-KR" dirty="0"/>
              <a:t>. </a:t>
            </a:r>
            <a:r>
              <a:rPr lang="ko-KR" altLang="en-US" dirty="0"/>
              <a:t>장수 카드 뽑는 도중 캐릭터 풀이 가득차면</a:t>
            </a:r>
            <a:r>
              <a:rPr lang="en-US" altLang="ko-KR" dirty="0"/>
              <a:t>, </a:t>
            </a:r>
            <a:r>
              <a:rPr lang="ko-KR" altLang="en-US" dirty="0"/>
              <a:t>기존의 풀에서 캐릭터를 방출하거나</a:t>
            </a:r>
            <a:r>
              <a:rPr lang="en-US" altLang="ko-KR" dirty="0"/>
              <a:t>, </a:t>
            </a:r>
            <a:r>
              <a:rPr lang="ko-KR" altLang="en-US" dirty="0"/>
              <a:t>뽑은 캐릭터 카드를 보관함으로</a:t>
            </a:r>
            <a:r>
              <a:rPr lang="en-US" altLang="ko-KR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증축 후 보관함에 있던 카드를 캐릭터 풀로 가져올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07143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E8CF1-AAB7-8581-7F91-2CDD3526A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006613E-A08C-DD30-2DC9-A5845E471FE6}"/>
              </a:ext>
            </a:extLst>
          </p:cNvPr>
          <p:cNvSpPr txBox="1"/>
          <p:nvPr/>
        </p:nvSpPr>
        <p:spPr>
          <a:xfrm>
            <a:off x="1013637" y="1162493"/>
            <a:ext cx="1016472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상점 </a:t>
            </a:r>
            <a:r>
              <a:rPr lang="en-US" altLang="ko-KR" b="1" dirty="0"/>
              <a:t>2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금화 </a:t>
            </a:r>
            <a:r>
              <a:rPr lang="en-US" altLang="ko-KR" dirty="0"/>
              <a:t>: 10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천원</a:t>
            </a:r>
            <a:r>
              <a:rPr lang="en-US" altLang="ko-KR" dirty="0"/>
              <a:t>, 60</a:t>
            </a:r>
            <a:r>
              <a:rPr lang="ko-KR" altLang="en-US" dirty="0"/>
              <a:t>냥 </a:t>
            </a:r>
            <a:r>
              <a:rPr lang="en-US" altLang="ko-KR" dirty="0"/>
              <a:t>5</a:t>
            </a:r>
            <a:r>
              <a:rPr lang="ko-KR" altLang="en-US" dirty="0"/>
              <a:t>천원</a:t>
            </a:r>
            <a:r>
              <a:rPr lang="en-US" altLang="ko-KR" dirty="0"/>
              <a:t>, 120</a:t>
            </a:r>
            <a:r>
              <a:rPr lang="ko-KR" altLang="en-US" dirty="0"/>
              <a:t>냥 </a:t>
            </a:r>
            <a:r>
              <a:rPr lang="en-US" altLang="ko-KR" dirty="0"/>
              <a:t>1</a:t>
            </a:r>
            <a:r>
              <a:rPr lang="ko-KR" altLang="en-US" dirty="0"/>
              <a:t>만원</a:t>
            </a:r>
            <a:r>
              <a:rPr lang="en-US" altLang="ko-KR" dirty="0"/>
              <a:t>,</a:t>
            </a:r>
            <a:r>
              <a:rPr lang="ko-KR" altLang="en-US" dirty="0"/>
              <a:t> 세 종류 제공 </a:t>
            </a:r>
            <a:r>
              <a:rPr lang="en-US" altLang="ko-KR" dirty="0"/>
              <a:t>(1</a:t>
            </a:r>
            <a:r>
              <a:rPr lang="ko-KR" altLang="en-US" dirty="0"/>
              <a:t>냥 </a:t>
            </a:r>
            <a:r>
              <a:rPr lang="en-US" altLang="ko-KR" dirty="0"/>
              <a:t>=</a:t>
            </a:r>
            <a:r>
              <a:rPr lang="ko-KR" altLang="en-US" dirty="0"/>
              <a:t>백 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: 1</a:t>
            </a:r>
            <a:r>
              <a:rPr lang="ko-KR" altLang="en-US" dirty="0"/>
              <a:t>냥에 군량 </a:t>
            </a:r>
            <a:r>
              <a:rPr lang="en-US" altLang="ko-KR" dirty="0"/>
              <a:t>20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건축 자재 </a:t>
            </a:r>
            <a:r>
              <a:rPr lang="en-US" altLang="ko-KR" dirty="0"/>
              <a:t>: 1</a:t>
            </a:r>
            <a:r>
              <a:rPr lang="ko-KR" altLang="en-US" dirty="0"/>
              <a:t>냥에 자재 </a:t>
            </a:r>
            <a:r>
              <a:rPr lang="en-US" altLang="ko-KR" dirty="0"/>
              <a:t>1 </a:t>
            </a:r>
            <a:r>
              <a:rPr lang="ko-KR" altLang="en-US" dirty="0"/>
              <a:t>충전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: 10</a:t>
            </a:r>
            <a:r>
              <a:rPr lang="ko-KR" altLang="en-US" dirty="0"/>
              <a:t>냥에 장수카드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r>
              <a:rPr lang="en-US" altLang="ko-KR" dirty="0"/>
              <a:t>, 20</a:t>
            </a:r>
            <a:r>
              <a:rPr lang="ko-KR" altLang="en-US" dirty="0"/>
              <a:t>냥에 장수카드 </a:t>
            </a:r>
            <a:r>
              <a:rPr lang="en-US" altLang="ko-KR" dirty="0"/>
              <a:t>3</a:t>
            </a:r>
            <a:r>
              <a:rPr lang="ko-KR" altLang="en-US" dirty="0"/>
              <a:t>장</a:t>
            </a:r>
            <a:r>
              <a:rPr lang="en-US" altLang="ko-KR" dirty="0"/>
              <a:t>, 30</a:t>
            </a:r>
            <a:r>
              <a:rPr lang="ko-KR" altLang="en-US" dirty="0"/>
              <a:t>냥에 장수카드 </a:t>
            </a:r>
            <a:r>
              <a:rPr lang="en-US" altLang="ko-KR" dirty="0"/>
              <a:t>5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S-C </a:t>
            </a:r>
            <a:r>
              <a:rPr lang="ko-KR" altLang="en-US" dirty="0"/>
              <a:t>등급 사이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잉여 카드 리사이클 </a:t>
            </a:r>
            <a:r>
              <a:rPr lang="en-US" altLang="ko-KR" dirty="0"/>
              <a:t>: </a:t>
            </a:r>
            <a:r>
              <a:rPr lang="ko-KR" altLang="en-US" dirty="0"/>
              <a:t>게임을 하다 보면 필요 없는 카드가 생김</a:t>
            </a:r>
            <a:r>
              <a:rPr lang="en-US" altLang="ko-KR" dirty="0"/>
              <a:t>.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종류에 상관 없이</a:t>
            </a:r>
            <a:r>
              <a:rPr lang="en-US" altLang="ko-KR" dirty="0"/>
              <a:t>, 10</a:t>
            </a:r>
            <a:r>
              <a:rPr lang="ko-KR" altLang="en-US" dirty="0"/>
              <a:t>장을 소모해서 새 카드 </a:t>
            </a:r>
            <a:r>
              <a:rPr lang="en-US" altLang="ko-KR" dirty="0"/>
              <a:t>1</a:t>
            </a:r>
            <a:r>
              <a:rPr lang="ko-KR" altLang="en-US" dirty="0"/>
              <a:t>장을 뽑을 수 있음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</a:t>
            </a:r>
            <a:r>
              <a:rPr lang="ko-KR" altLang="en-US" dirty="0"/>
              <a:t>장에 대한 평균 점수 </a:t>
            </a:r>
            <a:r>
              <a:rPr lang="en-US" altLang="ko-KR" dirty="0"/>
              <a:t>(S=10,A=8,B=6,C=4,D=2) 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반올림 후 가장 가까운 등급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평균이 걸쳐질 때 </a:t>
            </a:r>
            <a:r>
              <a:rPr lang="en-US" altLang="ko-KR" dirty="0"/>
              <a:t>(9, 7, 5, 3</a:t>
            </a:r>
            <a:r>
              <a:rPr lang="ko-KR" altLang="en-US" dirty="0"/>
              <a:t>점</a:t>
            </a:r>
            <a:r>
              <a:rPr lang="en-US" altLang="ko-KR" dirty="0"/>
              <a:t>) </a:t>
            </a:r>
            <a:r>
              <a:rPr lang="ko-KR" altLang="en-US" dirty="0"/>
              <a:t>위</a:t>
            </a:r>
            <a:r>
              <a:rPr lang="en-US" altLang="ko-KR" dirty="0"/>
              <a:t>/</a:t>
            </a:r>
            <a:r>
              <a:rPr lang="ko-KR" altLang="en-US" dirty="0"/>
              <a:t>아래 등급에 있는 카드 모두를 대상으로 </a:t>
            </a:r>
            <a:r>
              <a:rPr lang="ko-KR" altLang="en-US" dirty="0" err="1"/>
              <a:t>렌덤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아이템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둔갑천서 </a:t>
            </a:r>
            <a:r>
              <a:rPr lang="en-US" altLang="ko-KR" dirty="0"/>
              <a:t>(10</a:t>
            </a:r>
            <a:r>
              <a:rPr lang="ko-KR" altLang="en-US" dirty="0"/>
              <a:t>냥</a:t>
            </a:r>
            <a:r>
              <a:rPr lang="en-US" altLang="ko-KR" dirty="0"/>
              <a:t>) : </a:t>
            </a:r>
            <a:r>
              <a:rPr lang="ko-KR" altLang="en-US" dirty="0"/>
              <a:t>레벨 및 보유 책략 초기화</a:t>
            </a:r>
            <a:r>
              <a:rPr lang="en-US" altLang="ko-KR" dirty="0"/>
              <a:t>, </a:t>
            </a:r>
            <a:r>
              <a:rPr lang="ko-KR" altLang="en-US" dirty="0"/>
              <a:t>다시 선택 가능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46204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3CCF-C615-A6C7-FEF1-03FD447A3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0E28AB-83D1-562D-FD91-95C5570E2C60}"/>
              </a:ext>
            </a:extLst>
          </p:cNvPr>
          <p:cNvSpPr txBox="1"/>
          <p:nvPr/>
        </p:nvSpPr>
        <p:spPr>
          <a:xfrm>
            <a:off x="1013637" y="1162493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도시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레벨 </a:t>
            </a:r>
            <a:r>
              <a:rPr lang="en-US" altLang="ko-KR" dirty="0"/>
              <a:t>1</a:t>
            </a:r>
            <a:r>
              <a:rPr lang="ko-KR" altLang="en-US" dirty="0"/>
              <a:t>부터 </a:t>
            </a:r>
            <a:r>
              <a:rPr lang="en-US" altLang="ko-KR" dirty="0"/>
              <a:t>9</a:t>
            </a:r>
            <a:r>
              <a:rPr lang="ko-KR" altLang="en-US" dirty="0"/>
              <a:t>까지 있고 군량 생산량</a:t>
            </a:r>
            <a:r>
              <a:rPr lang="en-US" altLang="ko-KR" dirty="0"/>
              <a:t>, </a:t>
            </a:r>
            <a:r>
              <a:rPr lang="ko-KR" altLang="en-US" dirty="0"/>
              <a:t>캐릭터 보유 </a:t>
            </a:r>
            <a:r>
              <a:rPr lang="ko-KR" altLang="en-US" dirty="0" err="1"/>
              <a:t>덱</a:t>
            </a:r>
            <a:r>
              <a:rPr lang="ko-KR" altLang="en-US" dirty="0"/>
              <a:t> 크기가 달라짐 </a:t>
            </a:r>
            <a:r>
              <a:rPr lang="en-US" altLang="ko-KR" dirty="0"/>
              <a:t>(</a:t>
            </a:r>
            <a:r>
              <a:rPr lang="ko-KR" altLang="en-US" dirty="0"/>
              <a:t>엑셀 참조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(</a:t>
            </a:r>
            <a:r>
              <a:rPr lang="ko-KR" altLang="en-US" dirty="0"/>
              <a:t>도시 레벨에 따른 풍경 이미지 변경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관리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일람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장수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성명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고유기술 및 설명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능력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기물 별 출전 승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패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적 처치 수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장수 업그레이드 메뉴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향상 능력</a:t>
            </a:r>
            <a:r>
              <a:rPr lang="en-US" altLang="ko-KR" dirty="0">
                <a:sym typeface="Wingdings" panose="05000000000000000000" pitchFamily="2" charset="2"/>
              </a:rPr>
              <a:t>(HP/MP/</a:t>
            </a:r>
            <a:r>
              <a:rPr lang="ko-KR" altLang="en-US" dirty="0">
                <a:sym typeface="Wingdings" panose="05000000000000000000" pitchFamily="2" charset="2"/>
              </a:rPr>
              <a:t>데미지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1), </a:t>
            </a:r>
            <a:r>
              <a:rPr lang="ko-KR" altLang="en-US" dirty="0">
                <a:sym typeface="Wingdings" panose="05000000000000000000" pitchFamily="2" charset="2"/>
              </a:rPr>
              <a:t>책략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지원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택</a:t>
            </a:r>
            <a:r>
              <a:rPr lang="en-US" altLang="ko-KR" dirty="0">
                <a:sym typeface="Wingdings" panose="05000000000000000000" pitchFamily="2" charset="2"/>
              </a:rPr>
              <a:t>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도시 관리 메뉴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현재 도시 정보 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도시 레벨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군량 생산량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캐릭터 풀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보유 장군 수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재료 현황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동맹 도시 리스트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증축 메뉴</a:t>
            </a:r>
            <a:endParaRPr lang="en-US" altLang="ko-KR" dirty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8143015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6F8D-FF11-C451-24A2-BADBC315B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17CF985-4796-2D49-713C-FDDEEF7F7288}"/>
              </a:ext>
            </a:extLst>
          </p:cNvPr>
          <p:cNvSpPr txBox="1"/>
          <p:nvPr/>
        </p:nvSpPr>
        <p:spPr>
          <a:xfrm>
            <a:off x="1013637" y="1162493"/>
            <a:ext cx="10164726" cy="3778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랭킹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장군 기물 별</a:t>
            </a:r>
            <a:r>
              <a:rPr lang="en-US" altLang="ko-KR" dirty="0"/>
              <a:t>, </a:t>
            </a:r>
            <a:r>
              <a:rPr lang="ko-KR" altLang="en-US" dirty="0"/>
              <a:t>토탈 출전 승</a:t>
            </a:r>
            <a:r>
              <a:rPr lang="en-US" altLang="ko-KR" dirty="0"/>
              <a:t>/</a:t>
            </a:r>
            <a:r>
              <a:rPr lang="ko-KR" altLang="en-US" dirty="0"/>
              <a:t>패 수</a:t>
            </a:r>
            <a:r>
              <a:rPr lang="en-US" altLang="ko-KR" dirty="0"/>
              <a:t>, </a:t>
            </a:r>
            <a:r>
              <a:rPr lang="ko-KR" altLang="en-US" dirty="0"/>
              <a:t>적 처치 수</a:t>
            </a:r>
            <a:r>
              <a:rPr lang="en-US" altLang="ko-KR" dirty="0"/>
              <a:t> </a:t>
            </a:r>
            <a:r>
              <a:rPr lang="ko-KR" altLang="en-US" dirty="0"/>
              <a:t>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캐릭터 정보</a:t>
            </a:r>
            <a:r>
              <a:rPr lang="en-US" altLang="ko-KR" dirty="0"/>
              <a:t>, </a:t>
            </a:r>
            <a:r>
              <a:rPr lang="ko-KR" altLang="en-US" dirty="0"/>
              <a:t>사용자 정보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사용자의 도시 방문하기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장수 풀 공개</a:t>
            </a:r>
            <a:r>
              <a:rPr lang="en-US" altLang="ko-KR" dirty="0"/>
              <a:t> (</a:t>
            </a:r>
            <a:r>
              <a:rPr lang="ko-KR" altLang="en-US" dirty="0"/>
              <a:t>보유 장수들의 상세 정보 미공개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동맹 맺기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>
                <a:sym typeface="Wingdings" panose="05000000000000000000" pitchFamily="2" charset="2"/>
              </a:rPr>
              <a:t>다른 한쪽이 수락하면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보유 장수들의 상세 정보도 공개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레벨</a:t>
            </a:r>
            <a:r>
              <a:rPr lang="en-US" altLang="ko-KR" dirty="0"/>
              <a:t>, </a:t>
            </a:r>
            <a:r>
              <a:rPr lang="ko-KR" altLang="en-US" dirty="0"/>
              <a:t>보유 장군 수</a:t>
            </a:r>
            <a:r>
              <a:rPr lang="en-US" altLang="ko-KR" dirty="0"/>
              <a:t>, </a:t>
            </a:r>
            <a:r>
              <a:rPr lang="ko-KR" altLang="en-US" dirty="0"/>
              <a:t>보유 장군들의 급 대로 환산 카운트하여 합계 랭킹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S=10, A=8, B=6, C=4, D=2</a:t>
            </a:r>
          </a:p>
        </p:txBody>
      </p:sp>
    </p:spTree>
    <p:extLst>
      <p:ext uri="{BB962C8B-B14F-4D97-AF65-F5344CB8AC3E}">
        <p14:creationId xmlns:p14="http://schemas.microsoft.com/office/powerpoint/2010/main" val="28242642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88499-2ABF-EB2E-296D-DE4924402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2BC530C-116F-CB48-F4EE-D8448DBE12F3}"/>
              </a:ext>
            </a:extLst>
          </p:cNvPr>
          <p:cNvSpPr txBox="1"/>
          <p:nvPr/>
        </p:nvSpPr>
        <p:spPr>
          <a:xfrm>
            <a:off x="1013637" y="1042750"/>
            <a:ext cx="10164726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[AI </a:t>
            </a:r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온라인</a:t>
            </a:r>
            <a:r>
              <a:rPr lang="en-US" altLang="ko-KR" dirty="0"/>
              <a:t>]</a:t>
            </a:r>
            <a:r>
              <a:rPr lang="ko-KR" altLang="en-US" dirty="0"/>
              <a:t> 선택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[3:3, 5:5] </a:t>
            </a:r>
            <a:r>
              <a:rPr lang="ko-KR" altLang="en-US" dirty="0"/>
              <a:t>대결 선택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체크 </a:t>
            </a:r>
            <a:r>
              <a:rPr lang="en-US" altLang="ko-KR" dirty="0"/>
              <a:t>(</a:t>
            </a:r>
            <a:r>
              <a:rPr lang="ko-KR" altLang="en-US" dirty="0"/>
              <a:t>충분하지 않다면 선택 불가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선택 </a:t>
            </a:r>
            <a:r>
              <a:rPr lang="en-US" altLang="ko-KR" dirty="0"/>
              <a:t>(</a:t>
            </a:r>
            <a:r>
              <a:rPr lang="ko-KR" altLang="en-US" dirty="0"/>
              <a:t>킹은 이미 선택되어 있음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기물과 캐릭터 카드 매치 </a:t>
            </a:r>
            <a:r>
              <a:rPr lang="en-US" altLang="ko-KR" dirty="0"/>
              <a:t>&gt; </a:t>
            </a:r>
            <a:r>
              <a:rPr lang="ko-KR" altLang="en-US" dirty="0"/>
              <a:t>장수 선택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위치 선정 </a:t>
            </a:r>
            <a:r>
              <a:rPr lang="en-US" altLang="ko-KR" dirty="0"/>
              <a:t>[5 x 25 </a:t>
            </a:r>
            <a:r>
              <a:rPr lang="ko-KR" altLang="en-US" dirty="0"/>
              <a:t>맵 제공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[</a:t>
            </a:r>
            <a:r>
              <a:rPr lang="ko-KR" altLang="en-US" dirty="0"/>
              <a:t>준비완료</a:t>
            </a:r>
            <a:r>
              <a:rPr lang="en-US" altLang="ko-KR" dirty="0"/>
              <a:t>]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상대편이 완료되었는지 대기 최대 </a:t>
            </a:r>
            <a:r>
              <a:rPr lang="en-US" altLang="ko-KR" dirty="0"/>
              <a:t>1</a:t>
            </a:r>
            <a:r>
              <a:rPr lang="ko-KR" altLang="en-US" dirty="0"/>
              <a:t>분</a:t>
            </a:r>
            <a:r>
              <a:rPr lang="en-US" altLang="ko-KR" dirty="0"/>
              <a:t>. 1</a:t>
            </a:r>
            <a:r>
              <a:rPr lang="ko-KR" altLang="en-US" dirty="0"/>
              <a:t>분이 초과할 경우 커넥션 체크를 해서</a:t>
            </a:r>
            <a:r>
              <a:rPr lang="en-US" altLang="ko-KR" dirty="0"/>
              <a:t>, 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상대방이 연결이 끊겼다면 안내 후 끝냄</a:t>
            </a:r>
            <a:r>
              <a:rPr lang="en-US" altLang="ko-KR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연결 되었다면 전투화면으로 이동</a:t>
            </a:r>
            <a:endParaRPr lang="en-US" altLang="ko-KR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245F318-8C3E-BE8C-7413-3301592FF4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0203" y="2858387"/>
            <a:ext cx="4026107" cy="749339"/>
          </a:xfrm>
          <a:prstGeom prst="rect">
            <a:avLst/>
          </a:prstGeom>
        </p:spPr>
      </p:pic>
      <p:sp>
        <p:nvSpPr>
          <p:cNvPr id="7" name="화살표: 위쪽 6">
            <a:extLst>
              <a:ext uri="{FF2B5EF4-FFF2-40B4-BE49-F238E27FC236}">
                <a16:creationId xmlns:a16="http://schemas.microsoft.com/office/drawing/2014/main" id="{B3175608-A8C9-1A6F-DC48-4BEF86C555B3}"/>
              </a:ext>
            </a:extLst>
          </p:cNvPr>
          <p:cNvSpPr/>
          <p:nvPr/>
        </p:nvSpPr>
        <p:spPr>
          <a:xfrm>
            <a:off x="8196943" y="1765261"/>
            <a:ext cx="859971" cy="97971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1711AC-278D-BB73-CBF3-1FABC4643A26}"/>
              </a:ext>
            </a:extLst>
          </p:cNvPr>
          <p:cNvSpPr txBox="1"/>
          <p:nvPr/>
        </p:nvSpPr>
        <p:spPr>
          <a:xfrm>
            <a:off x="6629399" y="2361597"/>
            <a:ext cx="1458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공격 방향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179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1B72-3EFE-1340-7C80-D4C28D0F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916286-34C3-3790-17B6-513A30F73F78}"/>
              </a:ext>
            </a:extLst>
          </p:cNvPr>
          <p:cNvSpPr txBox="1"/>
          <p:nvPr/>
        </p:nvSpPr>
        <p:spPr>
          <a:xfrm>
            <a:off x="1013637" y="1042750"/>
            <a:ext cx="1016472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</a:t>
            </a:r>
            <a:r>
              <a:rPr lang="en-US" altLang="ko-KR" b="1" dirty="0"/>
              <a:t>(</a:t>
            </a:r>
            <a:r>
              <a:rPr lang="ko-KR" altLang="en-US" b="1" dirty="0"/>
              <a:t>전투 직전</a:t>
            </a:r>
            <a:r>
              <a:rPr lang="en-US" altLang="ko-KR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누가 위</a:t>
            </a:r>
            <a:r>
              <a:rPr lang="en-US" altLang="ko-KR" dirty="0"/>
              <a:t>, </a:t>
            </a:r>
            <a:r>
              <a:rPr lang="ko-KR" altLang="en-US" dirty="0"/>
              <a:t>누가 아래 플레이어를 결정 </a:t>
            </a:r>
            <a:r>
              <a:rPr lang="en-US" altLang="ko-KR" dirty="0"/>
              <a:t>(</a:t>
            </a:r>
            <a:r>
              <a:rPr lang="ko-KR" altLang="en-US" dirty="0"/>
              <a:t>또는 좌</a:t>
            </a:r>
            <a:r>
              <a:rPr lang="en-US" altLang="ko-KR" dirty="0"/>
              <a:t>/</a:t>
            </a:r>
            <a:r>
              <a:rPr lang="ko-KR" altLang="en-US" dirty="0"/>
              <a:t>우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통솔력 기준으로 전 캐릭터 정렬</a:t>
            </a:r>
            <a:r>
              <a:rPr lang="en-US" altLang="ko-KR" dirty="0"/>
              <a:t>, </a:t>
            </a:r>
            <a:r>
              <a:rPr lang="ko-KR" altLang="en-US" dirty="0"/>
              <a:t>동점인 캐릭터들 간 순서는 랜덤으로 결정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각자 </a:t>
            </a:r>
            <a:r>
              <a:rPr lang="ko-KR" altLang="en-US" dirty="0" err="1"/>
              <a:t>맵을</a:t>
            </a:r>
            <a:r>
              <a:rPr lang="ko-KR" altLang="en-US" dirty="0"/>
              <a:t> 탐방하며 전략을 짜는 시간 </a:t>
            </a:r>
            <a:r>
              <a:rPr lang="en-US" altLang="ko-KR" dirty="0"/>
              <a:t>15</a:t>
            </a:r>
            <a:r>
              <a:rPr lang="ko-KR" altLang="en-US" dirty="0"/>
              <a:t>초 제공</a:t>
            </a:r>
            <a:r>
              <a:rPr lang="en-US" altLang="ko-KR" dirty="0"/>
              <a:t>, 20</a:t>
            </a:r>
            <a:r>
              <a:rPr lang="ko-KR" altLang="en-US" dirty="0"/>
              <a:t>초를 세는데</a:t>
            </a:r>
            <a:r>
              <a:rPr lang="en-US" altLang="ko-KR" dirty="0"/>
              <a:t>, 5</a:t>
            </a:r>
            <a:r>
              <a:rPr lang="ko-KR" altLang="en-US" dirty="0"/>
              <a:t>초전부터 카운트 다운 표시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자기 것 및 상대방 기물을 클릭했을 때 캐릭터 장수 정보를 확인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</a:t>
            </a:r>
            <a:r>
              <a:rPr lang="en-US" altLang="ko-KR" dirty="0"/>
              <a:t> </a:t>
            </a:r>
            <a:r>
              <a:rPr lang="ko-KR" altLang="en-US" dirty="0"/>
              <a:t>왼쪽 아래에 장수 급과 레벨이 표시됨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상단에는 </a:t>
            </a:r>
            <a:r>
              <a:rPr lang="en-US" altLang="ko-KR" dirty="0"/>
              <a:t>HP(</a:t>
            </a:r>
            <a:r>
              <a:rPr lang="ko-KR" altLang="en-US" dirty="0"/>
              <a:t>초록</a:t>
            </a:r>
            <a:r>
              <a:rPr lang="en-US" altLang="ko-KR" dirty="0"/>
              <a:t>),</a:t>
            </a:r>
            <a:r>
              <a:rPr lang="ko-KR" altLang="en-US" dirty="0"/>
              <a:t> </a:t>
            </a:r>
            <a:r>
              <a:rPr lang="en-US" altLang="ko-KR" dirty="0"/>
              <a:t>MP(</a:t>
            </a:r>
            <a:r>
              <a:rPr lang="ko-KR" altLang="en-US" dirty="0"/>
              <a:t>파랑</a:t>
            </a:r>
            <a:r>
              <a:rPr lang="en-US" altLang="ko-KR" dirty="0"/>
              <a:t>), Waiting time (</a:t>
            </a:r>
            <a:r>
              <a:rPr lang="ko-KR" altLang="en-US" dirty="0"/>
              <a:t>흰색</a:t>
            </a:r>
            <a:r>
              <a:rPr lang="en-US" altLang="ko-KR" dirty="0"/>
              <a:t>, </a:t>
            </a:r>
            <a:r>
              <a:rPr lang="ko-KR" altLang="en-US" dirty="0"/>
              <a:t>내 턴이 끝나면 회색으로 채움</a:t>
            </a:r>
            <a:r>
              <a:rPr lang="en-US" altLang="ko-KR" dirty="0"/>
              <a:t>)</a:t>
            </a:r>
          </a:p>
        </p:txBody>
      </p:sp>
      <p:pic>
        <p:nvPicPr>
          <p:cNvPr id="3" name="그래픽 2" descr="전당포 단색으로 채워진">
            <a:extLst>
              <a:ext uri="{FF2B5EF4-FFF2-40B4-BE49-F238E27FC236}">
                <a16:creationId xmlns:a16="http://schemas.microsoft.com/office/drawing/2014/main" id="{DD8EDFA7-A6F9-0B7B-779F-1F95E1E80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79171" y="5009708"/>
            <a:ext cx="914400" cy="9144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0A9319CC-94B0-571B-0B5D-B1EE51A29893}"/>
              </a:ext>
            </a:extLst>
          </p:cNvPr>
          <p:cNvSpPr/>
          <p:nvPr/>
        </p:nvSpPr>
        <p:spPr>
          <a:xfrm>
            <a:off x="2001882" y="5651963"/>
            <a:ext cx="435429" cy="4136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dirty="0"/>
              <a:t>A2</a:t>
            </a:r>
            <a:endParaRPr lang="ko-KR" altLang="en-US" sz="1200" b="1" dirty="0"/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CE846A7D-3FFC-2C4D-6288-7F7E78E0CB8D}"/>
              </a:ext>
            </a:extLst>
          </p:cNvPr>
          <p:cNvSpPr/>
          <p:nvPr/>
        </p:nvSpPr>
        <p:spPr>
          <a:xfrm>
            <a:off x="2001882" y="4986848"/>
            <a:ext cx="1068977" cy="106897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BD21B39B-B763-E9D1-013B-DB3B5174A583}"/>
              </a:ext>
            </a:extLst>
          </p:cNvPr>
          <p:cNvSpPr/>
          <p:nvPr/>
        </p:nvSpPr>
        <p:spPr>
          <a:xfrm>
            <a:off x="2001882" y="4428881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18401E7A-0AEA-8AAC-FE1D-27D43F11226A}"/>
              </a:ext>
            </a:extLst>
          </p:cNvPr>
          <p:cNvSpPr/>
          <p:nvPr/>
        </p:nvSpPr>
        <p:spPr>
          <a:xfrm>
            <a:off x="2001882" y="4610516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4493EFB2-47D4-1D5E-392B-1ABA1208519C}"/>
              </a:ext>
            </a:extLst>
          </p:cNvPr>
          <p:cNvSpPr/>
          <p:nvPr/>
        </p:nvSpPr>
        <p:spPr>
          <a:xfrm>
            <a:off x="2001882" y="4805213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1EB33C0-C1E1-E36C-B3DC-4E95A9E3C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6208" y="4614295"/>
            <a:ext cx="2828373" cy="2075335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8D7BCA4E-851F-4E56-1F5F-5478B1F51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0318" y="4614295"/>
            <a:ext cx="2841820" cy="20753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6419DF3-540F-2DA9-9D54-ACE1C2D6B937}"/>
              </a:ext>
            </a:extLst>
          </p:cNvPr>
          <p:cNvSpPr txBox="1"/>
          <p:nvPr/>
        </p:nvSpPr>
        <p:spPr>
          <a:xfrm>
            <a:off x="3626208" y="4105217"/>
            <a:ext cx="5104135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[3:3]</a:t>
            </a:r>
            <a:r>
              <a:rPr lang="ko-KR" altLang="en-US" b="1" dirty="0"/>
              <a:t> 전투</a:t>
            </a:r>
            <a:r>
              <a:rPr lang="en-US" altLang="ko-KR" b="1" dirty="0"/>
              <a:t>, [5:5] </a:t>
            </a:r>
            <a:r>
              <a:rPr lang="ko-KR" altLang="en-US" b="1" dirty="0"/>
              <a:t>전투</a:t>
            </a:r>
            <a:r>
              <a:rPr lang="en-US" altLang="ko-KR" b="1" dirty="0"/>
              <a:t> = 20 x 25 </a:t>
            </a:r>
            <a:r>
              <a:rPr lang="ko-KR" altLang="en-US" b="1" dirty="0"/>
              <a:t>바둑판식 맵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2911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2C3AD-06BD-5819-6BAF-6B7DE1EC8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4557817-7AFC-73AB-E536-00E4390928CC}"/>
              </a:ext>
            </a:extLst>
          </p:cNvPr>
          <p:cNvSpPr txBox="1"/>
          <p:nvPr/>
        </p:nvSpPr>
        <p:spPr>
          <a:xfrm>
            <a:off x="1013638" y="1042750"/>
            <a:ext cx="9632592" cy="5024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화면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절대 시간 흐름 영역 </a:t>
            </a:r>
            <a:r>
              <a:rPr lang="en-US" altLang="ko-KR" dirty="0"/>
              <a:t>(</a:t>
            </a:r>
            <a:r>
              <a:rPr lang="ko-KR" altLang="en-US" dirty="0"/>
              <a:t>실제시간 </a:t>
            </a:r>
            <a:r>
              <a:rPr lang="en-US" altLang="ko-KR" dirty="0"/>
              <a:t>1</a:t>
            </a:r>
            <a:r>
              <a:rPr lang="ko-KR" altLang="en-US" dirty="0"/>
              <a:t>초를 게임상에서</a:t>
            </a:r>
            <a:r>
              <a:rPr lang="en-US" altLang="ko-KR" dirty="0"/>
              <a:t> 1</a:t>
            </a:r>
            <a:r>
              <a:rPr lang="ko-KR" altLang="en-US" dirty="0"/>
              <a:t>일로 표시</a:t>
            </a:r>
            <a:r>
              <a:rPr lang="en-US" altLang="ko-KR" dirty="0"/>
              <a:t>, 0.1</a:t>
            </a:r>
            <a:r>
              <a:rPr lang="ko-KR" altLang="en-US" dirty="0"/>
              <a:t>초 단위 시간 증가 보임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바 영역 </a:t>
            </a:r>
            <a:r>
              <a:rPr lang="en-US" altLang="ko-KR" dirty="0"/>
              <a:t>(time 100 </a:t>
            </a:r>
            <a:r>
              <a:rPr lang="ko-KR" altLang="en-US" dirty="0"/>
              <a:t>마다 </a:t>
            </a:r>
            <a:r>
              <a:rPr lang="en-US" altLang="ko-KR" dirty="0"/>
              <a:t>1</a:t>
            </a:r>
            <a:r>
              <a:rPr lang="ko-KR" altLang="en-US" dirty="0"/>
              <a:t>씩 증가</a:t>
            </a:r>
            <a:r>
              <a:rPr lang="en-US" altLang="ko-KR" dirty="0"/>
              <a:t>, </a:t>
            </a:r>
            <a:r>
              <a:rPr lang="ko-KR" altLang="en-US" dirty="0"/>
              <a:t>최대</a:t>
            </a:r>
            <a:r>
              <a:rPr lang="en-US" altLang="ko-KR" dirty="0"/>
              <a:t> SP = 3:3</a:t>
            </a:r>
            <a:r>
              <a:rPr lang="ko-KR" altLang="en-US" dirty="0"/>
              <a:t>일 때 </a:t>
            </a:r>
            <a:r>
              <a:rPr lang="en-US" altLang="ko-KR" dirty="0"/>
              <a:t>15, 5:5</a:t>
            </a:r>
            <a:r>
              <a:rPr lang="ko-KR" altLang="en-US" dirty="0"/>
              <a:t>일 때 </a:t>
            </a:r>
            <a:r>
              <a:rPr lang="en-US" altLang="ko-KR" dirty="0"/>
              <a:t>25)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</a:t>
            </a:r>
            <a:r>
              <a:rPr lang="ko-KR" altLang="en-US" dirty="0"/>
              <a:t>급 부터 </a:t>
            </a:r>
            <a:r>
              <a:rPr lang="en-US" altLang="ko-KR" dirty="0"/>
              <a:t>B</a:t>
            </a:r>
            <a:r>
              <a:rPr lang="ko-KR" altLang="en-US" dirty="0"/>
              <a:t>급 까지 장수가 있다면</a:t>
            </a:r>
            <a:r>
              <a:rPr lang="en-US" altLang="ko-KR" dirty="0"/>
              <a:t>, </a:t>
            </a:r>
            <a:r>
              <a:rPr lang="ko-KR" altLang="en-US" dirty="0"/>
              <a:t>이들의 고유 기술 버튼 리스트 영역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버튼 누르면</a:t>
            </a:r>
            <a:r>
              <a:rPr lang="en-US" altLang="ko-KR" dirty="0"/>
              <a:t>, </a:t>
            </a:r>
            <a:r>
              <a:rPr lang="ko-KR" altLang="en-US" dirty="0"/>
              <a:t>잠깐 절대시간 멈추고 기술 애니메이션 표시 </a:t>
            </a:r>
            <a:r>
              <a:rPr lang="en-US" altLang="ko-KR" dirty="0"/>
              <a:t>1-3</a:t>
            </a:r>
            <a:r>
              <a:rPr lang="ko-KR" altLang="en-US" dirty="0"/>
              <a:t>초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발동된 고유 기술에 대한 이름과 시간 표시 영역</a:t>
            </a:r>
            <a:r>
              <a:rPr lang="en-US" altLang="ko-KR" dirty="0"/>
              <a:t>, </a:t>
            </a:r>
            <a:r>
              <a:rPr lang="ko-KR" altLang="en-US" dirty="0"/>
              <a:t>해당 캐릭터의 왼쪽 위에 배지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게임 맵 화면 영역</a:t>
            </a:r>
            <a:r>
              <a:rPr lang="en-US" altLang="ko-KR" dirty="0"/>
              <a:t>:</a:t>
            </a:r>
            <a:r>
              <a:rPr lang="ko-KR" altLang="en-US" dirty="0"/>
              <a:t> 줌</a:t>
            </a:r>
            <a:r>
              <a:rPr lang="en-US" altLang="ko-KR" dirty="0"/>
              <a:t>, </a:t>
            </a:r>
            <a:r>
              <a:rPr lang="ko-KR" altLang="en-US" dirty="0"/>
              <a:t>스크롤 기능 제공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어떤 캐릭터가 </a:t>
            </a:r>
            <a:r>
              <a:rPr lang="en-US" altLang="ko-KR" dirty="0"/>
              <a:t>waiting time </a:t>
            </a:r>
            <a:r>
              <a:rPr lang="ko-KR" altLang="en-US" dirty="0"/>
              <a:t>이 </a:t>
            </a:r>
            <a:r>
              <a:rPr lang="en-US" altLang="ko-KR" dirty="0"/>
              <a:t>0</a:t>
            </a:r>
            <a:r>
              <a:rPr lang="ko-KR" altLang="en-US" dirty="0"/>
              <a:t>이 되어 제어권을 가졌을 때 제어 </a:t>
            </a:r>
            <a:r>
              <a:rPr lang="ko-KR" altLang="en-US" dirty="0" err="1"/>
              <a:t>모달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이동</a:t>
            </a:r>
            <a:r>
              <a:rPr lang="en-US" altLang="ko-KR" dirty="0"/>
              <a:t>(</a:t>
            </a:r>
            <a:r>
              <a:rPr lang="ko-KR" altLang="en-US" dirty="0"/>
              <a:t>또는 제자리</a:t>
            </a:r>
            <a:r>
              <a:rPr lang="en-US" altLang="ko-KR" dirty="0"/>
              <a:t>)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>
                <a:sym typeface="Wingdings" panose="05000000000000000000" pitchFamily="2" charset="2"/>
              </a:rPr>
              <a:t>공격</a:t>
            </a:r>
            <a:r>
              <a:rPr lang="en-US" altLang="ko-KR" dirty="0">
                <a:sym typeface="Wingdings" panose="05000000000000000000" pitchFamily="2" charset="2"/>
              </a:rPr>
              <a:t> 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중일때는 절대 시간 멈춤</a:t>
            </a:r>
            <a:r>
              <a:rPr lang="en-US" altLang="ko-KR" dirty="0">
                <a:sym typeface="Wingdings" panose="05000000000000000000" pitchFamily="2" charset="2"/>
              </a:rPr>
              <a:t>. (</a:t>
            </a:r>
            <a:r>
              <a:rPr lang="ko-KR" altLang="en-US" dirty="0">
                <a:sym typeface="Wingdings" panose="05000000000000000000" pitchFamily="2" charset="2"/>
              </a:rPr>
              <a:t>명상 </a:t>
            </a:r>
            <a:r>
              <a:rPr lang="en-US" altLang="ko-KR" dirty="0">
                <a:sym typeface="Wingdings" panose="05000000000000000000" pitchFamily="2" charset="2"/>
              </a:rPr>
              <a:t>= MP </a:t>
            </a:r>
            <a:r>
              <a:rPr lang="ko-KR" altLang="en-US" dirty="0">
                <a:sym typeface="Wingdings" panose="05000000000000000000" pitchFamily="2" charset="2"/>
              </a:rPr>
              <a:t>회복 </a:t>
            </a:r>
            <a:r>
              <a:rPr lang="en-US" altLang="ko-KR" dirty="0">
                <a:sym typeface="Wingdings" panose="05000000000000000000" pitchFamily="2" charset="2"/>
              </a:rPr>
              <a:t>+1)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공격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책략 </a:t>
            </a:r>
            <a:r>
              <a:rPr lang="en-US" altLang="ko-KR" dirty="0">
                <a:sym typeface="Wingdings" panose="05000000000000000000" pitchFamily="2" charset="2"/>
              </a:rPr>
              <a:t>or </a:t>
            </a:r>
            <a:r>
              <a:rPr lang="ko-KR" altLang="en-US" dirty="0">
                <a:sym typeface="Wingdings" panose="05000000000000000000" pitchFamily="2" charset="2"/>
              </a:rPr>
              <a:t>명상까지 끝냈을 때 절대시간 </a:t>
            </a:r>
            <a:r>
              <a:rPr lang="en-US" altLang="ko-KR" dirty="0">
                <a:sym typeface="Wingdings" panose="05000000000000000000" pitchFamily="2" charset="2"/>
              </a:rPr>
              <a:t>+1 </a:t>
            </a:r>
            <a:r>
              <a:rPr lang="ko-KR" altLang="en-US" dirty="0">
                <a:sym typeface="Wingdings" panose="05000000000000000000" pitchFamily="2" charset="2"/>
              </a:rPr>
              <a:t>흐름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제어 최대 시간 </a:t>
            </a:r>
            <a:r>
              <a:rPr lang="en-US" altLang="ko-KR" dirty="0">
                <a:sym typeface="Wingdings" panose="05000000000000000000" pitchFamily="2" charset="2"/>
              </a:rPr>
              <a:t>20</a:t>
            </a:r>
            <a:r>
              <a:rPr lang="ko-KR" altLang="en-US" dirty="0">
                <a:sym typeface="Wingdings" panose="05000000000000000000" pitchFamily="2" charset="2"/>
              </a:rPr>
              <a:t>초</a:t>
            </a:r>
            <a:r>
              <a:rPr lang="en-US" altLang="ko-KR" dirty="0">
                <a:sym typeface="Wingdings" panose="05000000000000000000" pitchFamily="2" charset="2"/>
              </a:rPr>
              <a:t>: </a:t>
            </a:r>
            <a:r>
              <a:rPr lang="ko-KR" altLang="en-US" dirty="0">
                <a:sym typeface="Wingdings" panose="05000000000000000000" pitchFamily="2" charset="2"/>
              </a:rPr>
              <a:t>그 이후로도 상대가 플레이 중이라면 </a:t>
            </a: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차례 넘기기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버튼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0F12EF77-EF8D-32A1-5F53-342965C3C0F7}"/>
              </a:ext>
            </a:extLst>
          </p:cNvPr>
          <p:cNvSpPr/>
          <p:nvPr/>
        </p:nvSpPr>
        <p:spPr>
          <a:xfrm>
            <a:off x="9785168" y="4363566"/>
            <a:ext cx="1068977" cy="130628"/>
          </a:xfrm>
          <a:prstGeom prst="roundRect">
            <a:avLst/>
          </a:prstGeom>
          <a:solidFill>
            <a:schemeClr val="accent3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836D3D89-360E-4C9A-F8E8-15BBCB48505F}"/>
              </a:ext>
            </a:extLst>
          </p:cNvPr>
          <p:cNvSpPr/>
          <p:nvPr/>
        </p:nvSpPr>
        <p:spPr>
          <a:xfrm>
            <a:off x="9785168" y="4545201"/>
            <a:ext cx="1068977" cy="130628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C02E25F4-FFAB-4568-52F3-3A66F118209F}"/>
              </a:ext>
            </a:extLst>
          </p:cNvPr>
          <p:cNvSpPr/>
          <p:nvPr/>
        </p:nvSpPr>
        <p:spPr>
          <a:xfrm>
            <a:off x="9785168" y="4739898"/>
            <a:ext cx="1068977" cy="130628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5B2AB90E-374B-A17D-776D-C43B721AAC19}"/>
              </a:ext>
            </a:extLst>
          </p:cNvPr>
          <p:cNvGrpSpPr/>
          <p:nvPr/>
        </p:nvGrpSpPr>
        <p:grpSpPr>
          <a:xfrm>
            <a:off x="9785168" y="4921533"/>
            <a:ext cx="1068977" cy="1078774"/>
            <a:chOff x="9785168" y="4921533"/>
            <a:chExt cx="1068977" cy="1078774"/>
          </a:xfrm>
        </p:grpSpPr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71922631-5584-513C-C233-659095FD950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158A60A-17CF-82CD-8C9C-BA0E5F324FCF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119C2DA-C4BF-EFDE-7EC8-4691690481E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0B58A4D-E01F-CA0D-0127-274C0C36A7A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35225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F3079-F453-1853-99B2-EF401ACE7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91D64F9-4CC3-1B49-73F3-757E282E9956}"/>
              </a:ext>
            </a:extLst>
          </p:cNvPr>
          <p:cNvSpPr txBox="1"/>
          <p:nvPr/>
        </p:nvSpPr>
        <p:spPr>
          <a:xfrm>
            <a:off x="1013638" y="1042750"/>
            <a:ext cx="6486619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기물의 이동과 공격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sym typeface="Wingdings" panose="05000000000000000000" pitchFamily="2" charset="2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74B9350F-2391-19BC-4DBF-B577AD5D7F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751262"/>
              </p:ext>
            </p:extLst>
          </p:nvPr>
        </p:nvGraphicFramePr>
        <p:xfrm>
          <a:off x="1013638" y="1619160"/>
          <a:ext cx="5691962" cy="153797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04411">
                  <a:extLst>
                    <a:ext uri="{9D8B030D-6E8A-4147-A177-3AD203B41FA5}">
                      <a16:colId xmlns:a16="http://schemas.microsoft.com/office/drawing/2014/main" val="2758207367"/>
                    </a:ext>
                  </a:extLst>
                </a:gridCol>
                <a:gridCol w="2315014">
                  <a:extLst>
                    <a:ext uri="{9D8B030D-6E8A-4147-A177-3AD203B41FA5}">
                      <a16:colId xmlns:a16="http://schemas.microsoft.com/office/drawing/2014/main" val="1754078468"/>
                    </a:ext>
                  </a:extLst>
                </a:gridCol>
                <a:gridCol w="2272537">
                  <a:extLst>
                    <a:ext uri="{9D8B030D-6E8A-4147-A177-3AD203B41FA5}">
                      <a16:colId xmlns:a16="http://schemas.microsoft.com/office/drawing/2014/main" val="3063153241"/>
                    </a:ext>
                  </a:extLst>
                </a:gridCol>
              </a:tblGrid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이동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공격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409282017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King</a:t>
                      </a:r>
                      <a:endParaRPr lang="ko-KR" sz="1400" b="1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57052885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Rock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십자로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214851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Bishop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대각 4칸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4방향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016399133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Knight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전진2+대각1칸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</a:rPr>
                        <a:t>4</a:t>
                      </a:r>
                      <a:r>
                        <a:rPr lang="ko-KR" sz="1400" u="none" strike="noStrike" dirty="0">
                          <a:effectLst/>
                        </a:rPr>
                        <a:t>방향 1칸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31072520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Queen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3칸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상하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335715624"/>
                  </a:ext>
                </a:extLst>
              </a:tr>
              <a:tr h="2159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Pawn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1칸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4방향 2칸 (최대 2명 공격)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2621983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5566E4E-5C96-313A-A871-220368725DFD}"/>
              </a:ext>
            </a:extLst>
          </p:cNvPr>
          <p:cNvSpPr txBox="1"/>
          <p:nvPr/>
        </p:nvSpPr>
        <p:spPr>
          <a:xfrm>
            <a:off x="1013638" y="3246579"/>
            <a:ext cx="6096000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좌</a:t>
            </a:r>
            <a:r>
              <a:rPr lang="en-US" altLang="ko-KR" b="1" dirty="0"/>
              <a:t>) </a:t>
            </a:r>
            <a:r>
              <a:rPr lang="ko-KR" altLang="en-US" b="1" dirty="0"/>
              <a:t>노란색은 이동범위</a:t>
            </a:r>
            <a:r>
              <a:rPr lang="en-US" altLang="ko-KR" b="1" dirty="0"/>
              <a:t>, 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(</a:t>
            </a:r>
            <a:r>
              <a:rPr lang="ko-KR" altLang="en-US" b="1" dirty="0"/>
              <a:t>중</a:t>
            </a:r>
            <a:r>
              <a:rPr lang="en-US" altLang="ko-KR" b="1" dirty="0"/>
              <a:t>) </a:t>
            </a:r>
            <a:r>
              <a:rPr lang="ko-KR" altLang="en-US" b="1" dirty="0"/>
              <a:t>빨간색은 공격범위</a:t>
            </a: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en-US" altLang="ko-KR" sz="1800" b="1" dirty="0"/>
              <a:t>(</a:t>
            </a:r>
            <a:r>
              <a:rPr lang="ko-KR" altLang="en-US" sz="1800" b="1" dirty="0"/>
              <a:t>우</a:t>
            </a:r>
            <a:r>
              <a:rPr lang="en-US" altLang="ko-KR" sz="1800" b="1" dirty="0"/>
              <a:t>) </a:t>
            </a:r>
            <a:r>
              <a:rPr lang="ko-KR" altLang="en-US" sz="1800" b="1" dirty="0"/>
              <a:t>이동하며 공격했을 때 한 턴에 최대 공격 가용 범위</a:t>
            </a:r>
            <a:endParaRPr lang="en-US" altLang="ko-KR" sz="1800" b="1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BC53B183-2B47-EA87-3F41-2692F5EAFA85}"/>
              </a:ext>
            </a:extLst>
          </p:cNvPr>
          <p:cNvGrpSpPr/>
          <p:nvPr/>
        </p:nvGrpSpPr>
        <p:grpSpPr>
          <a:xfrm>
            <a:off x="7500257" y="254127"/>
            <a:ext cx="3971232" cy="6364725"/>
            <a:chOff x="7500257" y="254127"/>
            <a:chExt cx="3971232" cy="6364725"/>
          </a:xfrm>
        </p:grpSpPr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7907AD8A-C1CD-44CE-7E60-FBEAA02900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406688" y="254127"/>
              <a:ext cx="3025006" cy="6205940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4CBAFF69-1159-2A36-09DE-4497436D44E5}"/>
                </a:ext>
              </a:extLst>
            </p:cNvPr>
            <p:cNvGrpSpPr/>
            <p:nvPr/>
          </p:nvGrpSpPr>
          <p:grpSpPr>
            <a:xfrm>
              <a:off x="7500257" y="412915"/>
              <a:ext cx="3971232" cy="6205937"/>
              <a:chOff x="7500257" y="401691"/>
              <a:chExt cx="3971232" cy="6205937"/>
            </a:xfrm>
          </p:grpSpPr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B722319D-29FE-573A-8976-9626FD48FC17}"/>
                  </a:ext>
                </a:extLst>
              </p:cNvPr>
              <p:cNvCxnSpPr/>
              <p:nvPr/>
            </p:nvCxnSpPr>
            <p:spPr>
              <a:xfrm>
                <a:off x="8028421" y="869483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862655A-E667-B51B-E2D3-CE3DCBC329B2}"/>
                  </a:ext>
                </a:extLst>
              </p:cNvPr>
              <p:cNvCxnSpPr/>
              <p:nvPr/>
            </p:nvCxnSpPr>
            <p:spPr>
              <a:xfrm>
                <a:off x="8042489" y="2115350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C0AE463D-E2A8-1CE5-C79F-A600588FD663}"/>
                  </a:ext>
                </a:extLst>
              </p:cNvPr>
              <p:cNvCxnSpPr/>
              <p:nvPr/>
            </p:nvCxnSpPr>
            <p:spPr>
              <a:xfrm>
                <a:off x="8042489" y="333180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D9BE2DB-0874-8ED4-AD1E-5EA90C8146C0}"/>
                  </a:ext>
                </a:extLst>
              </p:cNvPr>
              <p:cNvCxnSpPr/>
              <p:nvPr/>
            </p:nvCxnSpPr>
            <p:spPr>
              <a:xfrm>
                <a:off x="8016069" y="442489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A242D18C-6121-439A-07A3-F4BF67AB461E}"/>
                  </a:ext>
                </a:extLst>
              </p:cNvPr>
              <p:cNvCxnSpPr/>
              <p:nvPr/>
            </p:nvCxnSpPr>
            <p:spPr>
              <a:xfrm>
                <a:off x="8042489" y="5542945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1BFDF47B-24E5-DBC1-31C9-81F62ED6CC6F}"/>
                  </a:ext>
                </a:extLst>
              </p:cNvPr>
              <p:cNvCxnSpPr/>
              <p:nvPr/>
            </p:nvCxnSpPr>
            <p:spPr>
              <a:xfrm>
                <a:off x="8042489" y="6607628"/>
                <a:ext cx="3429000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" name="그룹 34">
                <a:extLst>
                  <a:ext uri="{FF2B5EF4-FFF2-40B4-BE49-F238E27FC236}">
                    <a16:creationId xmlns:a16="http://schemas.microsoft.com/office/drawing/2014/main" id="{959B1415-6727-BB08-DF98-29CB75362E5E}"/>
                  </a:ext>
                </a:extLst>
              </p:cNvPr>
              <p:cNvGrpSpPr/>
              <p:nvPr/>
            </p:nvGrpSpPr>
            <p:grpSpPr>
              <a:xfrm>
                <a:off x="7500257" y="401691"/>
                <a:ext cx="914400" cy="5746137"/>
                <a:chOff x="7721420" y="401691"/>
                <a:chExt cx="914400" cy="5746137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B68C52B7-9DD1-BD3B-5D4A-63B300C14C41}"/>
                    </a:ext>
                  </a:extLst>
                </p:cNvPr>
                <p:cNvSpPr txBox="1"/>
                <p:nvPr/>
              </p:nvSpPr>
              <p:spPr>
                <a:xfrm>
                  <a:off x="7721420" y="40169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King</a:t>
                  </a:r>
                  <a:endParaRPr lang="ko-KR" altLang="en-US" dirty="0"/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F966E096-3588-BDE7-EDE8-6B98EDA63061}"/>
                    </a:ext>
                  </a:extLst>
                </p:cNvPr>
                <p:cNvSpPr txBox="1"/>
                <p:nvPr/>
              </p:nvSpPr>
              <p:spPr>
                <a:xfrm>
                  <a:off x="7721420" y="1268404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Rock</a:t>
                  </a:r>
                  <a:endParaRPr lang="ko-KR" altLang="en-US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244CB095-19AA-F4A6-B5E4-4432A38C4B73}"/>
                    </a:ext>
                  </a:extLst>
                </p:cNvPr>
                <p:cNvSpPr txBox="1"/>
                <p:nvPr/>
              </p:nvSpPr>
              <p:spPr>
                <a:xfrm>
                  <a:off x="7721420" y="229795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Bishop</a:t>
                  </a:r>
                  <a:endParaRPr lang="ko-KR" altLang="en-US" dirty="0"/>
                </a:p>
              </p:txBody>
            </p: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277BC7E6-B314-B0A8-C94E-D7A611154A09}"/>
                    </a:ext>
                  </a:extLst>
                </p:cNvPr>
                <p:cNvSpPr txBox="1"/>
                <p:nvPr/>
              </p:nvSpPr>
              <p:spPr>
                <a:xfrm>
                  <a:off x="7721420" y="3519906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Knight</a:t>
                  </a:r>
                  <a:endParaRPr lang="ko-KR" altLang="en-US" dirty="0"/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5AFB8A56-5853-DD71-2966-960369EB4CAA}"/>
                    </a:ext>
                  </a:extLst>
                </p:cNvPr>
                <p:cNvSpPr txBox="1"/>
                <p:nvPr/>
              </p:nvSpPr>
              <p:spPr>
                <a:xfrm>
                  <a:off x="7721420" y="4741538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Queen</a:t>
                  </a:r>
                  <a:endParaRPr lang="ko-KR" altLang="en-US" dirty="0"/>
                </a:p>
              </p:txBody>
            </p:sp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7AD9D7AF-22B8-467E-62FA-5EF5BD936DC0}"/>
                    </a:ext>
                  </a:extLst>
                </p:cNvPr>
                <p:cNvSpPr txBox="1"/>
                <p:nvPr/>
              </p:nvSpPr>
              <p:spPr>
                <a:xfrm>
                  <a:off x="7721420" y="5778511"/>
                  <a:ext cx="914400" cy="36931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dirty="0"/>
                    <a:t>Pawn</a:t>
                  </a:r>
                  <a:endParaRPr lang="ko-KR" altLang="en-US" dirty="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807962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14123-FE50-2267-238B-E82266E3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직사각형 57">
            <a:extLst>
              <a:ext uri="{FF2B5EF4-FFF2-40B4-BE49-F238E27FC236}">
                <a16:creationId xmlns:a16="http://schemas.microsoft.com/office/drawing/2014/main" id="{1A2510A2-4FAC-7229-0144-A0D2EF203C2A}"/>
              </a:ext>
            </a:extLst>
          </p:cNvPr>
          <p:cNvSpPr/>
          <p:nvPr/>
        </p:nvSpPr>
        <p:spPr>
          <a:xfrm>
            <a:off x="4600646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A01045C-3D3E-C158-7C5F-8641E2D4E6A1}"/>
              </a:ext>
            </a:extLst>
          </p:cNvPr>
          <p:cNvSpPr/>
          <p:nvPr/>
        </p:nvSpPr>
        <p:spPr>
          <a:xfrm>
            <a:off x="1013638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29CB6E-3E17-E61B-DB6B-B755218C6399}"/>
              </a:ext>
            </a:extLst>
          </p:cNvPr>
          <p:cNvSpPr txBox="1"/>
          <p:nvPr/>
        </p:nvSpPr>
        <p:spPr>
          <a:xfrm>
            <a:off x="1013638" y="476693"/>
            <a:ext cx="1598933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 화면</a:t>
            </a:r>
            <a:endParaRPr lang="en-US" altLang="ko-KR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90F4C00-35A9-AB85-2E28-86AA01EF4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26" y="2622787"/>
            <a:ext cx="2841820" cy="207533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89AB39D-E766-2014-CDA9-5E408C3E5018}"/>
              </a:ext>
            </a:extLst>
          </p:cNvPr>
          <p:cNvSpPr/>
          <p:nvPr/>
        </p:nvSpPr>
        <p:spPr>
          <a:xfrm>
            <a:off x="1162525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595418D-71CD-6F1A-91B1-B8AB5BC76EFC}"/>
              </a:ext>
            </a:extLst>
          </p:cNvPr>
          <p:cNvSpPr/>
          <p:nvPr/>
        </p:nvSpPr>
        <p:spPr>
          <a:xfrm>
            <a:off x="1162525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EE7C17-28AF-8506-85E8-4B3B2C7B7C5F}"/>
              </a:ext>
            </a:extLst>
          </p:cNvPr>
          <p:cNvSpPr/>
          <p:nvPr/>
        </p:nvSpPr>
        <p:spPr>
          <a:xfrm>
            <a:off x="1162525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pic>
        <p:nvPicPr>
          <p:cNvPr id="12" name="그래픽 11" descr="남자 옆모습 단색으로 채워진">
            <a:extLst>
              <a:ext uri="{FF2B5EF4-FFF2-40B4-BE49-F238E27FC236}">
                <a16:creationId xmlns:a16="http://schemas.microsoft.com/office/drawing/2014/main" id="{5CDD872D-7272-1390-B250-E6DC77398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3638" y="4715950"/>
            <a:ext cx="914400" cy="9144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21BFECDD-3A47-7BEF-E612-6C9F2D45202A}"/>
              </a:ext>
            </a:extLst>
          </p:cNvPr>
          <p:cNvSpPr/>
          <p:nvPr/>
        </p:nvSpPr>
        <p:spPr>
          <a:xfrm>
            <a:off x="1847923" y="4781265"/>
            <a:ext cx="2156422" cy="7288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/>
              <a:t>장수 이름 </a:t>
            </a:r>
            <a:r>
              <a:rPr lang="en-US" altLang="ko-KR" sz="1400" dirty="0"/>
              <a:t>[</a:t>
            </a:r>
            <a:r>
              <a:rPr lang="ko-KR" altLang="en-US" sz="1400" dirty="0"/>
              <a:t>기물</a:t>
            </a:r>
            <a:r>
              <a:rPr lang="en-US" altLang="ko-KR" sz="1400" dirty="0"/>
              <a:t>]</a:t>
            </a:r>
          </a:p>
          <a:p>
            <a:r>
              <a:rPr lang="en-US" altLang="ko-KR" sz="1400" dirty="0"/>
              <a:t>HP, MP, </a:t>
            </a:r>
            <a:r>
              <a:rPr lang="ko-KR" altLang="en-US" sz="1400" dirty="0"/>
              <a:t>공격력</a:t>
            </a:r>
            <a:endParaRPr lang="en-US" altLang="ko-KR" sz="1400" dirty="0"/>
          </a:p>
          <a:p>
            <a:r>
              <a:rPr lang="ko-KR" altLang="en-US" sz="1400" dirty="0"/>
              <a:t>무력</a:t>
            </a:r>
            <a:r>
              <a:rPr lang="en-US" altLang="ko-KR" sz="1400" dirty="0"/>
              <a:t>, </a:t>
            </a:r>
            <a:r>
              <a:rPr lang="ko-KR" altLang="en-US" sz="1400" dirty="0"/>
              <a:t>지력</a:t>
            </a:r>
            <a:r>
              <a:rPr lang="en-US" altLang="ko-KR" sz="1400" dirty="0"/>
              <a:t>, </a:t>
            </a:r>
            <a:r>
              <a:rPr lang="ko-KR" altLang="en-US" sz="1400" dirty="0"/>
              <a:t>통솔력</a:t>
            </a:r>
            <a:endParaRPr lang="en-US" altLang="ko-KR" sz="1400" dirty="0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6383D252-B291-3127-8975-0A81F905F440}"/>
              </a:ext>
            </a:extLst>
          </p:cNvPr>
          <p:cNvSpPr/>
          <p:nvPr/>
        </p:nvSpPr>
        <p:spPr>
          <a:xfrm>
            <a:off x="2629702" y="3100474"/>
            <a:ext cx="779919" cy="1134305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4C4F6D1-EE8C-0149-6BAE-5F102E567A32}"/>
              </a:ext>
            </a:extLst>
          </p:cNvPr>
          <p:cNvSpPr/>
          <p:nvPr/>
        </p:nvSpPr>
        <p:spPr>
          <a:xfrm>
            <a:off x="2733209" y="3182645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이동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927DD-8127-6CFB-1100-6E5A7470291F}"/>
              </a:ext>
            </a:extLst>
          </p:cNvPr>
          <p:cNvSpPr/>
          <p:nvPr/>
        </p:nvSpPr>
        <p:spPr>
          <a:xfrm>
            <a:off x="2733209" y="34476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공격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E0E57C6-15D6-91A0-B573-2626940FC5B2}"/>
              </a:ext>
            </a:extLst>
          </p:cNvPr>
          <p:cNvSpPr/>
          <p:nvPr/>
        </p:nvSpPr>
        <p:spPr>
          <a:xfrm>
            <a:off x="2733209" y="3712661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책략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8D4CF73-B632-A676-3583-B34A96497CCD}"/>
              </a:ext>
            </a:extLst>
          </p:cNvPr>
          <p:cNvGrpSpPr/>
          <p:nvPr/>
        </p:nvGrpSpPr>
        <p:grpSpPr>
          <a:xfrm>
            <a:off x="2269522" y="4156663"/>
            <a:ext cx="545375" cy="550373"/>
            <a:chOff x="9785168" y="4921533"/>
            <a:chExt cx="1068977" cy="1078774"/>
          </a:xfrm>
        </p:grpSpPr>
        <p:pic>
          <p:nvPicPr>
            <p:cNvPr id="21" name="그래픽 20" descr="전당포 단색으로 채워진">
              <a:extLst>
                <a:ext uri="{FF2B5EF4-FFF2-40B4-BE49-F238E27FC236}">
                  <a16:creationId xmlns:a16="http://schemas.microsoft.com/office/drawing/2014/main" id="{3A7D3805-85F7-1545-C7A2-CBF095388B8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D3F2EA4D-7D0C-9F59-CD16-69551D43F8B3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2494AB3C-0EDE-353B-DE7A-67438DEE244C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0F6D59C-469E-F5E2-56C0-7564ECC36485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F7C9D1F3-3E00-BFB3-DF17-BB2869CC938F}"/>
              </a:ext>
            </a:extLst>
          </p:cNvPr>
          <p:cNvSpPr/>
          <p:nvPr/>
        </p:nvSpPr>
        <p:spPr>
          <a:xfrm>
            <a:off x="3270349" y="1031435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14</a:t>
            </a:r>
            <a:r>
              <a:rPr lang="ko-KR" altLang="en-US" sz="1400" dirty="0"/>
              <a:t>초</a:t>
            </a:r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BDC5C1E8-F784-1BFE-83AC-55F5EB388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9534" y="2601810"/>
            <a:ext cx="2841820" cy="2075335"/>
          </a:xfrm>
          <a:prstGeom prst="rect">
            <a:avLst/>
          </a:prstGeom>
        </p:spPr>
      </p:pic>
      <p:sp>
        <p:nvSpPr>
          <p:cNvPr id="39" name="직사각형 38">
            <a:extLst>
              <a:ext uri="{FF2B5EF4-FFF2-40B4-BE49-F238E27FC236}">
                <a16:creationId xmlns:a16="http://schemas.microsoft.com/office/drawing/2014/main" id="{9993E022-06F9-E93A-9232-7F2CC588D9FB}"/>
              </a:ext>
            </a:extLst>
          </p:cNvPr>
          <p:cNvSpPr/>
          <p:nvPr/>
        </p:nvSpPr>
        <p:spPr>
          <a:xfrm>
            <a:off x="4749533" y="101045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862D5C3F-E64F-C19D-E57B-258EFD77D07F}"/>
              </a:ext>
            </a:extLst>
          </p:cNvPr>
          <p:cNvSpPr/>
          <p:nvPr/>
        </p:nvSpPr>
        <p:spPr>
          <a:xfrm>
            <a:off x="4749533" y="1449321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DA694C69-9652-B1A8-23B8-A05B7D7284BB}"/>
              </a:ext>
            </a:extLst>
          </p:cNvPr>
          <p:cNvSpPr/>
          <p:nvPr/>
        </p:nvSpPr>
        <p:spPr>
          <a:xfrm>
            <a:off x="4749533" y="1850779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FE3F441-FCD8-24B3-99DC-FAFF3843D86D}"/>
              </a:ext>
            </a:extLst>
          </p:cNvPr>
          <p:cNvGrpSpPr/>
          <p:nvPr/>
        </p:nvGrpSpPr>
        <p:grpSpPr>
          <a:xfrm>
            <a:off x="5856530" y="4135686"/>
            <a:ext cx="545375" cy="550373"/>
            <a:chOff x="9785168" y="4921533"/>
            <a:chExt cx="1068977" cy="1078774"/>
          </a:xfrm>
        </p:grpSpPr>
        <p:pic>
          <p:nvPicPr>
            <p:cNvPr id="47" name="그래픽 46" descr="전당포 단색으로 채워진">
              <a:extLst>
                <a:ext uri="{FF2B5EF4-FFF2-40B4-BE49-F238E27FC236}">
                  <a16:creationId xmlns:a16="http://schemas.microsoft.com/office/drawing/2014/main" id="{D5427A91-1A9D-A3FC-B09C-3609127685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48" name="직사각형 47">
              <a:extLst>
                <a:ext uri="{FF2B5EF4-FFF2-40B4-BE49-F238E27FC236}">
                  <a16:creationId xmlns:a16="http://schemas.microsoft.com/office/drawing/2014/main" id="{05807120-3C6A-DBCE-8A51-6DF7BC6C3524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A2</a:t>
              </a:r>
              <a:endParaRPr lang="ko-KR" altLang="en-US" sz="800" b="1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680AEA17-0CBA-9C07-B2CF-695133C3E6AB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5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C5A0AB22-FA7D-A84A-FDEA-7C21A1FDF7C6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b="1" dirty="0"/>
                <a:t>SP</a:t>
              </a:r>
              <a:endParaRPr lang="ko-KR" altLang="en-US" sz="800" b="1" dirty="0"/>
            </a:p>
          </p:txBody>
        </p:sp>
      </p:grp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F9DCBAC6-DF02-901F-07B7-328680A48006}"/>
              </a:ext>
            </a:extLst>
          </p:cNvPr>
          <p:cNvSpPr/>
          <p:nvPr/>
        </p:nvSpPr>
        <p:spPr>
          <a:xfrm>
            <a:off x="6857357" y="1010458"/>
            <a:ext cx="733996" cy="72886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14</a:t>
            </a:r>
            <a:r>
              <a:rPr lang="ko-KR" altLang="en-US" sz="1400" dirty="0"/>
              <a:t>초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EF78DAEE-83D0-D015-5AD5-48B551AE4DD4}"/>
              </a:ext>
            </a:extLst>
          </p:cNvPr>
          <p:cNvSpPr/>
          <p:nvPr/>
        </p:nvSpPr>
        <p:spPr>
          <a:xfrm>
            <a:off x="4749534" y="5235761"/>
            <a:ext cx="2841820" cy="349253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턴 넘기기</a:t>
            </a:r>
            <a:endParaRPr lang="en-US" altLang="ko-KR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67FD451-F490-1EAD-D574-631204CDB9ED}"/>
              </a:ext>
            </a:extLst>
          </p:cNvPr>
          <p:cNvSpPr/>
          <p:nvPr/>
        </p:nvSpPr>
        <p:spPr>
          <a:xfrm>
            <a:off x="4749533" y="4777369"/>
            <a:ext cx="2841820" cy="3492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</a:t>
            </a:r>
            <a:r>
              <a:rPr lang="ko-KR" altLang="en-US" sz="1400" dirty="0"/>
              <a:t>님이 </a:t>
            </a:r>
            <a:r>
              <a:rPr lang="en-US" altLang="ko-KR" sz="1400" dirty="0"/>
              <a:t>“</a:t>
            </a:r>
            <a:r>
              <a:rPr lang="ko-KR" altLang="en-US" sz="1400" dirty="0"/>
              <a:t>유비</a:t>
            </a:r>
            <a:r>
              <a:rPr lang="en-US" altLang="ko-KR" sz="1400" dirty="0"/>
              <a:t>”</a:t>
            </a:r>
            <a:r>
              <a:rPr lang="ko-KR" altLang="en-US" sz="1400" dirty="0"/>
              <a:t>를 제어 중입니다</a:t>
            </a:r>
            <a:r>
              <a:rPr lang="en-US" altLang="ko-KR" sz="1400" dirty="0"/>
              <a:t>.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B347F06-3F74-78C1-52F0-9D095931E016}"/>
              </a:ext>
            </a:extLst>
          </p:cNvPr>
          <p:cNvSpPr/>
          <p:nvPr/>
        </p:nvSpPr>
        <p:spPr>
          <a:xfrm>
            <a:off x="8265783" y="930985"/>
            <a:ext cx="3141170" cy="495818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6A9A183-0D50-F4B4-6085-D2307E66D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671" y="2622787"/>
            <a:ext cx="2841820" cy="2075335"/>
          </a:xfrm>
          <a:prstGeom prst="rect">
            <a:avLst/>
          </a:prstGeom>
        </p:spPr>
      </p:pic>
      <p:sp>
        <p:nvSpPr>
          <p:cNvPr id="68" name="직사각형 67">
            <a:extLst>
              <a:ext uri="{FF2B5EF4-FFF2-40B4-BE49-F238E27FC236}">
                <a16:creationId xmlns:a16="http://schemas.microsoft.com/office/drawing/2014/main" id="{E40DBDA1-9F91-B098-9393-C2762FFBC789}"/>
              </a:ext>
            </a:extLst>
          </p:cNvPr>
          <p:cNvSpPr/>
          <p:nvPr/>
        </p:nvSpPr>
        <p:spPr>
          <a:xfrm>
            <a:off x="8414670" y="1031435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절대시간 흐름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C1C99B57-C2E7-3342-DD92-F1AAEAC0A467}"/>
              </a:ext>
            </a:extLst>
          </p:cNvPr>
          <p:cNvSpPr/>
          <p:nvPr/>
        </p:nvSpPr>
        <p:spPr>
          <a:xfrm>
            <a:off x="8414670" y="1470298"/>
            <a:ext cx="142091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SP </a:t>
            </a:r>
            <a:r>
              <a:rPr lang="ko-KR" altLang="en-US" sz="1400" dirty="0"/>
              <a:t>바 영역</a:t>
            </a:r>
          </a:p>
        </p:txBody>
      </p: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D8AAFA45-C308-836E-DDE1-646C4BA54B8E}"/>
              </a:ext>
            </a:extLst>
          </p:cNvPr>
          <p:cNvSpPr/>
          <p:nvPr/>
        </p:nvSpPr>
        <p:spPr>
          <a:xfrm>
            <a:off x="8414670" y="1871756"/>
            <a:ext cx="284182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발동 가능한 고유 기술 들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C03395BD-4ED3-3B63-A5DD-EE9BD8AFABBF}"/>
              </a:ext>
            </a:extLst>
          </p:cNvPr>
          <p:cNvSpPr/>
          <p:nvPr/>
        </p:nvSpPr>
        <p:spPr>
          <a:xfrm>
            <a:off x="6358675" y="3243603"/>
            <a:ext cx="975888" cy="958518"/>
          </a:xfrm>
          <a:prstGeom prst="roundRect">
            <a:avLst>
              <a:gd name="adj" fmla="val 271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유비 관련 정보</a:t>
            </a:r>
          </a:p>
        </p:txBody>
      </p: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8B356DA9-77F9-9B30-8718-77245DE038EB}"/>
              </a:ext>
            </a:extLst>
          </p:cNvPr>
          <p:cNvSpPr/>
          <p:nvPr/>
        </p:nvSpPr>
        <p:spPr>
          <a:xfrm>
            <a:off x="8414670" y="4733826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/>
              <a:t>유비</a:t>
            </a:r>
            <a:endParaRPr lang="en-US" altLang="ko-KR" sz="1400" dirty="0"/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40AFE6E-68BF-D80B-B883-CA2899D10090}"/>
              </a:ext>
            </a:extLst>
          </p:cNvPr>
          <p:cNvSpPr/>
          <p:nvPr/>
        </p:nvSpPr>
        <p:spPr>
          <a:xfrm>
            <a:off x="8414670" y="5131388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조조</a:t>
            </a:r>
            <a:endParaRPr lang="en-US" altLang="ko-KR" sz="1400" dirty="0"/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B894C8E-7922-B582-6CC3-47C78637AEED}"/>
              </a:ext>
            </a:extLst>
          </p:cNvPr>
          <p:cNvSpPr/>
          <p:nvPr/>
        </p:nvSpPr>
        <p:spPr>
          <a:xfrm>
            <a:off x="8414670" y="5527314"/>
            <a:ext cx="936159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관우</a:t>
            </a:r>
            <a:endParaRPr lang="en-US" altLang="ko-KR" sz="14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C4CC44DE-11A6-7143-9763-4E1D16579FE8}"/>
              </a:ext>
            </a:extLst>
          </p:cNvPr>
          <p:cNvSpPr/>
          <p:nvPr/>
        </p:nvSpPr>
        <p:spPr>
          <a:xfrm>
            <a:off x="9350829" y="4811485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51913865-7A44-B8F3-4E3B-3F4B6B04929C}"/>
              </a:ext>
            </a:extLst>
          </p:cNvPr>
          <p:cNvSpPr/>
          <p:nvPr/>
        </p:nvSpPr>
        <p:spPr>
          <a:xfrm>
            <a:off x="9350828" y="5213171"/>
            <a:ext cx="1230085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5B336BC5-0291-6048-B418-C9B771779452}"/>
              </a:ext>
            </a:extLst>
          </p:cNvPr>
          <p:cNvSpPr/>
          <p:nvPr/>
        </p:nvSpPr>
        <p:spPr>
          <a:xfrm>
            <a:off x="9350827" y="5605995"/>
            <a:ext cx="1426030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C1687BB-4D4F-F5BE-A55B-3E67ACF165CA}"/>
              </a:ext>
            </a:extLst>
          </p:cNvPr>
          <p:cNvSpPr txBox="1"/>
          <p:nvPr/>
        </p:nvSpPr>
        <p:spPr>
          <a:xfrm>
            <a:off x="1013339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내가 제어권을 가졌을 때</a:t>
            </a:r>
            <a:endParaRPr lang="ko-KR" altLang="en-US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1CDAD15-61B4-653C-4366-1A391F410023}"/>
              </a:ext>
            </a:extLst>
          </p:cNvPr>
          <p:cNvSpPr txBox="1"/>
          <p:nvPr/>
        </p:nvSpPr>
        <p:spPr>
          <a:xfrm>
            <a:off x="4600646" y="6055327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상대가 </a:t>
            </a:r>
            <a:r>
              <a:rPr lang="ko-KR" altLang="en-US" dirty="0"/>
              <a:t>제어권을 가졌을 때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C757B5A-8248-EF54-1F6C-203344600D44}"/>
              </a:ext>
            </a:extLst>
          </p:cNvPr>
          <p:cNvSpPr txBox="1"/>
          <p:nvPr/>
        </p:nvSpPr>
        <p:spPr>
          <a:xfrm>
            <a:off x="8264994" y="6045465"/>
            <a:ext cx="31411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누구의 턴도 아닐 때</a:t>
            </a:r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5FF5C08-AF01-0AD8-6F41-B071EE19520D}"/>
              </a:ext>
            </a:extLst>
          </p:cNvPr>
          <p:cNvSpPr txBox="1"/>
          <p:nvPr/>
        </p:nvSpPr>
        <p:spPr>
          <a:xfrm>
            <a:off x="10535697" y="4884087"/>
            <a:ext cx="85618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Waiting </a:t>
            </a:r>
          </a:p>
          <a:p>
            <a:pPr algn="ctr"/>
            <a:r>
              <a:rPr lang="en-US" altLang="ko-KR" sz="1400" dirty="0"/>
              <a:t>time</a:t>
            </a:r>
            <a:endParaRPr lang="ko-KR" altLang="en-US" sz="1400" dirty="0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0455376D-5471-D024-F061-4AD7B67A06FB}"/>
              </a:ext>
            </a:extLst>
          </p:cNvPr>
          <p:cNvSpPr/>
          <p:nvPr/>
        </p:nvSpPr>
        <p:spPr>
          <a:xfrm>
            <a:off x="9318169" y="2240324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0F1BCC1D-E44A-4118-9EE2-CBD58652909F}"/>
              </a:ext>
            </a:extLst>
          </p:cNvPr>
          <p:cNvSpPr/>
          <p:nvPr/>
        </p:nvSpPr>
        <p:spPr>
          <a:xfrm>
            <a:off x="8414670" y="2239701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8C501306-0DBB-1C8B-FBA3-B5AC4510E6FA}"/>
              </a:ext>
            </a:extLst>
          </p:cNvPr>
          <p:cNvSpPr/>
          <p:nvPr/>
        </p:nvSpPr>
        <p:spPr>
          <a:xfrm>
            <a:off x="10311036" y="2340469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C1B900D-89C2-EFD2-48DB-7FD8F1D012DA}"/>
              </a:ext>
            </a:extLst>
          </p:cNvPr>
          <p:cNvSpPr/>
          <p:nvPr/>
        </p:nvSpPr>
        <p:spPr>
          <a:xfrm>
            <a:off x="5648100" y="2229438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47E7620F-171B-A84D-5660-0655352B0A4D}"/>
              </a:ext>
            </a:extLst>
          </p:cNvPr>
          <p:cNvSpPr/>
          <p:nvPr/>
        </p:nvSpPr>
        <p:spPr>
          <a:xfrm>
            <a:off x="4744601" y="2228815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E02D3A97-7D97-AD37-457D-72264EE874E7}"/>
              </a:ext>
            </a:extLst>
          </p:cNvPr>
          <p:cNvSpPr/>
          <p:nvPr/>
        </p:nvSpPr>
        <p:spPr>
          <a:xfrm>
            <a:off x="6640967" y="2329583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E0968B4C-D005-1E1D-C929-17EBCAABC265}"/>
              </a:ext>
            </a:extLst>
          </p:cNvPr>
          <p:cNvSpPr/>
          <p:nvPr/>
        </p:nvSpPr>
        <p:spPr>
          <a:xfrm>
            <a:off x="2066024" y="2263422"/>
            <a:ext cx="993250" cy="31831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고유기술</a:t>
            </a: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6971E9B9-28A2-C58A-50E8-D699C6F60F59}"/>
              </a:ext>
            </a:extLst>
          </p:cNvPr>
          <p:cNvSpPr/>
          <p:nvPr/>
        </p:nvSpPr>
        <p:spPr>
          <a:xfrm>
            <a:off x="1162525" y="2262799"/>
            <a:ext cx="843980" cy="3033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장수 명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9AC12D44-9225-E70E-374C-FEE6CB83483B}"/>
              </a:ext>
            </a:extLst>
          </p:cNvPr>
          <p:cNvSpPr/>
          <p:nvPr/>
        </p:nvSpPr>
        <p:spPr>
          <a:xfrm>
            <a:off x="3058891" y="2363567"/>
            <a:ext cx="993248" cy="1609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5EC6FEB-FF52-EC65-49FF-E9B7CA7CF02B}"/>
              </a:ext>
            </a:extLst>
          </p:cNvPr>
          <p:cNvSpPr/>
          <p:nvPr/>
        </p:nvSpPr>
        <p:spPr>
          <a:xfrm>
            <a:off x="2733209" y="3972053"/>
            <a:ext cx="572907" cy="1988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명상</a:t>
            </a:r>
          </a:p>
        </p:txBody>
      </p:sp>
    </p:spTree>
    <p:extLst>
      <p:ext uri="{BB962C8B-B14F-4D97-AF65-F5344CB8AC3E}">
        <p14:creationId xmlns:p14="http://schemas.microsoft.com/office/powerpoint/2010/main" val="38933455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718A7-2E19-5B79-CC0F-0452AD8E0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65AD03A7-F70C-8B1A-6951-9D625E828200}"/>
              </a:ext>
            </a:extLst>
          </p:cNvPr>
          <p:cNvSpPr txBox="1"/>
          <p:nvPr/>
        </p:nvSpPr>
        <p:spPr>
          <a:xfrm>
            <a:off x="1013638" y="1042750"/>
            <a:ext cx="9632592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중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기물 아이콘 구성 왼쪽 </a:t>
            </a:r>
            <a:r>
              <a:rPr lang="en-US" altLang="ko-KR" dirty="0"/>
              <a:t>{</a:t>
            </a:r>
            <a:r>
              <a:rPr lang="ko-KR" altLang="en-US" dirty="0"/>
              <a:t>아래</a:t>
            </a:r>
            <a:r>
              <a:rPr lang="en-US" altLang="ko-KR" dirty="0"/>
              <a:t>: </a:t>
            </a:r>
            <a:r>
              <a:rPr lang="ko-KR" altLang="en-US" dirty="0"/>
              <a:t>급</a:t>
            </a:r>
            <a:r>
              <a:rPr lang="en-US" altLang="ko-KR" dirty="0"/>
              <a:t>+</a:t>
            </a:r>
            <a:r>
              <a:rPr lang="ko-KR" altLang="en-US" dirty="0"/>
              <a:t>레벨</a:t>
            </a:r>
            <a:r>
              <a:rPr lang="en-US" altLang="ko-KR" dirty="0"/>
              <a:t>}, {</a:t>
            </a:r>
            <a:r>
              <a:rPr lang="ko-KR" altLang="en-US" dirty="0"/>
              <a:t>위</a:t>
            </a:r>
            <a:r>
              <a:rPr lang="en-US" altLang="ko-KR" dirty="0"/>
              <a:t>: </a:t>
            </a:r>
            <a:r>
              <a:rPr lang="ko-KR" altLang="en-US" dirty="0"/>
              <a:t>고유기술 발동 상태 </a:t>
            </a:r>
            <a:r>
              <a:rPr lang="en-US" altLang="ko-KR" dirty="0"/>
              <a:t>– </a:t>
            </a:r>
            <a:r>
              <a:rPr lang="ko-KR" altLang="en-US" dirty="0"/>
              <a:t>본인 버프 기술</a:t>
            </a:r>
            <a:r>
              <a:rPr lang="en-US" altLang="ko-KR" dirty="0"/>
              <a:t>}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상태</a:t>
            </a:r>
            <a:r>
              <a:rPr lang="en-US" altLang="ko-KR" dirty="0"/>
              <a:t>. </a:t>
            </a:r>
            <a:r>
              <a:rPr lang="ko-KR" altLang="en-US" dirty="0"/>
              <a:t>오른쪽 위</a:t>
            </a:r>
            <a:r>
              <a:rPr lang="en-US" altLang="ko-KR" dirty="0"/>
              <a:t>: </a:t>
            </a:r>
            <a:r>
              <a:rPr lang="ko-KR" altLang="en-US" dirty="0"/>
              <a:t>버프 효과 </a:t>
            </a:r>
            <a:r>
              <a:rPr lang="en-US" altLang="ko-KR" dirty="0"/>
              <a:t>(Critical 100%, </a:t>
            </a:r>
            <a:r>
              <a:rPr lang="ko-KR" altLang="en-US" dirty="0"/>
              <a:t>데미지 반감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오른쪽 아래나 위는 버프</a:t>
            </a:r>
            <a:r>
              <a:rPr lang="en-US" altLang="ko-KR" dirty="0"/>
              <a:t>, </a:t>
            </a:r>
            <a:r>
              <a:rPr lang="ko-KR" altLang="en-US" dirty="0" err="1"/>
              <a:t>디버프</a:t>
            </a:r>
            <a:r>
              <a:rPr lang="ko-KR" altLang="en-US" dirty="0"/>
              <a:t> 카드가 중첩되어 보일 수 있음</a:t>
            </a:r>
            <a:r>
              <a:rPr lang="en-US" altLang="ko-KR" dirty="0"/>
              <a:t>.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55D58324-B1BC-C8F7-6AF0-29D901A4ED02}"/>
              </a:ext>
            </a:extLst>
          </p:cNvPr>
          <p:cNvGrpSpPr/>
          <p:nvPr/>
        </p:nvGrpSpPr>
        <p:grpSpPr>
          <a:xfrm>
            <a:off x="8663940" y="3525367"/>
            <a:ext cx="1215931" cy="1724914"/>
            <a:chOff x="9785168" y="4363566"/>
            <a:chExt cx="1215931" cy="172491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A0CA21E5-33EC-A8B8-3B31-F84166B922D1}"/>
                </a:ext>
              </a:extLst>
            </p:cNvPr>
            <p:cNvSpPr/>
            <p:nvPr/>
          </p:nvSpPr>
          <p:spPr>
            <a:xfrm>
              <a:off x="9785168" y="4921533"/>
              <a:ext cx="1068977" cy="1068977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4" name="그래픽 23" descr="전당포 단색으로 채워진">
              <a:extLst>
                <a:ext uri="{FF2B5EF4-FFF2-40B4-BE49-F238E27FC236}">
                  <a16:creationId xmlns:a16="http://schemas.microsoft.com/office/drawing/2014/main" id="{043048EB-5356-6E66-D3F3-2055534648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862457" y="4944393"/>
              <a:ext cx="914400" cy="914400"/>
            </a:xfrm>
            <a:prstGeom prst="rect">
              <a:avLst/>
            </a:prstGeom>
          </p:spPr>
        </p:pic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9260EEB6-2040-3429-0497-675D7D691503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155579BD-40DE-6FFC-0570-88638197AE3C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70618528-E21E-98F7-A954-47E70CF8A213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97DD5F1C-509D-7E4D-24BF-5FCDC9AF3F29}"/>
                </a:ext>
              </a:extLst>
            </p:cNvPr>
            <p:cNvSpPr/>
            <p:nvPr/>
          </p:nvSpPr>
          <p:spPr>
            <a:xfrm>
              <a:off x="9785168" y="5586648"/>
              <a:ext cx="435429" cy="41365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A2</a:t>
              </a:r>
              <a:endParaRPr lang="ko-KR" altLang="en-US" sz="1200" b="1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8E9F40FE-A761-7E95-35ED-44B28232758A}"/>
                </a:ext>
              </a:extLst>
            </p:cNvPr>
            <p:cNvSpPr/>
            <p:nvPr/>
          </p:nvSpPr>
          <p:spPr>
            <a:xfrm>
              <a:off x="9785168" y="4921533"/>
              <a:ext cx="435429" cy="413659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b="1" dirty="0"/>
                <a:t>SP</a:t>
              </a:r>
              <a:endParaRPr lang="ko-KR" altLang="en-US" sz="1200" b="1" dirty="0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57979B5A-BA1A-CCE8-494E-C684F46FF6A6}"/>
                </a:ext>
              </a:extLst>
            </p:cNvPr>
            <p:cNvGrpSpPr/>
            <p:nvPr/>
          </p:nvGrpSpPr>
          <p:grpSpPr>
            <a:xfrm>
              <a:off x="10418716" y="5576851"/>
              <a:ext cx="533399" cy="511629"/>
              <a:chOff x="10418716" y="5576851"/>
              <a:chExt cx="533399" cy="511629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3C874D6C-81BB-A3C7-817C-72FE983157F8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3" name="직사각형 2">
                <a:extLst>
                  <a:ext uri="{FF2B5EF4-FFF2-40B4-BE49-F238E27FC236}">
                    <a16:creationId xmlns:a16="http://schemas.microsoft.com/office/drawing/2014/main" id="{18BE7A45-A030-A0D1-C2FC-D70EE4F7D9A3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100" b="1" dirty="0"/>
                  <a:t>A</a:t>
                </a:r>
                <a:r>
                  <a:rPr lang="ko-KR" altLang="en-US" sz="1100" b="1" dirty="0"/>
                  <a:t>↓</a:t>
                </a:r>
              </a:p>
            </p:txBody>
          </p: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9113BBF6-7E4C-3B2C-7CAE-8C9C925B6FE7}"/>
                </a:ext>
              </a:extLst>
            </p:cNvPr>
            <p:cNvGrpSpPr/>
            <p:nvPr/>
          </p:nvGrpSpPr>
          <p:grpSpPr>
            <a:xfrm>
              <a:off x="10467700" y="4934595"/>
              <a:ext cx="533399" cy="511629"/>
              <a:chOff x="10418716" y="5576851"/>
              <a:chExt cx="533399" cy="511629"/>
            </a:xfrm>
          </p:grpSpPr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25E3855-630F-A45D-1F5D-06091B526C52}"/>
                  </a:ext>
                </a:extLst>
              </p:cNvPr>
              <p:cNvSpPr/>
              <p:nvPr/>
            </p:nvSpPr>
            <p:spPr>
              <a:xfrm>
                <a:off x="10516686" y="567482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B5154809-791F-D969-F55C-5C293F39BF42}"/>
                  </a:ext>
                </a:extLst>
              </p:cNvPr>
              <p:cNvSpPr/>
              <p:nvPr/>
            </p:nvSpPr>
            <p:spPr>
              <a:xfrm>
                <a:off x="10418716" y="5576851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Cr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330782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A13B3-146C-1E44-BAFC-40D63CE6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87139958-1573-BB9C-C52E-32CE688B64CA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전투 종료 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조조의 고유기술을 제외하고</a:t>
            </a:r>
            <a:r>
              <a:rPr lang="en-US" altLang="ko-KR" dirty="0"/>
              <a:t>(2</a:t>
            </a:r>
            <a:r>
              <a:rPr lang="ko-KR" altLang="en-US" dirty="0"/>
              <a:t>번 격파해야 함</a:t>
            </a:r>
            <a:r>
              <a:rPr lang="en-US" altLang="ko-KR" dirty="0"/>
              <a:t>), </a:t>
            </a:r>
            <a:r>
              <a:rPr lang="ko-KR" altLang="en-US" dirty="0"/>
              <a:t>상대의 군주 캐릭터를 퇴각시키면 승리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승리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군량 </a:t>
            </a:r>
            <a:r>
              <a:rPr lang="en-US" altLang="ko-KR" dirty="0"/>
              <a:t>+1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1</a:t>
            </a:r>
            <a:r>
              <a:rPr lang="ko-KR" altLang="en-US" dirty="0"/>
              <a:t>명이 포함되었을 때</a:t>
            </a:r>
            <a:r>
              <a:rPr lang="en-US" altLang="ko-KR" dirty="0"/>
              <a:t>: C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팀에 </a:t>
            </a:r>
            <a:r>
              <a:rPr lang="en-US" altLang="ko-KR" dirty="0"/>
              <a:t>D</a:t>
            </a:r>
            <a:r>
              <a:rPr lang="ko-KR" altLang="en-US" dirty="0"/>
              <a:t>급 장수 </a:t>
            </a:r>
            <a:r>
              <a:rPr lang="en-US" altLang="ko-KR" dirty="0"/>
              <a:t>2</a:t>
            </a:r>
            <a:r>
              <a:rPr lang="ko-KR" altLang="en-US" dirty="0"/>
              <a:t>명을 놓고 승리</a:t>
            </a:r>
            <a:r>
              <a:rPr lang="en-US" altLang="ko-KR" dirty="0"/>
              <a:t>: B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그 외</a:t>
            </a:r>
            <a:r>
              <a:rPr lang="en-US" altLang="ko-KR" dirty="0"/>
              <a:t>: B-D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패배 보상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장수 카드</a:t>
            </a:r>
            <a:r>
              <a:rPr lang="en-US" altLang="ko-KR" dirty="0"/>
              <a:t> C-D</a:t>
            </a:r>
            <a:r>
              <a:rPr lang="ko-KR" altLang="en-US" dirty="0"/>
              <a:t>급 장수 중 </a:t>
            </a:r>
            <a:r>
              <a:rPr lang="en-US" altLang="ko-KR" dirty="0"/>
              <a:t>1</a:t>
            </a:r>
            <a:r>
              <a:rPr lang="ko-KR" altLang="en-US" dirty="0"/>
              <a:t>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각 출전 캐릭터의 승패 기록</a:t>
            </a:r>
            <a:endParaRPr lang="en-US" altLang="ko-KR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EB7653F-6717-5715-F79A-73C2412C5BA7}"/>
              </a:ext>
            </a:extLst>
          </p:cNvPr>
          <p:cNvGrpSpPr/>
          <p:nvPr/>
        </p:nvGrpSpPr>
        <p:grpSpPr>
          <a:xfrm>
            <a:off x="9959340" y="3390532"/>
            <a:ext cx="1068977" cy="1636741"/>
            <a:chOff x="9785168" y="4363566"/>
            <a:chExt cx="1068977" cy="1636741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D815D97-077D-3E85-3587-95E7D8E54972}"/>
                </a:ext>
              </a:extLst>
            </p:cNvPr>
            <p:cNvSpPr/>
            <p:nvPr/>
          </p:nvSpPr>
          <p:spPr>
            <a:xfrm>
              <a:off x="9785168" y="4363566"/>
              <a:ext cx="1068977" cy="130628"/>
            </a:xfrm>
            <a:prstGeom prst="roundRect">
              <a:avLst/>
            </a:prstGeom>
            <a:solidFill>
              <a:schemeClr val="accent3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E46005C8-31FA-B49D-A093-F0AD6118D0FA}"/>
                </a:ext>
              </a:extLst>
            </p:cNvPr>
            <p:cNvSpPr/>
            <p:nvPr/>
          </p:nvSpPr>
          <p:spPr>
            <a:xfrm>
              <a:off x="9785168" y="4545201"/>
              <a:ext cx="1068977" cy="130628"/>
            </a:xfrm>
            <a:prstGeom prst="roundRect">
              <a:avLst/>
            </a:prstGeom>
            <a:solidFill>
              <a:schemeClr val="tx2">
                <a:lumMod val="90000"/>
                <a:lumOff val="1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D4E18A40-EA91-2EE4-758D-B2B5D61FB4DB}"/>
                </a:ext>
              </a:extLst>
            </p:cNvPr>
            <p:cNvSpPr/>
            <p:nvPr/>
          </p:nvSpPr>
          <p:spPr>
            <a:xfrm>
              <a:off x="9785168" y="4739898"/>
              <a:ext cx="1068977" cy="13062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rgbClr val="FF0000"/>
                </a:solidFill>
              </a:endParaRPr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B64961D6-4079-44B2-5996-8DF5141E8E27}"/>
                </a:ext>
              </a:extLst>
            </p:cNvPr>
            <p:cNvGrpSpPr/>
            <p:nvPr/>
          </p:nvGrpSpPr>
          <p:grpSpPr>
            <a:xfrm>
              <a:off x="9785168" y="4921533"/>
              <a:ext cx="1068977" cy="1078774"/>
              <a:chOff x="9785168" y="4921533"/>
              <a:chExt cx="1068977" cy="1078774"/>
            </a:xfrm>
          </p:grpSpPr>
          <p:pic>
            <p:nvPicPr>
              <p:cNvPr id="24" name="그래픽 23" descr="전당포 단색으로 채워진">
                <a:extLst>
                  <a:ext uri="{FF2B5EF4-FFF2-40B4-BE49-F238E27FC236}">
                    <a16:creationId xmlns:a16="http://schemas.microsoft.com/office/drawing/2014/main" id="{B367F214-3410-8326-EFC7-1332620DAA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862457" y="4944393"/>
                <a:ext cx="914400" cy="914400"/>
              </a:xfrm>
              <a:prstGeom prst="rect">
                <a:avLst/>
              </a:prstGeom>
            </p:spPr>
          </p:pic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D6811158-6CE5-5987-8C7E-99A358D32DA3}"/>
                  </a:ext>
                </a:extLst>
              </p:cNvPr>
              <p:cNvSpPr/>
              <p:nvPr/>
            </p:nvSpPr>
            <p:spPr>
              <a:xfrm>
                <a:off x="9785168" y="5586648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A2</a:t>
                </a:r>
                <a:endParaRPr lang="ko-KR" altLang="en-US" sz="1200" b="1" dirty="0"/>
              </a:p>
            </p:txBody>
          </p:sp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353C3367-7D5F-5632-0766-7A0ABC4A0BE3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1068977" cy="1068977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DDC9F088-11CD-03C8-5032-EBD8E6592519}"/>
                  </a:ext>
                </a:extLst>
              </p:cNvPr>
              <p:cNvSpPr/>
              <p:nvPr/>
            </p:nvSpPr>
            <p:spPr>
              <a:xfrm>
                <a:off x="9785168" y="4921533"/>
                <a:ext cx="435429" cy="413659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200" b="1" dirty="0"/>
                  <a:t>SP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68491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98506-6A58-E267-8381-326195816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D5DA52A4-149E-1F01-0749-86D78A9AB2F8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처음 게임을 실행했을 때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</a:t>
            </a:r>
            <a:r>
              <a:rPr lang="en-US" altLang="ko-KR" dirty="0"/>
              <a:t>/</a:t>
            </a:r>
            <a:r>
              <a:rPr lang="ko-KR" altLang="en-US" dirty="0"/>
              <a:t>소셜 로그인 유도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로그인 후</a:t>
            </a:r>
            <a:r>
              <a:rPr lang="en-US" altLang="ko-KR" dirty="0"/>
              <a:t>, </a:t>
            </a:r>
            <a:r>
              <a:rPr lang="ko-KR" altLang="en-US" dirty="0"/>
              <a:t>튜토리얼 전투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튜토리얼 전투 후 초기 캐릭터 지급으로</a:t>
            </a:r>
            <a:r>
              <a:rPr lang="en-US" altLang="ko-KR" dirty="0"/>
              <a:t>, S-D</a:t>
            </a:r>
            <a:r>
              <a:rPr lang="ko-KR" altLang="en-US" dirty="0"/>
              <a:t>급 각 </a:t>
            </a:r>
            <a:r>
              <a:rPr lang="en-US" altLang="ko-KR" dirty="0"/>
              <a:t>1</a:t>
            </a:r>
            <a:r>
              <a:rPr lang="ko-KR" altLang="en-US" dirty="0"/>
              <a:t>명</a:t>
            </a:r>
            <a:r>
              <a:rPr lang="en-US" altLang="ko-KR" dirty="0"/>
              <a:t>,</a:t>
            </a:r>
            <a:r>
              <a:rPr lang="ko-KR" altLang="en-US" dirty="0"/>
              <a:t> 총 </a:t>
            </a:r>
            <a:r>
              <a:rPr lang="en-US" altLang="ko-KR" dirty="0"/>
              <a:t>5</a:t>
            </a:r>
            <a:r>
              <a:rPr lang="ko-KR" altLang="en-US" dirty="0"/>
              <a:t>명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이름 정하기</a:t>
            </a:r>
            <a:r>
              <a:rPr lang="en-US" altLang="ko-KR" dirty="0"/>
              <a:t>, </a:t>
            </a:r>
            <a:r>
              <a:rPr lang="ko-KR" altLang="en-US" dirty="0"/>
              <a:t>도시 화면 및 메인 메뉴 설명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38816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0A226A-C4AC-B09F-41D4-39245CF3A459}"/>
              </a:ext>
            </a:extLst>
          </p:cNvPr>
          <p:cNvSpPr txBox="1"/>
          <p:nvPr/>
        </p:nvSpPr>
        <p:spPr>
          <a:xfrm>
            <a:off x="1013638" y="1059959"/>
            <a:ext cx="9480191" cy="2116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게임 컨셉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도시 화면</a:t>
            </a:r>
            <a:r>
              <a:rPr lang="en-US" altLang="ko-KR" dirty="0"/>
              <a:t>(</a:t>
            </a:r>
            <a:r>
              <a:rPr lang="ko-KR" altLang="en-US" dirty="0"/>
              <a:t>메인 메뉴들 화면</a:t>
            </a:r>
            <a:r>
              <a:rPr lang="en-US" altLang="ko-KR" dirty="0"/>
              <a:t>)</a:t>
            </a:r>
            <a:r>
              <a:rPr lang="ko-KR" altLang="en-US" dirty="0"/>
              <a:t> 및 전투 준비는 </a:t>
            </a:r>
            <a:r>
              <a:rPr lang="ko-KR" altLang="en-US" dirty="0" err="1"/>
              <a:t>다키스트</a:t>
            </a:r>
            <a:r>
              <a:rPr lang="ko-KR" altLang="en-US" dirty="0"/>
              <a:t> 던전 컨셉으로 </a:t>
            </a:r>
            <a:r>
              <a:rPr lang="en-US" altLang="ko-KR" dirty="0"/>
              <a:t>(</a:t>
            </a:r>
            <a:r>
              <a:rPr lang="ko-KR" altLang="en-US" dirty="0"/>
              <a:t>아이템 없음</a:t>
            </a:r>
            <a:r>
              <a:rPr lang="en-US" altLang="ko-KR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화면은 기물 이동은 체스와 닮았음</a:t>
            </a:r>
            <a:r>
              <a:rPr lang="en-US" altLang="ko-KR" dirty="0"/>
              <a:t>.</a:t>
            </a:r>
            <a:r>
              <a:rPr lang="ko-KR" altLang="en-US" dirty="0"/>
              <a:t> 삼국지 </a:t>
            </a:r>
            <a:r>
              <a:rPr lang="ko-KR" altLang="en-US" dirty="0" err="1"/>
              <a:t>영걸전</a:t>
            </a:r>
            <a:r>
              <a:rPr lang="ko-KR" altLang="en-US" dirty="0"/>
              <a:t> </a:t>
            </a:r>
            <a:r>
              <a:rPr lang="en-US" altLang="ko-KR" dirty="0"/>
              <a:t>+ </a:t>
            </a:r>
            <a:r>
              <a:rPr lang="ko-KR" altLang="en-US" dirty="0" err="1"/>
              <a:t>악튜러스</a:t>
            </a:r>
            <a:r>
              <a:rPr lang="ko-KR" altLang="en-US" dirty="0"/>
              <a:t> 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상점과 캐릭터 레벨업은 </a:t>
            </a:r>
            <a:r>
              <a:rPr lang="ko-KR" altLang="en-US" dirty="0" err="1"/>
              <a:t>리지니</a:t>
            </a:r>
            <a:r>
              <a:rPr lang="ko-KR" altLang="en-US" dirty="0"/>
              <a:t> </a:t>
            </a:r>
            <a:r>
              <a:rPr lang="en-US" altLang="ko-KR" dirty="0"/>
              <a:t>L2M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24143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597-4F24-D769-7629-79455389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44998D0-E779-5A41-69D9-8389B34A7B95}"/>
              </a:ext>
            </a:extLst>
          </p:cNvPr>
          <p:cNvSpPr txBox="1"/>
          <p:nvPr/>
        </p:nvSpPr>
        <p:spPr>
          <a:xfrm>
            <a:off x="1013638" y="1059959"/>
            <a:ext cx="9480191" cy="4609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, </a:t>
            </a:r>
            <a:r>
              <a:rPr lang="ko-KR" altLang="en-US" dirty="0"/>
              <a:t>지력</a:t>
            </a:r>
            <a:r>
              <a:rPr lang="en-US" altLang="ko-KR" dirty="0"/>
              <a:t>, </a:t>
            </a:r>
            <a:r>
              <a:rPr lang="ko-KR" altLang="en-US" dirty="0"/>
              <a:t>통솔력이 각각 </a:t>
            </a:r>
            <a:r>
              <a:rPr lang="en-US" altLang="ko-KR" dirty="0"/>
              <a:t>0-100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무력</a:t>
            </a:r>
            <a:r>
              <a:rPr lang="en-US" altLang="ko-KR" dirty="0"/>
              <a:t>: Critical Rate </a:t>
            </a:r>
            <a:r>
              <a:rPr lang="ko-KR" altLang="en-US" dirty="0"/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Critical </a:t>
            </a:r>
            <a:r>
              <a:rPr lang="ko-KR" altLang="en-US" dirty="0">
                <a:sym typeface="Wingdings" panose="05000000000000000000" pitchFamily="2" charset="2"/>
              </a:rPr>
              <a:t>발생 확률 </a:t>
            </a:r>
            <a:r>
              <a:rPr lang="en-US" altLang="ko-KR" dirty="0">
                <a:sym typeface="Wingdings" panose="05000000000000000000" pitchFamily="2" charset="2"/>
              </a:rPr>
              <a:t>= (30 + [</a:t>
            </a:r>
            <a:r>
              <a:rPr lang="ko-KR" altLang="en-US" dirty="0">
                <a:sym typeface="Wingdings" panose="05000000000000000000" pitchFamily="2" charset="2"/>
              </a:rPr>
              <a:t>내 무력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무력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지력</a:t>
            </a:r>
            <a:r>
              <a:rPr lang="en-US" altLang="ko-KR" dirty="0"/>
              <a:t>: </a:t>
            </a:r>
            <a:r>
              <a:rPr lang="ko-KR" altLang="en-US" dirty="0" err="1"/>
              <a:t>환술</a:t>
            </a:r>
            <a:r>
              <a:rPr lang="ko-KR" altLang="en-US" dirty="0"/>
              <a:t> 성공률에 영향 </a:t>
            </a:r>
            <a:r>
              <a:rPr lang="en-US" altLang="ko-KR" dirty="0">
                <a:sym typeface="Wingdings" panose="05000000000000000000" pitchFamily="2" charset="2"/>
              </a:rPr>
              <a:t> </a:t>
            </a:r>
            <a:r>
              <a:rPr lang="ko-KR" altLang="en-US" dirty="0" err="1">
                <a:sym typeface="Wingdings" panose="05000000000000000000" pitchFamily="2" charset="2"/>
              </a:rPr>
              <a:t>환술</a:t>
            </a:r>
            <a:r>
              <a:rPr lang="ko-KR" altLang="en-US" dirty="0">
                <a:sym typeface="Wingdings" panose="05000000000000000000" pitchFamily="2" charset="2"/>
              </a:rPr>
              <a:t> 성공률 </a:t>
            </a:r>
            <a:r>
              <a:rPr lang="en-US" altLang="ko-KR" dirty="0">
                <a:sym typeface="Wingdings" panose="05000000000000000000" pitchFamily="2" charset="2"/>
              </a:rPr>
              <a:t>= (20 + [</a:t>
            </a:r>
            <a:r>
              <a:rPr lang="ko-KR" altLang="en-US" dirty="0">
                <a:sym typeface="Wingdings" panose="05000000000000000000" pitchFamily="2" charset="2"/>
              </a:rPr>
              <a:t>나의 지력 </a:t>
            </a:r>
            <a:r>
              <a:rPr lang="en-US" altLang="ko-KR" dirty="0">
                <a:sym typeface="Wingdings" panose="05000000000000000000" pitchFamily="2" charset="2"/>
              </a:rPr>
              <a:t>– </a:t>
            </a:r>
            <a:r>
              <a:rPr lang="ko-KR" altLang="en-US" dirty="0">
                <a:sym typeface="Wingdings" panose="05000000000000000000" pitchFamily="2" charset="2"/>
              </a:rPr>
              <a:t>상대방 지력</a:t>
            </a:r>
            <a:r>
              <a:rPr lang="en-US" altLang="ko-KR" dirty="0">
                <a:sym typeface="Wingdings" panose="05000000000000000000" pitchFamily="2" charset="2"/>
              </a:rPr>
              <a:t>]) 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sym typeface="Wingdings" panose="05000000000000000000" pitchFamily="2" charset="2"/>
              </a:rPr>
              <a:t>통솔력</a:t>
            </a:r>
            <a:r>
              <a:rPr lang="en-US" altLang="ko-KR" dirty="0">
                <a:sym typeface="Wingdings" panose="05000000000000000000" pitchFamily="2" charset="2"/>
              </a:rPr>
              <a:t>: Waiting time </a:t>
            </a:r>
            <a:r>
              <a:rPr lang="ko-KR" altLang="en-US" dirty="0">
                <a:sym typeface="Wingdings" panose="05000000000000000000" pitchFamily="2" charset="2"/>
              </a:rPr>
              <a:t>에 영향 </a:t>
            </a:r>
            <a:r>
              <a:rPr lang="en-US" altLang="ko-KR" dirty="0">
                <a:sym typeface="Wingdings" panose="05000000000000000000" pitchFamily="2" charset="2"/>
              </a:rPr>
              <a:t> Waiting time = 190 - </a:t>
            </a:r>
            <a:r>
              <a:rPr lang="ko-KR" altLang="en-US" dirty="0">
                <a:sym typeface="Wingdings" panose="05000000000000000000" pitchFamily="2" charset="2"/>
              </a:rPr>
              <a:t>통솔력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랭킹과 이웃 도시 보기는 </a:t>
            </a:r>
            <a:r>
              <a:rPr lang="en-US" altLang="ko-KR" dirty="0"/>
              <a:t>Clash of Clan </a:t>
            </a:r>
            <a:r>
              <a:rPr lang="ko-KR" altLang="en-US" dirty="0"/>
              <a:t>컨셉으로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S-D</a:t>
            </a:r>
            <a:r>
              <a:rPr lang="ko-KR" altLang="en-US" dirty="0"/>
              <a:t> 사이 등급표기</a:t>
            </a:r>
            <a:r>
              <a:rPr lang="en-US" altLang="ko-KR" dirty="0"/>
              <a:t>, </a:t>
            </a:r>
            <a:r>
              <a:rPr lang="ko-KR" altLang="en-US" dirty="0"/>
              <a:t>사진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레벨 및 능력치 구성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1-9 </a:t>
            </a:r>
            <a:r>
              <a:rPr lang="ko-KR" altLang="en-US" dirty="0"/>
              <a:t>사이 </a:t>
            </a:r>
            <a:r>
              <a:rPr lang="en-US" altLang="ko-KR" dirty="0"/>
              <a:t>Level </a:t>
            </a:r>
            <a:r>
              <a:rPr lang="ko-KR" altLang="en-US" dirty="0"/>
              <a:t>표시 및 </a:t>
            </a:r>
            <a:r>
              <a:rPr lang="en-US" altLang="ko-KR" dirty="0"/>
              <a:t>HP, MP, </a:t>
            </a:r>
            <a:r>
              <a:rPr lang="ko-KR" altLang="en-US" dirty="0"/>
              <a:t>데미지 표시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Level 1 HP 10, MP 5, AT(</a:t>
            </a:r>
            <a:r>
              <a:rPr lang="ko-KR" altLang="en-US" dirty="0"/>
              <a:t>데미지</a:t>
            </a:r>
            <a:r>
              <a:rPr lang="en-US" altLang="ko-KR" dirty="0"/>
              <a:t>) 2, </a:t>
            </a:r>
            <a:r>
              <a:rPr lang="ko-KR" altLang="en-US" dirty="0"/>
              <a:t>이후 </a:t>
            </a: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[HP+5, MP+2, AT+1]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9318029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346-E2AB-97EE-5A58-9C8FE67EF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5062B-B88B-BF68-88D1-7A210479F890}"/>
              </a:ext>
            </a:extLst>
          </p:cNvPr>
          <p:cNvSpPr txBox="1"/>
          <p:nvPr/>
        </p:nvSpPr>
        <p:spPr>
          <a:xfrm>
            <a:off x="1013639" y="1059959"/>
            <a:ext cx="392611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캐릭터 구성 </a:t>
            </a:r>
            <a:r>
              <a:rPr lang="en-US" altLang="ko-KR" b="1" dirty="0"/>
              <a:t>- </a:t>
            </a:r>
            <a:r>
              <a:rPr lang="ko-KR" altLang="en-US" b="1" dirty="0"/>
              <a:t>책략</a:t>
            </a:r>
            <a:endParaRPr lang="en-US" altLang="ko-KR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Lv+1</a:t>
            </a:r>
            <a:r>
              <a:rPr lang="ko-KR" altLang="en-US" dirty="0"/>
              <a:t> 마다 </a:t>
            </a:r>
            <a:r>
              <a:rPr lang="en-US" altLang="ko-KR" dirty="0"/>
              <a:t>[</a:t>
            </a:r>
            <a:r>
              <a:rPr lang="ko-KR" altLang="en-US" dirty="0"/>
              <a:t>지원</a:t>
            </a:r>
            <a:r>
              <a:rPr lang="en-US" altLang="ko-KR" dirty="0"/>
              <a:t>, </a:t>
            </a:r>
            <a:r>
              <a:rPr lang="ko-KR" altLang="en-US" dirty="0" err="1"/>
              <a:t>환술</a:t>
            </a:r>
            <a:r>
              <a:rPr lang="en-US" altLang="ko-KR" dirty="0"/>
              <a:t>] </a:t>
            </a:r>
            <a:r>
              <a:rPr lang="ko-KR" altLang="en-US" dirty="0"/>
              <a:t>중 </a:t>
            </a:r>
            <a:r>
              <a:rPr lang="ko-KR" altLang="en-US" dirty="0" err="1"/>
              <a:t>택</a:t>
            </a:r>
            <a:r>
              <a:rPr lang="en-US" altLang="ko-KR" dirty="0"/>
              <a:t>1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D97D82D-7E87-9D4A-2C7C-2E61EFC4D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9532318"/>
              </p:ext>
            </p:extLst>
          </p:nvPr>
        </p:nvGraphicFramePr>
        <p:xfrm>
          <a:off x="481599" y="2258667"/>
          <a:ext cx="4607237" cy="3078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3694">
                  <a:extLst>
                    <a:ext uri="{9D8B030D-6E8A-4147-A177-3AD203B41FA5}">
                      <a16:colId xmlns:a16="http://schemas.microsoft.com/office/drawing/2014/main" val="3401974701"/>
                    </a:ext>
                  </a:extLst>
                </a:gridCol>
                <a:gridCol w="1014769">
                  <a:extLst>
                    <a:ext uri="{9D8B030D-6E8A-4147-A177-3AD203B41FA5}">
                      <a16:colId xmlns:a16="http://schemas.microsoft.com/office/drawing/2014/main" val="60601315"/>
                    </a:ext>
                  </a:extLst>
                </a:gridCol>
                <a:gridCol w="935952">
                  <a:extLst>
                    <a:ext uri="{9D8B030D-6E8A-4147-A177-3AD203B41FA5}">
                      <a16:colId xmlns:a16="http://schemas.microsoft.com/office/drawing/2014/main" val="2181526193"/>
                    </a:ext>
                  </a:extLst>
                </a:gridCol>
                <a:gridCol w="1167926">
                  <a:extLst>
                    <a:ext uri="{9D8B030D-6E8A-4147-A177-3AD203B41FA5}">
                      <a16:colId xmlns:a16="http://schemas.microsoft.com/office/drawing/2014/main" val="3590000714"/>
                    </a:ext>
                  </a:extLst>
                </a:gridCol>
                <a:gridCol w="864896">
                  <a:extLst>
                    <a:ext uri="{9D8B030D-6E8A-4147-A177-3AD203B41FA5}">
                      <a16:colId xmlns:a16="http://schemas.microsoft.com/office/drawing/2014/main" val="2474299570"/>
                    </a:ext>
                  </a:extLst>
                </a:gridCol>
              </a:tblGrid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Level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지원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소모 MP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 err="1">
                          <a:effectLst/>
                        </a:rPr>
                        <a:t>환술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소모 MP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85401613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증폭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공포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43037968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반감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침묵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55313874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4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함정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53178139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5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결계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탈진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2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41497696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6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화계/진화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2,1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유인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2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58160130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7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수계/매립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3,1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경직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615800957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8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선공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3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질병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512115761"/>
                  </a:ext>
                </a:extLst>
              </a:tr>
              <a:tr h="3420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9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>
                          <a:effectLst/>
                        </a:rPr>
                        <a:t>대회복</a:t>
                      </a:r>
                      <a:endParaRPr lang="ko-KR" sz="16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초선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600" u="none" strike="noStrike" dirty="0">
                          <a:effectLst/>
                        </a:rPr>
                        <a:t>3</a:t>
                      </a:r>
                      <a:endParaRPr 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4266244710"/>
                  </a:ext>
                </a:extLst>
              </a:tr>
            </a:tbl>
          </a:graphicData>
        </a:graphic>
      </p:graphicFrame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C60B0EC-54A5-DDBE-B148-0AA630A8AD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8460074"/>
              </p:ext>
            </p:extLst>
          </p:nvPr>
        </p:nvGraphicFramePr>
        <p:xfrm>
          <a:off x="5426765" y="817012"/>
          <a:ext cx="6460436" cy="2611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03852">
                  <a:extLst>
                    <a:ext uri="{9D8B030D-6E8A-4147-A177-3AD203B41FA5}">
                      <a16:colId xmlns:a16="http://schemas.microsoft.com/office/drawing/2014/main" val="2134280919"/>
                    </a:ext>
                  </a:extLst>
                </a:gridCol>
                <a:gridCol w="5456584">
                  <a:extLst>
                    <a:ext uri="{9D8B030D-6E8A-4147-A177-3AD203B41FA5}">
                      <a16:colId xmlns:a16="http://schemas.microsoft.com/office/drawing/2014/main" val="1840735480"/>
                    </a:ext>
                  </a:extLst>
                </a:gridCol>
              </a:tblGrid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증폭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1회 공격을 Critical 100% 로 만들어줌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41980026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반감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1명이 1번, 받는 데미지가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3582630634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8방향 내 아군 1명의 HP 회복 (최대 체력의 20%)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485970200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결계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아군 1명이 환술에 걸리지 않음. 모든 환술 무효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706849241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화계/진화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</a:t>
                      </a:r>
                      <a:r>
                        <a:rPr lang="ko-KR" sz="1400" u="none" strike="noStrike" dirty="0" err="1">
                          <a:effectLst/>
                        </a:rPr>
                        <a:t>time</a:t>
                      </a:r>
                      <a:r>
                        <a:rPr lang="ko-KR" sz="1400" u="none" strike="noStrike" dirty="0">
                          <a:effectLst/>
                        </a:rPr>
                        <a:t> 100 마다 HP 1씩 감소하는 지형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2084722799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수계/매립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맵 중 가로 1 </a:t>
                      </a:r>
                      <a:r>
                        <a:rPr lang="ko-KR" sz="1400" u="none" strike="noStrike" dirty="0" err="1">
                          <a:effectLst/>
                        </a:rPr>
                        <a:t>x</a:t>
                      </a:r>
                      <a:r>
                        <a:rPr lang="ko-KR" sz="1400" u="none" strike="noStrike" dirty="0">
                          <a:effectLst/>
                        </a:rPr>
                        <a:t> 세로 1 영역에 유닛을 위치시킬 수 없는 지형</a:t>
                      </a:r>
                      <a:r>
                        <a:rPr lang="en-US" altLang="ko-KR" sz="1400" u="none" strike="noStrike" dirty="0">
                          <a:effectLst/>
                        </a:rPr>
                        <a:t> </a:t>
                      </a:r>
                      <a:r>
                        <a:rPr lang="ko-KR" altLang="en-US" sz="1400" u="none" strike="noStrike" dirty="0">
                          <a:effectLst/>
                        </a:rPr>
                        <a:t>생성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107117185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선공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아군 1명의 waiting time -100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511567222"/>
                  </a:ext>
                </a:extLst>
              </a:tr>
              <a:tr h="32649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대회복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8방향 내 아군들의 HP 회복 (최대 체력의 20%)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806" marR="3806" marT="3806" marB="0" anchor="ctr"/>
                </a:tc>
                <a:extLst>
                  <a:ext uri="{0D108BD9-81ED-4DB2-BD59-A6C34878D82A}">
                    <a16:rowId xmlns:a16="http://schemas.microsoft.com/office/drawing/2014/main" val="178894873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141A40C-1AE8-0196-8993-F539E4DDC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4650809"/>
              </p:ext>
            </p:extLst>
          </p:nvPr>
        </p:nvGraphicFramePr>
        <p:xfrm>
          <a:off x="5426765" y="3955777"/>
          <a:ext cx="6460436" cy="25145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3792">
                  <a:extLst>
                    <a:ext uri="{9D8B030D-6E8A-4147-A177-3AD203B41FA5}">
                      <a16:colId xmlns:a16="http://schemas.microsoft.com/office/drawing/2014/main" val="350211733"/>
                    </a:ext>
                  </a:extLst>
                </a:gridCol>
                <a:gridCol w="5446644">
                  <a:extLst>
                    <a:ext uri="{9D8B030D-6E8A-4147-A177-3AD203B41FA5}">
                      <a16:colId xmlns:a16="http://schemas.microsoft.com/office/drawing/2014/main" val="3077610901"/>
                    </a:ext>
                  </a:extLst>
                </a:gridCol>
              </a:tblGrid>
              <a:tr h="299688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공포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1명의 공격력이 절반이 됨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74864623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침묵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동안 적군 1명이 버프/환술을 사용할 수 없음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7009649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함정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+50, HP 1 감소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394221940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탈진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200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5726537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유인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이동만 가능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1056562661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경직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적군 1명의 waiting time +100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223919014"/>
                  </a:ext>
                </a:extLst>
              </a:tr>
              <a:tr h="359176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질병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time 100 마다 체력이 1씩 감소 (결계로 해제 가능)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47947759"/>
                  </a:ext>
                </a:extLst>
              </a:tr>
              <a:tr h="28434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>
                          <a:effectLst/>
                        </a:rPr>
                        <a:t>초선</a:t>
                      </a:r>
                      <a:endParaRPr 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400" u="none" strike="noStrike" dirty="0">
                          <a:effectLst/>
                        </a:rPr>
                        <a:t>적군 1명을 컨트롤: </a:t>
                      </a:r>
                      <a:r>
                        <a:rPr lang="ko-KR" sz="1400" u="none" strike="noStrike" dirty="0" err="1">
                          <a:effectLst/>
                        </a:rPr>
                        <a:t>이동+공격</a:t>
                      </a:r>
                      <a:endParaRPr 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4194" marR="4194" marT="4194" marB="0" anchor="ctr"/>
                </a:tc>
                <a:extLst>
                  <a:ext uri="{0D108BD9-81ED-4DB2-BD59-A6C34878D82A}">
                    <a16:rowId xmlns:a16="http://schemas.microsoft.com/office/drawing/2014/main" val="264566731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52F988D-6325-C984-CD4B-127819752A2B}"/>
              </a:ext>
            </a:extLst>
          </p:cNvPr>
          <p:cNvSpPr txBox="1"/>
          <p:nvPr/>
        </p:nvSpPr>
        <p:spPr>
          <a:xfrm>
            <a:off x="5426765" y="387627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지원</a:t>
            </a:r>
            <a:r>
              <a:rPr lang="ko-KR" altLang="en-US" sz="1800"/>
              <a:t> 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57C6E-B2DE-201C-70B7-C651479DF3BD}"/>
              </a:ext>
            </a:extLst>
          </p:cNvPr>
          <p:cNvSpPr txBox="1"/>
          <p:nvPr/>
        </p:nvSpPr>
        <p:spPr>
          <a:xfrm>
            <a:off x="5426765" y="3553272"/>
            <a:ext cx="22561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 err="1"/>
              <a:t>환술</a:t>
            </a:r>
            <a:r>
              <a:rPr lang="ko-KR" altLang="en-US" sz="1800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834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6BD75D-28A5-DF7A-8F4E-55BA08C19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DA17F4-796B-037C-830B-2BE40DD25D38}"/>
              </a:ext>
            </a:extLst>
          </p:cNvPr>
          <p:cNvSpPr txBox="1"/>
          <p:nvPr/>
        </p:nvSpPr>
        <p:spPr>
          <a:xfrm>
            <a:off x="1013638" y="1059959"/>
            <a:ext cx="9480191" cy="25317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고유 스킬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S-B</a:t>
            </a:r>
            <a:r>
              <a:rPr lang="ko-KR" altLang="en-US" dirty="0"/>
              <a:t> 등급 캐릭터는 고유 스킬을 가지고 있음</a:t>
            </a:r>
            <a:r>
              <a:rPr lang="en-US" altLang="ko-KR" dirty="0"/>
              <a:t>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SP </a:t>
            </a:r>
            <a:r>
              <a:rPr lang="ko-KR" altLang="en-US" dirty="0"/>
              <a:t>소모 </a:t>
            </a:r>
            <a:r>
              <a:rPr lang="en-US" altLang="ko-KR" dirty="0"/>
              <a:t>: B</a:t>
            </a:r>
            <a:r>
              <a:rPr lang="ko-KR" altLang="en-US" dirty="0"/>
              <a:t>등급은 </a:t>
            </a:r>
            <a:r>
              <a:rPr lang="en-US" altLang="ko-KR" dirty="0"/>
              <a:t>4, A</a:t>
            </a:r>
            <a:r>
              <a:rPr lang="ko-KR" altLang="en-US" dirty="0"/>
              <a:t>등급은 </a:t>
            </a:r>
            <a:r>
              <a:rPr lang="en-US" altLang="ko-KR" dirty="0"/>
              <a:t>5, S</a:t>
            </a:r>
            <a:r>
              <a:rPr lang="ko-KR" altLang="en-US" dirty="0"/>
              <a:t>등급은 </a:t>
            </a:r>
            <a:r>
              <a:rPr lang="en-US" altLang="ko-KR" dirty="0"/>
              <a:t>6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스킬 목록은 엑셀파일 참조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전투 동안 각 캐릭터는 고유 스킬을 </a:t>
            </a:r>
            <a:r>
              <a:rPr lang="en-US" altLang="ko-KR" dirty="0"/>
              <a:t>1</a:t>
            </a:r>
            <a:r>
              <a:rPr lang="ko-KR" altLang="en-US" dirty="0"/>
              <a:t>번 사용 가능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/>
              <a:t>단</a:t>
            </a:r>
            <a:r>
              <a:rPr lang="en-US" altLang="ko-KR" dirty="0"/>
              <a:t>, </a:t>
            </a:r>
            <a:r>
              <a:rPr lang="ko-KR" altLang="en-US" dirty="0"/>
              <a:t>제갈량이 고유기술 시전 후</a:t>
            </a:r>
            <a:r>
              <a:rPr lang="en-US" altLang="ko-KR" dirty="0"/>
              <a:t>, </a:t>
            </a:r>
            <a:r>
              <a:rPr lang="ko-KR" altLang="en-US" dirty="0"/>
              <a:t>이미 사용했던 동료들의 고유 스킬 재사용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5220975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EA9B8-E696-A43B-A5EC-D137F681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ECFFFB-484D-BABE-8516-C4E0327C0C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260804-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196483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EA57-C825-E996-D47D-2E7702449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DF3F9C-913D-2B3E-6B46-D2A7BB5929CC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29AEBD-B085-1318-D80E-88229F9FA6A8}"/>
              </a:ext>
            </a:extLst>
          </p:cNvPr>
          <p:cNvSpPr txBox="1"/>
          <p:nvPr/>
        </p:nvSpPr>
        <p:spPr>
          <a:xfrm>
            <a:off x="404039" y="341501"/>
            <a:ext cx="3242676" cy="5440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게임 시작 직후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상대방 차례</a:t>
            </a:r>
            <a:r>
              <a:rPr lang="en-US" altLang="ko-KR" dirty="0"/>
              <a:t>: </a:t>
            </a:r>
            <a:r>
              <a:rPr lang="ko-KR" altLang="en-US" dirty="0"/>
              <a:t>기다림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시간이 흐름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</a:t>
            </a:r>
            <a:r>
              <a:rPr lang="ko-KR" altLang="en-US" dirty="0"/>
              <a:t>내 차례</a:t>
            </a:r>
            <a:r>
              <a:rPr lang="en-US" altLang="ko-KR" dirty="0"/>
              <a:t>: </a:t>
            </a:r>
            <a:r>
              <a:rPr lang="ko-KR" altLang="en-US" dirty="0"/>
              <a:t>포커스 됨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고유 스킬 발동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고유 스킬 발동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7 </a:t>
            </a:r>
            <a:r>
              <a:rPr lang="ko-KR" altLang="en-US" dirty="0"/>
              <a:t>명령 이동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8 </a:t>
            </a:r>
            <a:r>
              <a:rPr lang="ko-KR" altLang="en-US" dirty="0"/>
              <a:t>명령 공격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9 </a:t>
            </a:r>
            <a:r>
              <a:rPr lang="ko-KR" altLang="en-US" dirty="0"/>
              <a:t>명령 책략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10 </a:t>
            </a:r>
            <a:r>
              <a:rPr lang="ko-KR" altLang="en-US" dirty="0"/>
              <a:t>명령 명상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/>
              <a:t>아군</a:t>
            </a:r>
            <a:r>
              <a:rPr lang="en-US" altLang="ko-KR" dirty="0"/>
              <a:t>/</a:t>
            </a:r>
            <a:r>
              <a:rPr lang="ko-KR" altLang="en-US" dirty="0"/>
              <a:t>적군 기물 체크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11 </a:t>
            </a:r>
            <a:r>
              <a:rPr lang="ko-KR" altLang="en-US" dirty="0" err="1"/>
              <a:t>턴종료</a:t>
            </a:r>
            <a:endParaRPr lang="en-US" altLang="ko-KR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B7C0807-4BDE-02CE-0CFE-CC283C6D7D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885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F51AE6-FEB0-8CBC-E06B-1DCB631E89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767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81E9B37-20D4-99A4-C682-A7AECCFBAF57}"/>
              </a:ext>
            </a:extLst>
          </p:cNvPr>
          <p:cNvSpPr/>
          <p:nvPr/>
        </p:nvSpPr>
        <p:spPr>
          <a:xfrm>
            <a:off x="5848712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470B712-61BE-AD74-CBCB-049B27171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4869453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ECCDD55-1874-A3D3-FDD0-813385BFF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92542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2F0DB4D3-546D-61CE-AF7D-AEB9D5FBAD06}"/>
              </a:ext>
            </a:extLst>
          </p:cNvPr>
          <p:cNvGrpSpPr/>
          <p:nvPr/>
        </p:nvGrpSpPr>
        <p:grpSpPr>
          <a:xfrm>
            <a:off x="3963367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A855229E-2278-11D7-4395-D9567722FBAF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579F9B26-2A87-383E-3E9F-77AE48B6628A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0E670163-9949-C8D1-D1A8-156D0241FDA2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F0404DDA-DD36-4395-49DA-A633A8A71287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256B7B8-B701-1FAE-1789-3411F25F4904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FF0E8D5C-5C85-F0A3-D2C8-B2084E0A2000}"/>
              </a:ext>
            </a:extLst>
          </p:cNvPr>
          <p:cNvSpPr/>
          <p:nvPr/>
        </p:nvSpPr>
        <p:spPr>
          <a:xfrm>
            <a:off x="4057858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1A3D8482-0F4F-BA0D-ED45-AE3DBB29C139}"/>
              </a:ext>
            </a:extLst>
          </p:cNvPr>
          <p:cNvSpPr/>
          <p:nvPr/>
        </p:nvSpPr>
        <p:spPr>
          <a:xfrm>
            <a:off x="4057858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3BB0E155-39CA-A38D-93C7-34F61277FB84}"/>
              </a:ext>
            </a:extLst>
          </p:cNvPr>
          <p:cNvSpPr/>
          <p:nvPr/>
        </p:nvSpPr>
        <p:spPr>
          <a:xfrm>
            <a:off x="4138064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33" name="말풍선: 사각형 32">
            <a:extLst>
              <a:ext uri="{FF2B5EF4-FFF2-40B4-BE49-F238E27FC236}">
                <a16:creationId xmlns:a16="http://schemas.microsoft.com/office/drawing/2014/main" id="{D9D44B71-113D-ADBA-5959-0676F4358358}"/>
              </a:ext>
            </a:extLst>
          </p:cNvPr>
          <p:cNvSpPr/>
          <p:nvPr/>
        </p:nvSpPr>
        <p:spPr>
          <a:xfrm>
            <a:off x="7556178" y="156766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공격했다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5" name="말풍선: 사각형 34">
            <a:extLst>
              <a:ext uri="{FF2B5EF4-FFF2-40B4-BE49-F238E27FC236}">
                <a16:creationId xmlns:a16="http://schemas.microsoft.com/office/drawing/2014/main" id="{DF142A1A-E508-CF53-4B54-61886830BBB4}"/>
              </a:ext>
            </a:extLst>
          </p:cNvPr>
          <p:cNvSpPr/>
          <p:nvPr/>
        </p:nvSpPr>
        <p:spPr>
          <a:xfrm>
            <a:off x="7556178" y="195303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 했다</a:t>
            </a:r>
            <a:r>
              <a:rPr lang="en-US" altLang="ko-KR" sz="1200" dirty="0"/>
              <a:t>. (A3</a:t>
            </a:r>
            <a:r>
              <a:rPr lang="en-US" altLang="ko-KR" sz="1200" dirty="0">
                <a:sym typeface="Wingdings" panose="05000000000000000000" pitchFamily="2" charset="2"/>
              </a:rPr>
              <a:t> E3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F6FE2C3-938A-9365-B031-B980AAD844EB}"/>
              </a:ext>
            </a:extLst>
          </p:cNvPr>
          <p:cNvSpPr txBox="1"/>
          <p:nvPr/>
        </p:nvSpPr>
        <p:spPr>
          <a:xfrm>
            <a:off x="7371120" y="998413"/>
            <a:ext cx="29811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시스템 </a:t>
            </a:r>
            <a:r>
              <a:rPr lang="ko-KR" altLang="en-US" sz="1800" dirty="0" err="1"/>
              <a:t>대화창</a:t>
            </a:r>
            <a:r>
              <a:rPr lang="ko-KR" altLang="en-US" sz="1800" dirty="0"/>
              <a:t> 대화 예시</a:t>
            </a:r>
            <a:endParaRPr lang="ko-KR" altLang="en-US" dirty="0"/>
          </a:p>
        </p:txBody>
      </p:sp>
      <p:sp>
        <p:nvSpPr>
          <p:cNvPr id="39" name="말풍선: 사각형 38">
            <a:extLst>
              <a:ext uri="{FF2B5EF4-FFF2-40B4-BE49-F238E27FC236}">
                <a16:creationId xmlns:a16="http://schemas.microsoft.com/office/drawing/2014/main" id="{9FA4EE28-466A-5F1F-3F2F-4A3EE6E395EB}"/>
              </a:ext>
            </a:extLst>
          </p:cNvPr>
          <p:cNvSpPr/>
          <p:nvPr/>
        </p:nvSpPr>
        <p:spPr>
          <a:xfrm>
            <a:off x="7556178" y="2338405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명상 했다</a:t>
            </a:r>
            <a:r>
              <a:rPr lang="en-US" altLang="ko-KR" sz="1200" dirty="0"/>
              <a:t>. (MP+2)</a:t>
            </a:r>
            <a:endParaRPr lang="ko-KR" altLang="en-US" sz="1200" dirty="0"/>
          </a:p>
        </p:txBody>
      </p:sp>
      <p:sp>
        <p:nvSpPr>
          <p:cNvPr id="41" name="말풍선: 사각형 40">
            <a:extLst>
              <a:ext uri="{FF2B5EF4-FFF2-40B4-BE49-F238E27FC236}">
                <a16:creationId xmlns:a16="http://schemas.microsoft.com/office/drawing/2014/main" id="{5B907CD7-CC2D-B0B2-A798-A406D49D2F39}"/>
              </a:ext>
            </a:extLst>
          </p:cNvPr>
          <p:cNvSpPr/>
          <p:nvPr/>
        </p:nvSpPr>
        <p:spPr>
          <a:xfrm>
            <a:off x="7556178" y="2740277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43" name="말풍선: 사각형 42">
            <a:extLst>
              <a:ext uri="{FF2B5EF4-FFF2-40B4-BE49-F238E27FC236}">
                <a16:creationId xmlns:a16="http://schemas.microsoft.com/office/drawing/2014/main" id="{97BC7B79-2BA9-F5FD-98DA-3B68833E315C}"/>
              </a:ext>
            </a:extLst>
          </p:cNvPr>
          <p:cNvSpPr/>
          <p:nvPr/>
        </p:nvSpPr>
        <p:spPr>
          <a:xfrm>
            <a:off x="7752121" y="298146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200" dirty="0"/>
              <a:t>(</a:t>
            </a:r>
            <a:r>
              <a:rPr lang="ko-KR" altLang="en-US" sz="1200" dirty="0"/>
              <a:t>간뇌도지 효과에 대한 설명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45" name="말풍선: 사각형 44">
            <a:extLst>
              <a:ext uri="{FF2B5EF4-FFF2-40B4-BE49-F238E27FC236}">
                <a16:creationId xmlns:a16="http://schemas.microsoft.com/office/drawing/2014/main" id="{86E61707-43BA-D838-2817-04BE5027426D}"/>
              </a:ext>
            </a:extLst>
          </p:cNvPr>
          <p:cNvSpPr/>
          <p:nvPr/>
        </p:nvSpPr>
        <p:spPr>
          <a:xfrm>
            <a:off x="7556178" y="3544021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퇴각했다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49" name="말풍선: 사각형 48">
            <a:extLst>
              <a:ext uri="{FF2B5EF4-FFF2-40B4-BE49-F238E27FC236}">
                <a16:creationId xmlns:a16="http://schemas.microsoft.com/office/drawing/2014/main" id="{25C00B79-E27E-5020-B2A2-05BD9649AC87}"/>
              </a:ext>
            </a:extLst>
          </p:cNvPr>
          <p:cNvSpPr/>
          <p:nvPr/>
        </p:nvSpPr>
        <p:spPr>
          <a:xfrm>
            <a:off x="7556178" y="41065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공포</a:t>
            </a:r>
            <a:r>
              <a:rPr lang="en-US" altLang="ko-KR" sz="1200" dirty="0"/>
              <a:t>‘ </a:t>
            </a:r>
            <a:r>
              <a:rPr lang="ko-KR" altLang="en-US" sz="1200" dirty="0"/>
              <a:t>를 시전했다</a:t>
            </a:r>
            <a:r>
              <a:rPr lang="en-US" altLang="ko-KR" sz="1200" dirty="0"/>
              <a:t> 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1" name="말풍선: 사각형 50">
            <a:extLst>
              <a:ext uri="{FF2B5EF4-FFF2-40B4-BE49-F238E27FC236}">
                <a16:creationId xmlns:a16="http://schemas.microsoft.com/office/drawing/2014/main" id="{D8F13769-A3A7-B186-5483-9D2AF12C4043}"/>
              </a:ext>
            </a:extLst>
          </p:cNvPr>
          <p:cNvSpPr/>
          <p:nvPr/>
        </p:nvSpPr>
        <p:spPr>
          <a:xfrm>
            <a:off x="7909787" y="43952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성공했다</a:t>
            </a:r>
            <a:r>
              <a:rPr lang="en-US" altLang="ko-KR" sz="1200" dirty="0"/>
              <a:t>!</a:t>
            </a:r>
            <a:r>
              <a:rPr lang="ko-KR" altLang="en-US" sz="1200" dirty="0"/>
              <a:t> </a:t>
            </a:r>
            <a:r>
              <a:rPr lang="en-US" altLang="ko-KR" sz="1200" dirty="0"/>
              <a:t>(</a:t>
            </a:r>
            <a:r>
              <a:rPr lang="ko-KR" altLang="en-US" sz="1200" dirty="0" err="1"/>
              <a:t>유봉</a:t>
            </a:r>
            <a:r>
              <a:rPr lang="en-US" altLang="ko-KR" sz="1200" dirty="0"/>
              <a:t> AT</a:t>
            </a:r>
            <a:r>
              <a:rPr lang="ko-KR" altLang="en-US" sz="1200" dirty="0"/>
              <a:t> 절반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53" name="말풍선: 사각형 52">
            <a:extLst>
              <a:ext uri="{FF2B5EF4-FFF2-40B4-BE49-F238E27FC236}">
                <a16:creationId xmlns:a16="http://schemas.microsoft.com/office/drawing/2014/main" id="{4E9F739A-8AB8-F275-7955-CEC93F8CE36B}"/>
              </a:ext>
            </a:extLst>
          </p:cNvPr>
          <p:cNvSpPr/>
          <p:nvPr/>
        </p:nvSpPr>
        <p:spPr>
          <a:xfrm>
            <a:off x="7909787" y="4755873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책략이 실패했다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7098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B9149-7BD7-30C1-FE62-D6C454F91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59BC350-8C8D-508B-53F3-2A7AD7C8F2E6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792BBC0-89C3-9EC3-82BA-F0B3FFAED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AAD2199-DC81-B44D-1991-A9E1BA14E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1FCE1608-399B-59E0-7116-0B8A987E00B0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BEB9718-ADCD-297C-E28D-07AA8645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4A9EFA8-4268-6A59-0DEC-8264010AE4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15E95600-C030-18D9-33E7-D450FA60C0EA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7A89AB9E-FE0F-5C1E-6C9D-B97086BB4817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15F17DE6-A901-95C0-D821-C66393F9D6D0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EA1D1C4B-9D2D-7381-87F6-417B5AB21EEC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88562828-DFCE-3B9F-EC64-D9EDEC0085DA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591F091C-DB4C-FF2A-1B9E-3EBD00CBDE3B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CF81F5C9-50A9-5060-F770-96E2A3BB4FE0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8B453056-4D6A-5BB5-872E-9104FB7F99DC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E68257D4-DB44-DDAC-95DA-825B6279325A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A51F27B-264F-54AF-1A05-039E16882D93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8A9A8A-472B-D94F-A5D5-3542D8CF8921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4 </a:t>
            </a:r>
            <a:r>
              <a:rPr lang="ko-KR" altLang="en-US" b="1" dirty="0"/>
              <a:t>내 차례</a:t>
            </a:r>
            <a:r>
              <a:rPr lang="en-US" altLang="ko-KR" b="1" dirty="0"/>
              <a:t>: </a:t>
            </a:r>
            <a:r>
              <a:rPr lang="ko-KR" altLang="en-US" b="1" dirty="0"/>
              <a:t>포커스 됨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803039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24BEC-C5A9-0352-A75E-8EB83EC7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B0132BE-9CC7-1549-4048-3CC848E3AF07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B01D27-C47A-CCE4-5CDF-4316B399B6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1953035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0DBED00-A46F-3B03-ADEA-35A81444C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209" y="615530"/>
            <a:ext cx="2746802" cy="690756"/>
          </a:xfrm>
          <a:prstGeom prst="rect">
            <a:avLst/>
          </a:prstGeom>
        </p:spPr>
      </p:pic>
      <p:sp>
        <p:nvSpPr>
          <p:cNvPr id="5" name="순서도: 수행의 시작/종료 4">
            <a:extLst>
              <a:ext uri="{FF2B5EF4-FFF2-40B4-BE49-F238E27FC236}">
                <a16:creationId xmlns:a16="http://schemas.microsoft.com/office/drawing/2014/main" id="{701EA89D-9079-73A1-2FFC-A034D0B7BCF5}"/>
              </a:ext>
            </a:extLst>
          </p:cNvPr>
          <p:cNvSpPr/>
          <p:nvPr/>
        </p:nvSpPr>
        <p:spPr>
          <a:xfrm>
            <a:off x="6597154" y="603431"/>
            <a:ext cx="859971" cy="264728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3A332B51-3717-4A08-71CB-30E43A1EBC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1463"/>
          <a:stretch>
            <a:fillRect/>
          </a:stretch>
        </p:blipFill>
        <p:spPr>
          <a:xfrm>
            <a:off x="5617895" y="4962581"/>
            <a:ext cx="1850116" cy="57824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7036FA7-3AB9-D370-72C6-00200B92C8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0984" y="4962581"/>
            <a:ext cx="800141" cy="819192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04B4F912-4EEF-B50E-D541-89E571BB5423}"/>
              </a:ext>
            </a:extLst>
          </p:cNvPr>
          <p:cNvGrpSpPr/>
          <p:nvPr/>
        </p:nvGrpSpPr>
        <p:grpSpPr>
          <a:xfrm>
            <a:off x="4711809" y="5962689"/>
            <a:ext cx="2799745" cy="268895"/>
            <a:chOff x="4681825" y="5864715"/>
            <a:chExt cx="3043238" cy="249851"/>
          </a:xfrm>
        </p:grpSpPr>
        <p:sp>
          <p:nvSpPr>
            <p:cNvPr id="15" name="순서도: 수행의 시작/종료 14">
              <a:extLst>
                <a:ext uri="{FF2B5EF4-FFF2-40B4-BE49-F238E27FC236}">
                  <a16:creationId xmlns:a16="http://schemas.microsoft.com/office/drawing/2014/main" id="{4BBFC7D9-350D-263E-CD78-5AF68E8AB2EA}"/>
                </a:ext>
              </a:extLst>
            </p:cNvPr>
            <p:cNvSpPr/>
            <p:nvPr/>
          </p:nvSpPr>
          <p:spPr>
            <a:xfrm>
              <a:off x="4681825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이동</a:t>
              </a:r>
            </a:p>
          </p:txBody>
        </p:sp>
        <p:sp>
          <p:nvSpPr>
            <p:cNvPr id="17" name="순서도: 수행의 시작/종료 16">
              <a:extLst>
                <a:ext uri="{FF2B5EF4-FFF2-40B4-BE49-F238E27FC236}">
                  <a16:creationId xmlns:a16="http://schemas.microsoft.com/office/drawing/2014/main" id="{91791766-4B34-186F-F788-E3FDD0F6504B}"/>
                </a:ext>
              </a:extLst>
            </p:cNvPr>
            <p:cNvSpPr/>
            <p:nvPr/>
          </p:nvSpPr>
          <p:spPr>
            <a:xfrm>
              <a:off x="5298348" y="5869714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공격</a:t>
              </a:r>
            </a:p>
          </p:txBody>
        </p:sp>
        <p:sp>
          <p:nvSpPr>
            <p:cNvPr id="19" name="순서도: 수행의 시작/종료 18">
              <a:extLst>
                <a:ext uri="{FF2B5EF4-FFF2-40B4-BE49-F238E27FC236}">
                  <a16:creationId xmlns:a16="http://schemas.microsoft.com/office/drawing/2014/main" id="{193ECEE1-220A-EC05-64AB-050A111C8176}"/>
                </a:ext>
              </a:extLst>
            </p:cNvPr>
            <p:cNvSpPr/>
            <p:nvPr/>
          </p:nvSpPr>
          <p:spPr>
            <a:xfrm>
              <a:off x="5917706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책략</a:t>
              </a:r>
            </a:p>
          </p:txBody>
        </p:sp>
        <p:sp>
          <p:nvSpPr>
            <p:cNvPr id="21" name="순서도: 수행의 시작/종료 20">
              <a:extLst>
                <a:ext uri="{FF2B5EF4-FFF2-40B4-BE49-F238E27FC236}">
                  <a16:creationId xmlns:a16="http://schemas.microsoft.com/office/drawing/2014/main" id="{AB1BDAA7-7351-D5B5-4A5B-8B21A57B57D0}"/>
                </a:ext>
              </a:extLst>
            </p:cNvPr>
            <p:cNvSpPr/>
            <p:nvPr/>
          </p:nvSpPr>
          <p:spPr>
            <a:xfrm>
              <a:off x="6539899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명상</a:t>
              </a:r>
            </a:p>
          </p:txBody>
        </p:sp>
        <p:sp>
          <p:nvSpPr>
            <p:cNvPr id="23" name="순서도: 수행의 시작/종료 22">
              <a:extLst>
                <a:ext uri="{FF2B5EF4-FFF2-40B4-BE49-F238E27FC236}">
                  <a16:creationId xmlns:a16="http://schemas.microsoft.com/office/drawing/2014/main" id="{728A0FF1-5E17-4D53-75B8-6722A3CC81A3}"/>
                </a:ext>
              </a:extLst>
            </p:cNvPr>
            <p:cNvSpPr/>
            <p:nvPr/>
          </p:nvSpPr>
          <p:spPr>
            <a:xfrm>
              <a:off x="7162092" y="5864715"/>
              <a:ext cx="562971" cy="244852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b="1" dirty="0"/>
                <a:t>종료</a:t>
              </a:r>
            </a:p>
          </p:txBody>
        </p:sp>
      </p:grpSp>
      <p:sp>
        <p:nvSpPr>
          <p:cNvPr id="27" name="말풍선: 사각형 26">
            <a:extLst>
              <a:ext uri="{FF2B5EF4-FFF2-40B4-BE49-F238E27FC236}">
                <a16:creationId xmlns:a16="http://schemas.microsoft.com/office/drawing/2014/main" id="{32E43CE4-2CC3-EDFB-0BFF-BB4572B9F7CF}"/>
              </a:ext>
            </a:extLst>
          </p:cNvPr>
          <p:cNvSpPr/>
          <p:nvPr/>
        </p:nvSpPr>
        <p:spPr>
          <a:xfrm>
            <a:off x="4806300" y="1355694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말풍선: 사각형 28">
            <a:extLst>
              <a:ext uri="{FF2B5EF4-FFF2-40B4-BE49-F238E27FC236}">
                <a16:creationId xmlns:a16="http://schemas.microsoft.com/office/drawing/2014/main" id="{F311CA1B-4E9B-0A88-69E1-57B16B54A18B}"/>
              </a:ext>
            </a:extLst>
          </p:cNvPr>
          <p:cNvSpPr/>
          <p:nvPr/>
        </p:nvSpPr>
        <p:spPr>
          <a:xfrm>
            <a:off x="4806300" y="1474961"/>
            <a:ext cx="2442526" cy="255814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FC316F0C-6E2F-6439-9FDE-827395E5CB26}"/>
              </a:ext>
            </a:extLst>
          </p:cNvPr>
          <p:cNvSpPr/>
          <p:nvPr/>
        </p:nvSpPr>
        <p:spPr>
          <a:xfrm>
            <a:off x="4886506" y="1574059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이동했다</a:t>
            </a:r>
            <a:r>
              <a:rPr lang="en-US" altLang="ko-KR" sz="1200" dirty="0"/>
              <a:t>. (A3 </a:t>
            </a:r>
            <a:r>
              <a:rPr lang="en-US" altLang="ko-KR" sz="1200" dirty="0">
                <a:sym typeface="Wingdings" panose="05000000000000000000" pitchFamily="2" charset="2"/>
              </a:rPr>
              <a:t> E3)</a:t>
            </a:r>
            <a:endParaRPr lang="ko-KR" altLang="en-US" sz="12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DA50CB2C-8A1C-C042-7581-5F520FEEE837}"/>
              </a:ext>
            </a:extLst>
          </p:cNvPr>
          <p:cNvSpPr/>
          <p:nvPr/>
        </p:nvSpPr>
        <p:spPr>
          <a:xfrm>
            <a:off x="5617895" y="5598444"/>
            <a:ext cx="1839230" cy="281449"/>
          </a:xfrm>
          <a:prstGeom prst="round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내가 걸린 버프</a:t>
            </a:r>
            <a:r>
              <a:rPr lang="en-US" altLang="ko-KR" sz="1100" dirty="0"/>
              <a:t>, </a:t>
            </a:r>
            <a:r>
              <a:rPr lang="ko-KR" altLang="en-US" sz="1100" dirty="0" err="1"/>
              <a:t>디버프들</a:t>
            </a:r>
            <a:endParaRPr lang="ko-KR" alt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91E91C-8B31-F90A-016F-B39762D83C3B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5 </a:t>
            </a:r>
            <a:r>
              <a:rPr lang="ko-KR" altLang="en-US" b="1" dirty="0"/>
              <a:t>고유 스킬 발동 체크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2251867-1A73-9925-86F5-910A6EA6C896}"/>
              </a:ext>
            </a:extLst>
          </p:cNvPr>
          <p:cNvSpPr/>
          <p:nvPr/>
        </p:nvSpPr>
        <p:spPr>
          <a:xfrm>
            <a:off x="4895438" y="2669230"/>
            <a:ext cx="2442526" cy="1766124"/>
          </a:xfrm>
          <a:prstGeom prst="roundRect">
            <a:avLst>
              <a:gd name="adj" fmla="val 852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600" b="1" dirty="0"/>
              <a:t>고유 스킬 제목</a:t>
            </a:r>
            <a:endParaRPr lang="en-US" altLang="ko-KR" sz="1600" b="1" dirty="0"/>
          </a:p>
          <a:p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endParaRPr lang="en-US" altLang="ko-KR" sz="1400" b="1" dirty="0"/>
          </a:p>
          <a:p>
            <a:pPr algn="ctr"/>
            <a:r>
              <a:rPr lang="ko-KR" altLang="en-US" sz="1400" b="1" dirty="0" err="1"/>
              <a:t>발동하시겠습니까</a:t>
            </a:r>
            <a:r>
              <a:rPr lang="en-US" altLang="ko-KR" sz="1400" b="1" dirty="0"/>
              <a:t>?</a:t>
            </a:r>
          </a:p>
          <a:p>
            <a:pPr algn="ctr"/>
            <a:endParaRPr lang="en-US" altLang="ko-KR" sz="1400" b="1" dirty="0"/>
          </a:p>
          <a:p>
            <a:pPr algn="ctr"/>
            <a:endParaRPr lang="ko-KR" altLang="en-US" sz="1400" b="1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A99C7AAB-15AE-90E6-456D-2B35269DEC8B}"/>
              </a:ext>
            </a:extLst>
          </p:cNvPr>
          <p:cNvSpPr/>
          <p:nvPr/>
        </p:nvSpPr>
        <p:spPr>
          <a:xfrm>
            <a:off x="4987070" y="3082941"/>
            <a:ext cx="2241397" cy="509289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고유 스킬에 대한 </a:t>
            </a:r>
            <a:r>
              <a:rPr lang="ko-KR" altLang="en-US" sz="1400" dirty="0" err="1"/>
              <a:t>설명칸</a:t>
            </a:r>
            <a:endParaRPr lang="ko-KR" altLang="en-US" sz="1400" dirty="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16D50F89-D508-1597-E8C2-60C952D88FD4}"/>
              </a:ext>
            </a:extLst>
          </p:cNvPr>
          <p:cNvSpPr/>
          <p:nvPr/>
        </p:nvSpPr>
        <p:spPr>
          <a:xfrm>
            <a:off x="6291114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 dirty="0"/>
              <a:t>예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AF28A231-357A-86A6-E052-D4901C08A419}"/>
              </a:ext>
            </a:extLst>
          </p:cNvPr>
          <p:cNvSpPr/>
          <p:nvPr/>
        </p:nvSpPr>
        <p:spPr>
          <a:xfrm>
            <a:off x="5079402" y="4005941"/>
            <a:ext cx="917128" cy="302484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400" b="1"/>
              <a:t>아니오</a:t>
            </a:r>
            <a:endParaRPr lang="ko-KR" altLang="en-US" sz="1400" b="1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6C103E6-B8B3-1A7F-4338-CF8F7594D0A3}"/>
              </a:ext>
            </a:extLst>
          </p:cNvPr>
          <p:cNvSpPr/>
          <p:nvPr/>
        </p:nvSpPr>
        <p:spPr>
          <a:xfrm>
            <a:off x="4676701" y="5937509"/>
            <a:ext cx="2856626" cy="304961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62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98606-B986-66EB-63C9-916EEBB20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03446C4-4B22-F370-4EDB-FF37D5CF636A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6 </a:t>
            </a:r>
            <a:r>
              <a:rPr lang="ko-KR" altLang="en-US" b="1" dirty="0"/>
              <a:t>고유 스킬 발동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4DCCD29-09FA-1AFE-4967-F5B747874264}"/>
              </a:ext>
            </a:extLst>
          </p:cNvPr>
          <p:cNvGrpSpPr/>
          <p:nvPr/>
        </p:nvGrpSpPr>
        <p:grpSpPr>
          <a:xfrm>
            <a:off x="3287268" y="549000"/>
            <a:ext cx="2890690" cy="5760000"/>
            <a:chOff x="3287268" y="549000"/>
            <a:chExt cx="2890690" cy="576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2664E8F-3727-3247-B860-17AC873C8C63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12211D7-AA0F-D3DD-C0AB-7549A3FB5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E3340D2-9563-774F-6E89-B65DE7295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5" name="순서도: 수행의 시작/종료 4">
              <a:extLst>
                <a:ext uri="{FF2B5EF4-FFF2-40B4-BE49-F238E27FC236}">
                  <a16:creationId xmlns:a16="http://schemas.microsoft.com/office/drawing/2014/main" id="{7F8ED0DB-8DE2-92CF-C0E4-AC6B9A3D1385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DA147852-4ACE-B31F-DA26-58B760DD4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ABBF536-BFD7-F68F-9286-815D874D1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F1D3F900-9AB5-275D-6FE6-900B2D2D7AC7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15" name="순서도: 수행의 시작/종료 14">
                <a:extLst>
                  <a:ext uri="{FF2B5EF4-FFF2-40B4-BE49-F238E27FC236}">
                    <a16:creationId xmlns:a16="http://schemas.microsoft.com/office/drawing/2014/main" id="{2AB6343E-FE1D-AA0B-B9B2-BF13D8352F86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17" name="순서도: 수행의 시작/종료 16">
                <a:extLst>
                  <a:ext uri="{FF2B5EF4-FFF2-40B4-BE49-F238E27FC236}">
                    <a16:creationId xmlns:a16="http://schemas.microsoft.com/office/drawing/2014/main" id="{FBF68A22-29A0-B322-4720-58651351C3DE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19" name="순서도: 수행의 시작/종료 18">
                <a:extLst>
                  <a:ext uri="{FF2B5EF4-FFF2-40B4-BE49-F238E27FC236}">
                    <a16:creationId xmlns:a16="http://schemas.microsoft.com/office/drawing/2014/main" id="{F3CE6FC6-51FA-8E9E-5E76-9833AF69DB04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21" name="순서도: 수행의 시작/종료 20">
                <a:extLst>
                  <a:ext uri="{FF2B5EF4-FFF2-40B4-BE49-F238E27FC236}">
                    <a16:creationId xmlns:a16="http://schemas.microsoft.com/office/drawing/2014/main" id="{9A466F49-D630-F8A2-57EF-BBA5441BA50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23" name="순서도: 수행의 시작/종료 22">
                <a:extLst>
                  <a:ext uri="{FF2B5EF4-FFF2-40B4-BE49-F238E27FC236}">
                    <a16:creationId xmlns:a16="http://schemas.microsoft.com/office/drawing/2014/main" id="{7EA622BA-FC72-62A7-DB82-F6FEA7177161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27" name="말풍선: 사각형 26">
              <a:extLst>
                <a:ext uri="{FF2B5EF4-FFF2-40B4-BE49-F238E27FC236}">
                  <a16:creationId xmlns:a16="http://schemas.microsoft.com/office/drawing/2014/main" id="{76ACB973-F9D3-4FDE-6F72-02BFDCF41F53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말풍선: 사각형 28">
              <a:extLst>
                <a:ext uri="{FF2B5EF4-FFF2-40B4-BE49-F238E27FC236}">
                  <a16:creationId xmlns:a16="http://schemas.microsoft.com/office/drawing/2014/main" id="{D30BF73E-7728-6B3B-0CF1-DA0B42734CE3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말풍선: 사각형 30">
              <a:extLst>
                <a:ext uri="{FF2B5EF4-FFF2-40B4-BE49-F238E27FC236}">
                  <a16:creationId xmlns:a16="http://schemas.microsoft.com/office/drawing/2014/main" id="{46BCB92C-D1C5-725B-AAE8-C6901D076AA5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ko-KR" altLang="en-US" sz="1200" dirty="0"/>
                <a:t>조운이 </a:t>
              </a:r>
              <a:r>
                <a:rPr lang="en-US" altLang="ko-KR" sz="1200" dirty="0"/>
                <a:t>‘</a:t>
              </a:r>
              <a:r>
                <a:rPr lang="ko-KR" altLang="en-US" sz="1200" dirty="0"/>
                <a:t>고유기술</a:t>
              </a:r>
              <a:r>
                <a:rPr lang="en-US" altLang="ko-KR" sz="1200" dirty="0"/>
                <a:t>’ </a:t>
              </a:r>
              <a:r>
                <a:rPr lang="ko-KR" altLang="en-US" sz="1200" dirty="0"/>
                <a:t>을 발동했다</a:t>
              </a:r>
              <a:r>
                <a:rPr lang="en-US" altLang="ko-KR" sz="1200" dirty="0"/>
                <a:t>!</a:t>
              </a:r>
              <a:endParaRPr lang="ko-KR" altLang="en-US" sz="1200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6E18342B-6105-B5F3-66C3-A202D5B0B814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7550D73-6FEB-1FA3-FF32-9EBD04C8CE55}"/>
                </a:ext>
              </a:extLst>
            </p:cNvPr>
            <p:cNvSpPr/>
            <p:nvPr/>
          </p:nvSpPr>
          <p:spPr>
            <a:xfrm>
              <a:off x="3292613" y="1978215"/>
              <a:ext cx="2880000" cy="2891218"/>
            </a:xfrm>
            <a:prstGeom prst="rect">
              <a:avLst/>
            </a:prstGeom>
            <a:solidFill>
              <a:schemeClr val="dk1">
                <a:alpha val="80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09A723A-6918-F564-F499-A0889195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7268" y="3134810"/>
              <a:ext cx="2880001" cy="578841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D21602D-5BB1-0799-E3C8-700A497E35B9}"/>
              </a:ext>
            </a:extLst>
          </p:cNvPr>
          <p:cNvGrpSpPr/>
          <p:nvPr/>
        </p:nvGrpSpPr>
        <p:grpSpPr>
          <a:xfrm>
            <a:off x="7477295" y="549000"/>
            <a:ext cx="2885345" cy="5760000"/>
            <a:chOff x="3292613" y="549000"/>
            <a:chExt cx="2885345" cy="5760000"/>
          </a:xfrm>
        </p:grpSpPr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0F702BEC-9347-C22F-3FEA-F31A1ABA7F80}"/>
                </a:ext>
              </a:extLst>
            </p:cNvPr>
            <p:cNvSpPr/>
            <p:nvPr/>
          </p:nvSpPr>
          <p:spPr>
            <a:xfrm>
              <a:off x="3292613" y="549000"/>
              <a:ext cx="2880000" cy="57600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1550EC84-13A9-CA91-A9C5-55DE4E2DD2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92613" y="1953035"/>
              <a:ext cx="2885345" cy="295193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35EF1A29-F537-F8C0-663C-0563DA2A1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60495" y="615530"/>
              <a:ext cx="2746802" cy="690756"/>
            </a:xfrm>
            <a:prstGeom prst="rect">
              <a:avLst/>
            </a:prstGeom>
          </p:spPr>
        </p:pic>
        <p:sp>
          <p:nvSpPr>
            <p:cNvPr id="30" name="순서도: 수행의 시작/종료 29">
              <a:extLst>
                <a:ext uri="{FF2B5EF4-FFF2-40B4-BE49-F238E27FC236}">
                  <a16:creationId xmlns:a16="http://schemas.microsoft.com/office/drawing/2014/main" id="{05033DDA-02CF-365C-847F-AE85108EC6AD}"/>
                </a:ext>
              </a:extLst>
            </p:cNvPr>
            <p:cNvSpPr/>
            <p:nvPr/>
          </p:nvSpPr>
          <p:spPr>
            <a:xfrm>
              <a:off x="5236440" y="603431"/>
              <a:ext cx="859971" cy="264728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항복</a:t>
              </a:r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398FC0A-FD41-536E-F927-9A74373B38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1463"/>
            <a:stretch>
              <a:fillRect/>
            </a:stretch>
          </p:blipFill>
          <p:spPr>
            <a:xfrm>
              <a:off x="4257181" y="4962581"/>
              <a:ext cx="1850116" cy="578247"/>
            </a:xfrm>
            <a:prstGeom prst="rect">
              <a:avLst/>
            </a:prstGeom>
          </p:spPr>
        </p:pic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54D30564-A855-CB1D-E069-C3F12331DD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80270" y="4962581"/>
              <a:ext cx="800141" cy="819192"/>
            </a:xfrm>
            <a:prstGeom prst="rect">
              <a:avLst/>
            </a:prstGeom>
          </p:spPr>
        </p:pic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454493C-5E49-DE26-9A34-8848C2780EF8}"/>
                </a:ext>
              </a:extLst>
            </p:cNvPr>
            <p:cNvGrpSpPr/>
            <p:nvPr/>
          </p:nvGrpSpPr>
          <p:grpSpPr>
            <a:xfrm>
              <a:off x="3351095" y="5962689"/>
              <a:ext cx="2799745" cy="268895"/>
              <a:chOff x="4681825" y="5864715"/>
              <a:chExt cx="3043238" cy="249851"/>
            </a:xfrm>
          </p:grpSpPr>
          <p:sp>
            <p:nvSpPr>
              <p:cNvPr id="41" name="순서도: 수행의 시작/종료 40">
                <a:extLst>
                  <a:ext uri="{FF2B5EF4-FFF2-40B4-BE49-F238E27FC236}">
                    <a16:creationId xmlns:a16="http://schemas.microsoft.com/office/drawing/2014/main" id="{83B00953-5514-A6DD-9F17-431CE0B0CF25}"/>
                  </a:ext>
                </a:extLst>
              </p:cNvPr>
              <p:cNvSpPr/>
              <p:nvPr/>
            </p:nvSpPr>
            <p:spPr>
              <a:xfrm>
                <a:off x="4681825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이동</a:t>
                </a:r>
              </a:p>
            </p:txBody>
          </p:sp>
          <p:sp>
            <p:nvSpPr>
              <p:cNvPr id="42" name="순서도: 수행의 시작/종료 41">
                <a:extLst>
                  <a:ext uri="{FF2B5EF4-FFF2-40B4-BE49-F238E27FC236}">
                    <a16:creationId xmlns:a16="http://schemas.microsoft.com/office/drawing/2014/main" id="{02F77AC8-4602-B6E2-C970-C32FA7CD8BF8}"/>
                  </a:ext>
                </a:extLst>
              </p:cNvPr>
              <p:cNvSpPr/>
              <p:nvPr/>
            </p:nvSpPr>
            <p:spPr>
              <a:xfrm>
                <a:off x="5298348" y="5869714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공격</a:t>
                </a:r>
              </a:p>
            </p:txBody>
          </p:sp>
          <p:sp>
            <p:nvSpPr>
              <p:cNvPr id="43" name="순서도: 수행의 시작/종료 42">
                <a:extLst>
                  <a:ext uri="{FF2B5EF4-FFF2-40B4-BE49-F238E27FC236}">
                    <a16:creationId xmlns:a16="http://schemas.microsoft.com/office/drawing/2014/main" id="{ABB6CB53-A968-C31F-0CDB-51E8130C5DDD}"/>
                  </a:ext>
                </a:extLst>
              </p:cNvPr>
              <p:cNvSpPr/>
              <p:nvPr/>
            </p:nvSpPr>
            <p:spPr>
              <a:xfrm>
                <a:off x="5917706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책략</a:t>
                </a:r>
              </a:p>
            </p:txBody>
          </p:sp>
          <p:sp>
            <p:nvSpPr>
              <p:cNvPr id="44" name="순서도: 수행의 시작/종료 43">
                <a:extLst>
                  <a:ext uri="{FF2B5EF4-FFF2-40B4-BE49-F238E27FC236}">
                    <a16:creationId xmlns:a16="http://schemas.microsoft.com/office/drawing/2014/main" id="{890BCFEE-B53F-66AD-7694-D1FA06F66A25}"/>
                  </a:ext>
                </a:extLst>
              </p:cNvPr>
              <p:cNvSpPr/>
              <p:nvPr/>
            </p:nvSpPr>
            <p:spPr>
              <a:xfrm>
                <a:off x="6539899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명상</a:t>
                </a:r>
              </a:p>
            </p:txBody>
          </p:sp>
          <p:sp>
            <p:nvSpPr>
              <p:cNvPr id="45" name="순서도: 수행의 시작/종료 44">
                <a:extLst>
                  <a:ext uri="{FF2B5EF4-FFF2-40B4-BE49-F238E27FC236}">
                    <a16:creationId xmlns:a16="http://schemas.microsoft.com/office/drawing/2014/main" id="{140763AB-8DC2-D4E5-1C2C-55C57029C325}"/>
                  </a:ext>
                </a:extLst>
              </p:cNvPr>
              <p:cNvSpPr/>
              <p:nvPr/>
            </p:nvSpPr>
            <p:spPr>
              <a:xfrm>
                <a:off x="7162092" y="5864715"/>
                <a:ext cx="562971" cy="244852"/>
              </a:xfrm>
              <a:prstGeom prst="flowChartTerminator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b="1" dirty="0"/>
                  <a:t>종료</a:t>
                </a:r>
              </a:p>
            </p:txBody>
          </p:sp>
        </p:grpSp>
        <p:sp>
          <p:nvSpPr>
            <p:cNvPr id="35" name="말풍선: 사각형 34">
              <a:extLst>
                <a:ext uri="{FF2B5EF4-FFF2-40B4-BE49-F238E27FC236}">
                  <a16:creationId xmlns:a16="http://schemas.microsoft.com/office/drawing/2014/main" id="{7FD0FF5F-30A3-8491-0C51-6F0ACCE9F9BD}"/>
                </a:ext>
              </a:extLst>
            </p:cNvPr>
            <p:cNvSpPr/>
            <p:nvPr/>
          </p:nvSpPr>
          <p:spPr>
            <a:xfrm>
              <a:off x="3445586" y="1355694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말풍선: 사각형 35">
              <a:extLst>
                <a:ext uri="{FF2B5EF4-FFF2-40B4-BE49-F238E27FC236}">
                  <a16:creationId xmlns:a16="http://schemas.microsoft.com/office/drawing/2014/main" id="{67514FEC-547A-7759-595B-77F6A2AA3537}"/>
                </a:ext>
              </a:extLst>
            </p:cNvPr>
            <p:cNvSpPr/>
            <p:nvPr/>
          </p:nvSpPr>
          <p:spPr>
            <a:xfrm>
              <a:off x="3445586" y="1474961"/>
              <a:ext cx="2442526" cy="255814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말풍선: 사각형 36">
              <a:extLst>
                <a:ext uri="{FF2B5EF4-FFF2-40B4-BE49-F238E27FC236}">
                  <a16:creationId xmlns:a16="http://schemas.microsoft.com/office/drawing/2014/main" id="{092D88D2-6CC2-B0F3-1926-D000CBAE08BC}"/>
                </a:ext>
              </a:extLst>
            </p:cNvPr>
            <p:cNvSpPr/>
            <p:nvPr/>
          </p:nvSpPr>
          <p:spPr>
            <a:xfrm>
              <a:off x="3525792" y="1574059"/>
              <a:ext cx="2442526" cy="321360"/>
            </a:xfrm>
            <a:prstGeom prst="wedgeRectCallout">
              <a:avLst>
                <a:gd name="adj1" fmla="val -54826"/>
                <a:gd name="adj2" fmla="val 41288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ko-KR" sz="1200" dirty="0"/>
                <a:t>(</a:t>
              </a:r>
              <a:r>
                <a:rPr lang="ko-KR" altLang="en-US" sz="1200" dirty="0"/>
                <a:t>간뇌도지 효과에 대한 설명</a:t>
              </a:r>
              <a:r>
                <a:rPr lang="en-US" altLang="ko-KR" sz="1200" dirty="0"/>
                <a:t>)</a:t>
              </a:r>
              <a:endParaRPr lang="ko-KR" altLang="en-US" sz="1200" dirty="0"/>
            </a:p>
          </p:txBody>
        </p:sp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8ECAD45A-DE8B-138C-8D52-D3FBB3DBC947}"/>
                </a:ext>
              </a:extLst>
            </p:cNvPr>
            <p:cNvSpPr/>
            <p:nvPr/>
          </p:nvSpPr>
          <p:spPr>
            <a:xfrm>
              <a:off x="4257181" y="5598444"/>
              <a:ext cx="1839230" cy="281449"/>
            </a:xfrm>
            <a:prstGeom prst="roundRect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/>
                <a:t>내가 걸린 버프</a:t>
              </a:r>
              <a:r>
                <a:rPr lang="en-US" altLang="ko-KR" sz="1100" dirty="0"/>
                <a:t>, </a:t>
              </a:r>
              <a:r>
                <a:rPr lang="ko-KR" altLang="en-US" sz="1100" dirty="0" err="1"/>
                <a:t>디버프들</a:t>
              </a:r>
              <a:endParaRPr lang="ko-KR" altLang="en-US" sz="1100" dirty="0"/>
            </a:p>
          </p:txBody>
        </p:sp>
      </p:grpSp>
      <p:sp>
        <p:nvSpPr>
          <p:cNvPr id="46" name="화살표: 오른쪽 45">
            <a:extLst>
              <a:ext uri="{FF2B5EF4-FFF2-40B4-BE49-F238E27FC236}">
                <a16:creationId xmlns:a16="http://schemas.microsoft.com/office/drawing/2014/main" id="{D90ED766-62C2-6B51-48B2-BF0CBD00E837}"/>
              </a:ext>
            </a:extLst>
          </p:cNvPr>
          <p:cNvSpPr/>
          <p:nvPr/>
        </p:nvSpPr>
        <p:spPr>
          <a:xfrm>
            <a:off x="6553200" y="3234404"/>
            <a:ext cx="729343" cy="47924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1012D9C3-282F-5269-2C0A-FD2388EA88BC}"/>
              </a:ext>
            </a:extLst>
          </p:cNvPr>
          <p:cNvSpPr/>
          <p:nvPr/>
        </p:nvSpPr>
        <p:spPr>
          <a:xfrm>
            <a:off x="3303500" y="5937509"/>
            <a:ext cx="2863769" cy="288695"/>
          </a:xfrm>
          <a:prstGeom prst="rect">
            <a:avLst/>
          </a:prstGeom>
          <a:solidFill>
            <a:schemeClr val="dk1">
              <a:alpha val="8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5790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9CC5A-8D13-B325-1F8C-C457C36C3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524B174-9C88-9495-9715-A2A0D676DADD}"/>
              </a:ext>
            </a:extLst>
          </p:cNvPr>
          <p:cNvSpPr txBox="1"/>
          <p:nvPr/>
        </p:nvSpPr>
        <p:spPr>
          <a:xfrm>
            <a:off x="404039" y="341501"/>
            <a:ext cx="3242676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b="1" dirty="0"/>
              <a:t>11 </a:t>
            </a:r>
            <a:r>
              <a:rPr lang="ko-KR" altLang="en-US" b="1" dirty="0"/>
              <a:t>아군</a:t>
            </a:r>
            <a:r>
              <a:rPr lang="en-US" altLang="ko-KR" b="1" dirty="0"/>
              <a:t>/</a:t>
            </a:r>
            <a:r>
              <a:rPr lang="ko-KR" altLang="en-US" b="1" dirty="0"/>
              <a:t>적군 기물 체크</a:t>
            </a: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EE6DE7A-EF47-CE72-EB89-9AF9345AA305}"/>
              </a:ext>
            </a:extLst>
          </p:cNvPr>
          <p:cNvGrpSpPr/>
          <p:nvPr/>
        </p:nvGrpSpPr>
        <p:grpSpPr>
          <a:xfrm>
            <a:off x="4653327" y="549000"/>
            <a:ext cx="2885345" cy="5760000"/>
            <a:chOff x="4653327" y="549000"/>
            <a:chExt cx="2885345" cy="5760000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F1891-DE62-0DB6-21A9-4D87F6E8074F}"/>
                </a:ext>
              </a:extLst>
            </p:cNvPr>
            <p:cNvGrpSpPr/>
            <p:nvPr/>
          </p:nvGrpSpPr>
          <p:grpSpPr>
            <a:xfrm>
              <a:off x="4653327" y="549000"/>
              <a:ext cx="2885345" cy="5760000"/>
              <a:chOff x="3292613" y="549000"/>
              <a:chExt cx="2885345" cy="5760000"/>
            </a:xfrm>
          </p:grpSpPr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6793379C-A61A-0EAA-1625-64EAFE547BA2}"/>
                  </a:ext>
                </a:extLst>
              </p:cNvPr>
              <p:cNvSpPr/>
              <p:nvPr/>
            </p:nvSpPr>
            <p:spPr>
              <a:xfrm>
                <a:off x="3292613" y="549000"/>
                <a:ext cx="2880000" cy="57600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B49137B6-6B9F-73B9-F4D3-A1F4BC6620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292613" y="1953035"/>
                <a:ext cx="2885345" cy="2951930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359BC741-9C5F-81B4-BF61-28200D4D0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360495" y="615530"/>
                <a:ext cx="2746802" cy="690756"/>
              </a:xfrm>
              <a:prstGeom prst="rect">
                <a:avLst/>
              </a:prstGeom>
            </p:spPr>
          </p:pic>
          <p:sp>
            <p:nvSpPr>
              <p:cNvPr id="5" name="순서도: 수행의 시작/종료 4">
                <a:extLst>
                  <a:ext uri="{FF2B5EF4-FFF2-40B4-BE49-F238E27FC236}">
                    <a16:creationId xmlns:a16="http://schemas.microsoft.com/office/drawing/2014/main" id="{5C9F6BDB-A3C9-E41E-94CC-E02569FA398C}"/>
                  </a:ext>
                </a:extLst>
              </p:cNvPr>
              <p:cNvSpPr/>
              <p:nvPr/>
            </p:nvSpPr>
            <p:spPr>
              <a:xfrm>
                <a:off x="5236440" y="603431"/>
                <a:ext cx="859971" cy="264728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b="1" dirty="0"/>
                  <a:t>항복</a:t>
                </a:r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DCDE5A58-B8D4-1E0B-273A-ED33F32949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b="21463"/>
              <a:stretch>
                <a:fillRect/>
              </a:stretch>
            </p:blipFill>
            <p:spPr>
              <a:xfrm>
                <a:off x="4257181" y="4962581"/>
                <a:ext cx="1850116" cy="578247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98D2AF2-2F17-A78A-9EE6-832FA3422A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0270" y="4962581"/>
                <a:ext cx="800141" cy="819192"/>
              </a:xfrm>
              <a:prstGeom prst="rect">
                <a:avLst/>
              </a:prstGeom>
            </p:spPr>
          </p:pic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4A0D85B2-5EBF-B603-1357-178D8FDBCE5A}"/>
                  </a:ext>
                </a:extLst>
              </p:cNvPr>
              <p:cNvGrpSpPr/>
              <p:nvPr/>
            </p:nvGrpSpPr>
            <p:grpSpPr>
              <a:xfrm>
                <a:off x="3351095" y="5962689"/>
                <a:ext cx="2799745" cy="268895"/>
                <a:chOff x="4681825" y="5864715"/>
                <a:chExt cx="3043238" cy="249851"/>
              </a:xfrm>
            </p:grpSpPr>
            <p:sp>
              <p:nvSpPr>
                <p:cNvPr id="15" name="순서도: 수행의 시작/종료 14">
                  <a:extLst>
                    <a:ext uri="{FF2B5EF4-FFF2-40B4-BE49-F238E27FC236}">
                      <a16:creationId xmlns:a16="http://schemas.microsoft.com/office/drawing/2014/main" id="{B986416C-75DB-CDF6-F2FD-44C3C1E3F039}"/>
                    </a:ext>
                  </a:extLst>
                </p:cNvPr>
                <p:cNvSpPr/>
                <p:nvPr/>
              </p:nvSpPr>
              <p:spPr>
                <a:xfrm>
                  <a:off x="4681825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이동</a:t>
                  </a:r>
                </a:p>
              </p:txBody>
            </p:sp>
            <p:sp>
              <p:nvSpPr>
                <p:cNvPr id="17" name="순서도: 수행의 시작/종료 16">
                  <a:extLst>
                    <a:ext uri="{FF2B5EF4-FFF2-40B4-BE49-F238E27FC236}">
                      <a16:creationId xmlns:a16="http://schemas.microsoft.com/office/drawing/2014/main" id="{A10AB487-3ADC-2878-E7F7-1D1DA785A680}"/>
                    </a:ext>
                  </a:extLst>
                </p:cNvPr>
                <p:cNvSpPr/>
                <p:nvPr/>
              </p:nvSpPr>
              <p:spPr>
                <a:xfrm>
                  <a:off x="5298348" y="5869714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공격</a:t>
                  </a:r>
                </a:p>
              </p:txBody>
            </p:sp>
            <p:sp>
              <p:nvSpPr>
                <p:cNvPr id="19" name="순서도: 수행의 시작/종료 18">
                  <a:extLst>
                    <a:ext uri="{FF2B5EF4-FFF2-40B4-BE49-F238E27FC236}">
                      <a16:creationId xmlns:a16="http://schemas.microsoft.com/office/drawing/2014/main" id="{B9C8BE47-BC9C-6F76-628A-6DAE98E6DA38}"/>
                    </a:ext>
                  </a:extLst>
                </p:cNvPr>
                <p:cNvSpPr/>
                <p:nvPr/>
              </p:nvSpPr>
              <p:spPr>
                <a:xfrm>
                  <a:off x="5917706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책략</a:t>
                  </a:r>
                </a:p>
              </p:txBody>
            </p:sp>
            <p:sp>
              <p:nvSpPr>
                <p:cNvPr id="21" name="순서도: 수행의 시작/종료 20">
                  <a:extLst>
                    <a:ext uri="{FF2B5EF4-FFF2-40B4-BE49-F238E27FC236}">
                      <a16:creationId xmlns:a16="http://schemas.microsoft.com/office/drawing/2014/main" id="{7279EFD6-A289-F939-2BCC-EB4151CBFA3F}"/>
                    </a:ext>
                  </a:extLst>
                </p:cNvPr>
                <p:cNvSpPr/>
                <p:nvPr/>
              </p:nvSpPr>
              <p:spPr>
                <a:xfrm>
                  <a:off x="6539899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명상</a:t>
                  </a:r>
                </a:p>
              </p:txBody>
            </p:sp>
            <p:sp>
              <p:nvSpPr>
                <p:cNvPr id="23" name="순서도: 수행의 시작/종료 22">
                  <a:extLst>
                    <a:ext uri="{FF2B5EF4-FFF2-40B4-BE49-F238E27FC236}">
                      <a16:creationId xmlns:a16="http://schemas.microsoft.com/office/drawing/2014/main" id="{062B1639-BA55-2EA5-EA39-BC8C7C2BCAA1}"/>
                    </a:ext>
                  </a:extLst>
                </p:cNvPr>
                <p:cNvSpPr/>
                <p:nvPr/>
              </p:nvSpPr>
              <p:spPr>
                <a:xfrm>
                  <a:off x="7162092" y="5864715"/>
                  <a:ext cx="562971" cy="244852"/>
                </a:xfrm>
                <a:prstGeom prst="flowChartTerminator">
                  <a:avLst/>
                </a:prstGeom>
              </p:spPr>
              <p:style>
                <a:lnRef idx="2">
                  <a:schemeClr val="accent3">
                    <a:shade val="15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1100" b="1" dirty="0"/>
                    <a:t>종료</a:t>
                  </a:r>
                </a:p>
              </p:txBody>
            </p:sp>
          </p:grpSp>
          <p:sp>
            <p:nvSpPr>
              <p:cNvPr id="27" name="말풍선: 사각형 26">
                <a:extLst>
                  <a:ext uri="{FF2B5EF4-FFF2-40B4-BE49-F238E27FC236}">
                    <a16:creationId xmlns:a16="http://schemas.microsoft.com/office/drawing/2014/main" id="{68FA12B8-E09C-A432-72C4-22F9AD364CF6}"/>
                  </a:ext>
                </a:extLst>
              </p:cNvPr>
              <p:cNvSpPr/>
              <p:nvPr/>
            </p:nvSpPr>
            <p:spPr>
              <a:xfrm>
                <a:off x="3445586" y="1355694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9" name="말풍선: 사각형 28">
                <a:extLst>
                  <a:ext uri="{FF2B5EF4-FFF2-40B4-BE49-F238E27FC236}">
                    <a16:creationId xmlns:a16="http://schemas.microsoft.com/office/drawing/2014/main" id="{1CCA06BD-AD35-DBF8-8C45-C917A5BBF155}"/>
                  </a:ext>
                </a:extLst>
              </p:cNvPr>
              <p:cNvSpPr/>
              <p:nvPr/>
            </p:nvSpPr>
            <p:spPr>
              <a:xfrm>
                <a:off x="3445586" y="1474961"/>
                <a:ext cx="2442526" cy="255814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1" name="말풍선: 사각형 30">
                <a:extLst>
                  <a:ext uri="{FF2B5EF4-FFF2-40B4-BE49-F238E27FC236}">
                    <a16:creationId xmlns:a16="http://schemas.microsoft.com/office/drawing/2014/main" id="{5FBA34B4-F4CC-98BE-0FB2-9CAB4A266D0F}"/>
                  </a:ext>
                </a:extLst>
              </p:cNvPr>
              <p:cNvSpPr/>
              <p:nvPr/>
            </p:nvSpPr>
            <p:spPr>
              <a:xfrm>
                <a:off x="3525792" y="1574059"/>
                <a:ext cx="2442526" cy="321360"/>
              </a:xfrm>
              <a:prstGeom prst="wedgeRectCallout">
                <a:avLst>
                  <a:gd name="adj1" fmla="val -54826"/>
                  <a:gd name="adj2" fmla="val 41288"/>
                </a:avLst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ko-KR" altLang="en-US" sz="1200" dirty="0"/>
                  <a:t>조운이 </a:t>
                </a:r>
                <a:r>
                  <a:rPr lang="en-US" altLang="ko-KR" sz="1200" dirty="0"/>
                  <a:t>‘</a:t>
                </a:r>
                <a:r>
                  <a:rPr lang="ko-KR" altLang="en-US" sz="1200" dirty="0"/>
                  <a:t>고유기술</a:t>
                </a:r>
                <a:r>
                  <a:rPr lang="en-US" altLang="ko-KR" sz="1200" dirty="0"/>
                  <a:t>’ </a:t>
                </a:r>
                <a:r>
                  <a:rPr lang="ko-KR" altLang="en-US" sz="1200" dirty="0"/>
                  <a:t>을 발동했다</a:t>
                </a:r>
                <a:r>
                  <a:rPr lang="en-US" altLang="ko-KR" sz="1200" dirty="0"/>
                  <a:t>!</a:t>
                </a:r>
                <a:endParaRPr lang="ko-KR" altLang="en-US" sz="1200" dirty="0"/>
              </a:p>
            </p:txBody>
          </p:sp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52D0CAB5-051B-6412-2950-E931DA260428}"/>
                  </a:ext>
                </a:extLst>
              </p:cNvPr>
              <p:cNvSpPr/>
              <p:nvPr/>
            </p:nvSpPr>
            <p:spPr>
              <a:xfrm>
                <a:off x="4257181" y="5598444"/>
                <a:ext cx="1839230" cy="281449"/>
              </a:xfrm>
              <a:prstGeom prst="roundRect">
                <a:avLst/>
              </a:prstGeom>
            </p:spPr>
            <p:style>
              <a:lnRef idx="1">
                <a:schemeClr val="accent5"/>
              </a:lnRef>
              <a:fillRef idx="2">
                <a:schemeClr val="accent5"/>
              </a:fillRef>
              <a:effectRef idx="1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100" dirty="0"/>
                  <a:t>내가 걸린 버프</a:t>
                </a:r>
                <a:r>
                  <a:rPr lang="en-US" altLang="ko-KR" sz="1100" dirty="0"/>
                  <a:t>, </a:t>
                </a:r>
                <a:r>
                  <a:rPr lang="ko-KR" altLang="en-US" sz="1100" dirty="0" err="1"/>
                  <a:t>디버프들</a:t>
                </a:r>
                <a:endParaRPr lang="ko-KR" altLang="en-US" sz="1100" dirty="0"/>
              </a:p>
            </p:txBody>
          </p:sp>
        </p:grp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49AA4A6-49AB-4A7F-6F18-3AADF20ACE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823372" y="2236946"/>
              <a:ext cx="1473276" cy="1625684"/>
            </a:xfrm>
            <a:prstGeom prst="rect">
              <a:avLst/>
            </a:prstGeom>
          </p:spPr>
        </p:pic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BE14074E-AFC0-79BC-9BE2-A698F6E8F169}"/>
                </a:ext>
              </a:extLst>
            </p:cNvPr>
            <p:cNvSpPr/>
            <p:nvPr/>
          </p:nvSpPr>
          <p:spPr>
            <a:xfrm>
              <a:off x="6548396" y="2786742"/>
              <a:ext cx="222519" cy="304524"/>
            </a:xfrm>
            <a:prstGeom prst="rect">
              <a:avLst/>
            </a:prstGeom>
            <a:noFill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9498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0A534-D67B-4DCB-7498-ED90F50CD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53496-F811-2773-6997-250579946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260812-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92310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7FCE8-796F-FC8D-FB27-FB604A30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7C0F44A-DBCF-FBA2-A671-63C0F977C186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/>
              <a:t>게임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아래에 게임 등장 캐릭터 카드들로 재구성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위에서부터 한 줄 씩 배치</a:t>
            </a:r>
            <a:r>
              <a:rPr lang="en-US" altLang="ko-KR" sz="1200" b="1" dirty="0"/>
              <a:t>: [</a:t>
            </a:r>
            <a:r>
              <a:rPr lang="ko-KR" altLang="en-US" sz="1200" b="1" dirty="0"/>
              <a:t>기물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이름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사진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클래스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장수 성명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레벨</a:t>
            </a:r>
            <a:r>
              <a:rPr lang="en-US" altLang="ko-KR" sz="1200" b="1" dirty="0"/>
              <a:t>], [HP], [</a:t>
            </a:r>
            <a:r>
              <a:rPr lang="ko-KR" altLang="en-US" sz="1200" b="1" dirty="0"/>
              <a:t>대기시간</a:t>
            </a:r>
            <a:r>
              <a:rPr lang="en-US" altLang="ko-KR" sz="1200" b="1" dirty="0"/>
              <a:t>], [</a:t>
            </a:r>
            <a:r>
              <a:rPr lang="ko-KR" altLang="en-US" sz="1200" b="1" dirty="0"/>
              <a:t>고유기술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필요</a:t>
            </a:r>
            <a:r>
              <a:rPr lang="en-US" altLang="ko-KR" sz="1200" b="1" dirty="0"/>
              <a:t>SP)]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고유 기술 상태 </a:t>
            </a:r>
            <a:endParaRPr lang="en-US" altLang="ko-KR" sz="1200" b="1" dirty="0"/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주황색 </a:t>
            </a:r>
            <a:r>
              <a:rPr lang="en-US" altLang="ko-KR" sz="1200" b="1" dirty="0"/>
              <a:t>: SP</a:t>
            </a:r>
            <a:r>
              <a:rPr lang="ko-KR" altLang="en-US" sz="1200" b="1" dirty="0"/>
              <a:t>가 모자람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초록색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사용 준비됨</a:t>
            </a:r>
          </a:p>
          <a:p>
            <a:pPr marL="1200150" lvl="2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회색 </a:t>
            </a:r>
            <a:r>
              <a:rPr lang="en-US" altLang="ko-KR" sz="1200" b="1" dirty="0"/>
              <a:t>: </a:t>
            </a:r>
            <a:r>
              <a:rPr lang="ko-KR" altLang="en-US" sz="1200" b="1" dirty="0"/>
              <a:t>이미 사용함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캐릭터 대기 시간 </a:t>
            </a:r>
            <a:r>
              <a:rPr lang="en-US" altLang="ko-KR" sz="1200" b="1" dirty="0"/>
              <a:t>0</a:t>
            </a:r>
            <a:r>
              <a:rPr lang="ko-KR" altLang="en-US" sz="1200" b="1" dirty="0"/>
              <a:t> 되면 해당 캐릭터 카드에 포커스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전투 불능 상태가 되었을 때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퇴각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아이콘 표출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고유기술 버튼 </a:t>
            </a:r>
            <a:r>
              <a:rPr lang="en-US" altLang="ko-KR" sz="1200" b="1" dirty="0"/>
              <a:t>disabled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</a:t>
            </a:r>
            <a:r>
              <a:rPr lang="ko-KR" altLang="en-US" sz="1200" b="1" dirty="0" err="1"/>
              <a:t>대화창</a:t>
            </a:r>
            <a:r>
              <a:rPr lang="ko-KR" altLang="en-US" sz="1200" b="1" dirty="0"/>
              <a:t> 히스토리 확인 버튼</a:t>
            </a:r>
            <a:r>
              <a:rPr lang="en-US" altLang="ko-KR" sz="1200" b="1" dirty="0"/>
              <a:t>:</a:t>
            </a:r>
            <a:r>
              <a:rPr lang="ko-KR" altLang="en-US" sz="1200" b="1" dirty="0"/>
              <a:t> 오른쪽 상단으로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클릭했을 때 대화 목록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그 아래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항복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버튼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가장 상단에 절대시간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일수</a:t>
            </a:r>
            <a:r>
              <a:rPr lang="en-US" altLang="ko-KR" sz="1200" b="1" dirty="0"/>
              <a:t>),</a:t>
            </a:r>
            <a:r>
              <a:rPr lang="ko-KR" altLang="en-US" sz="1200" b="1" dirty="0"/>
              <a:t> 현재 차례 요약 텍스트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시스템 대화 메시지는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중앙에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북군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와 남군 </a:t>
            </a:r>
            <a:r>
              <a:rPr lang="en-US" altLang="ko-KR" sz="1200" b="1" dirty="0"/>
              <a:t>SP</a:t>
            </a:r>
            <a:r>
              <a:rPr lang="ko-KR" altLang="en-US" sz="1200" b="1" dirty="0"/>
              <a:t>는 각각 숫자로 표시</a:t>
            </a:r>
            <a:endParaRPr lang="en-US" altLang="ko-KR" sz="12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9DF9A85-5216-541C-D7F5-C7EA6CF5FE7E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667CCB6-6B36-CB8D-2F6F-2C2A7F8F4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3C7ACBD-58DF-286A-AA01-56AF02CF39E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31" name="말풍선: 사각형 30">
            <a:extLst>
              <a:ext uri="{FF2B5EF4-FFF2-40B4-BE49-F238E27FC236}">
                <a16:creationId xmlns:a16="http://schemas.microsoft.com/office/drawing/2014/main" id="{9FBFECDF-998A-F2A6-7959-18FDA13C9931}"/>
              </a:ext>
            </a:extLst>
          </p:cNvPr>
          <p:cNvSpPr/>
          <p:nvPr/>
        </p:nvSpPr>
        <p:spPr>
          <a:xfrm>
            <a:off x="4939089" y="3268320"/>
            <a:ext cx="2442526" cy="321360"/>
          </a:xfrm>
          <a:prstGeom prst="wedgeRectCallout">
            <a:avLst>
              <a:gd name="adj1" fmla="val -54826"/>
              <a:gd name="adj2" fmla="val 41288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sz="1200" dirty="0"/>
              <a:t>조운이 </a:t>
            </a:r>
            <a:r>
              <a:rPr lang="en-US" altLang="ko-KR" sz="1200" dirty="0"/>
              <a:t>‘</a:t>
            </a:r>
            <a:r>
              <a:rPr lang="ko-KR" altLang="en-US" sz="1200" dirty="0"/>
              <a:t>고유기술</a:t>
            </a:r>
            <a:r>
              <a:rPr lang="en-US" altLang="ko-KR" sz="1200" dirty="0"/>
              <a:t>’ </a:t>
            </a:r>
            <a:r>
              <a:rPr lang="ko-KR" altLang="en-US" sz="1200" dirty="0"/>
              <a:t>을 발동했다</a:t>
            </a:r>
            <a:r>
              <a:rPr lang="en-US" altLang="ko-KR" sz="1200" dirty="0"/>
              <a:t>!</a:t>
            </a:r>
            <a:endParaRPr lang="ko-KR" altLang="en-US" sz="12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155A873-22BF-405C-DB33-40C004B693ED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F78B6CFA-DA10-0D8E-A3F0-2CE5FD468906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B8A7CD67-9698-0604-870A-069A59BFADB0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8D71059B-0F22-CE2D-13FC-C61312208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D605D51-826E-7F4B-F21E-B2117130BE9D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9DA60CBA-43F0-0164-23DB-1880212F2678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7996E7C-7D85-CAF4-529F-63551E5DA51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AB75959C-3A7D-4320-31B3-499FA81A128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DF43EDE0-380C-307A-2FE4-D337DD979F9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BBE62FA1-FE6A-79F2-EF0F-4E3D0D268F55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F2DD024-4478-9B01-B9AB-7BEA72AF5890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A9F8F1D-09F8-A242-EF91-0951F9B65048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43049588-4177-9FE0-5279-679E691AA3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DDCB395B-FFAD-B6A7-5793-A1E3719D0356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3205625-B757-BD8F-6B3C-1AD82EC68FE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39270EF8-0F89-935A-C230-DF19CED938DC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04E7AFD7-F391-6632-AF78-4E7710BE665B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8C82910-A0F8-766C-3A36-64A703A95CD5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F81B1E2C-54B6-A1F4-033C-52B041618FDE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6A51DE12-5930-7446-A7C4-A1D03993AA88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8DCE1832-9FD2-3654-F98C-632731450F9A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000CF955-0DD1-3D6E-2296-758348B51C8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7B4E5A2-F71C-8BD4-96CA-0A5B5A08D1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60B97C51-FDC8-FAB1-CF5E-64D2E79091E9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3EFC028-1C98-A351-43A0-C4A3F951F29E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0397F413-7ACA-1C1F-33C6-490A7B21F0F6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C464D8B5-C585-CB6D-B822-F5E74B869F86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F5CE1F6-4368-819C-15DC-637E91A5D20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952A65F4-E22D-E8B8-1908-C1756D832DD3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7F5FB896-18E9-FE36-FDA3-CCE7C002BDEE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286A154-4C67-1EEA-E098-FBF6DDA925AA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74F6236-B711-6AF8-3DE0-5A35DEE1BBA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2D85F829-148C-8223-ADCB-7654BB45A34A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1FDC750C-8CB6-07C6-853A-19BD40B18EA2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46FEBF8-76A7-C809-448E-75B9635AF223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2E0A8C4B-F2A0-16C3-23EF-E0B392344B37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38E1B680-0B91-13C5-6225-62A99A6F3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44704454-61CF-400E-0A68-60B3986EF357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DFBFB059-1E06-8A80-8389-606135C2056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3EFBF5F-499F-AAD7-FD19-4DCDA88A0D5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4DBDE695-3302-B0C2-E002-13291DD54015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1BEB1A9B-F5D5-E409-2DCA-982B95114E6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ED0F1EAA-7E74-C790-2115-32BC1E586AF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9333A18F-FF0D-2B3D-D6F0-2F2CBF02311D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075A7335-D5E1-14F5-E82C-9130233321F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263C420D-F20E-32B4-024B-79E8A48FC7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32F10001-BD50-23F7-C679-0E7DFEDE024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7155B01A-2CFF-FEBA-0256-2CA65FCBB79B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A04C7AE3-7C3A-2CBE-B785-C9E6EB8AFE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D54629B-0C60-B463-FFC4-107F2B0E8C30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35E1AA4D-AF5B-4041-81C6-4D1B760FE2B3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1C67203F-730F-B997-32F3-D603F75FED5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B83D8FC3-CC24-56BB-E59A-D43DDE92367B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B2BC4826-C389-CA9E-31D8-9DAB8D903614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5FD13E4A-68A8-E554-91A1-2C910090910F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AD497F9B-2B92-FFFA-1C07-B4B81EBB90D6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0E9B2F79-CDFB-2729-1FF6-4718837825EA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575D8E67-C95A-76D6-9BD9-5C8D618644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09F17B39-3028-9168-03EE-10C825536F8D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222D279B-553D-1658-3C18-12C209759376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3CE082CE-5F91-C50B-47EF-D4F0E852F0AF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3E384C66-B69B-5904-8389-0D92C57EBB94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1A8634EF-574E-708A-CA14-AC049CB45F81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4BF69E3C-DD83-3D1E-0188-9CA7848E3F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6E41BF2-98BB-A7AE-A568-DDC0E96B7308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7973169A-005B-3930-1EAB-B4284A8221BD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99C34942-C1B8-1B8C-21F8-6478670295FE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1D1154C5-689A-85B3-ECF3-99438C52EC3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F3996EA2-D73C-AFF6-129A-0C4B9F8F2A1C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E945F5AF-972A-E3FD-5F58-57DAC731AA92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3D815451-504E-C665-4117-3853EBBA1A6D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B2C5C4F5-5994-B967-F835-AAEE7E40ACE0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0D05BD6F-2A66-B054-083E-2112AC7E38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C3C40FCC-68D8-350D-1E9E-B2652F9887F9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1FAEA3CA-A2A1-757C-3994-1370C44B3E15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70CFF038-8FDC-10C6-BE60-628488C2519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537C615-6530-03BF-8785-3D9091D89B2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192E61A6-D35B-4332-0947-4926F51008CF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143485EC-002F-D71B-6B52-7F3B25EF1BB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7E05192-D3C6-406A-CEC3-AA407D8552AB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43597062-90C7-EB9A-73E7-607EF35A61A3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40163059-2314-AA35-E030-4C46DFC3B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4079C9E-7DED-88CD-7C9C-D0241FA7306C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1A72D961-08F8-87BE-0750-DCA88347B742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A8CD09B-6874-94E5-5E07-12E0EF59FD1A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65E05C5A-CE57-2FBF-57D7-9440CAC8DA57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69002450-D995-1C03-BDCD-79ABF743BC3B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7CFEC1B8-BFDE-7F31-3071-E3336E832E8D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A54D251-1BB7-3C2A-7F52-149CE272D9C2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87C4A9A9-C908-9324-B360-D2675FFFC94E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4A9889B-69CA-A0B2-A8AB-F237426A1AF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ED37F38B-974D-F75B-C3CD-1CE7CF804913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FB3295C-1FAF-0D0F-017F-94BFC7172CAC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3587E74F-142D-D858-68EE-D3BEDDDA2134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78397E71-D97B-7AC4-8F9C-6FD514762A17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09017FCE-EDE0-354C-ED7F-2DEED28527C4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DA29DA8-D457-167C-FF7E-CA92E0483BF2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2524A579-6AEF-5B6C-D944-D8D94F219132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83D2695E-34E6-4890-4928-EFFBD8828905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3FCB5700-D61C-49B5-3042-109972C112A4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AECD8BBC-2AE9-312E-B223-9A74BF2D96C2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1C90A25F-8D41-7694-3549-609051A7F75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E8FFF7E8-04A3-B4BB-0E63-108CF192CEF4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263C70A0-D6EB-5658-6E95-787C111E0DCF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F12DCF9-55E4-BA50-AB01-7A9D2ED306E9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BCFE1951-F886-DE4B-7D26-5E84BA495AAE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19A770AD-4922-A392-109B-CE7D36DF57F6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19A8FBB2-33E4-E387-8168-1E107615279F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ED98BBB5-2A33-BE09-8032-DD33701470D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10E6547-144C-8535-BB48-8A93E3A13149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5009062-CB4E-9BD3-C8C4-1571D592CDF7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5708CF6-222F-3442-A700-CA888E6FBB94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sp>
        <p:nvSpPr>
          <p:cNvPr id="45" name="순서도: 수행의 시작/종료 44">
            <a:extLst>
              <a:ext uri="{FF2B5EF4-FFF2-40B4-BE49-F238E27FC236}">
                <a16:creationId xmlns:a16="http://schemas.microsoft.com/office/drawing/2014/main" id="{25083050-AB33-32E7-7777-7B130FFBF072}"/>
              </a:ext>
            </a:extLst>
          </p:cNvPr>
          <p:cNvSpPr/>
          <p:nvPr/>
        </p:nvSpPr>
        <p:spPr>
          <a:xfrm>
            <a:off x="9360419" y="2209958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1" dirty="0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8BFAE18B-5963-4A71-4853-44446294937E}"/>
              </a:ext>
            </a:extLst>
          </p:cNvPr>
          <p:cNvGrpSpPr/>
          <p:nvPr/>
        </p:nvGrpSpPr>
        <p:grpSpPr>
          <a:xfrm>
            <a:off x="7934499" y="932910"/>
            <a:ext cx="903942" cy="1600957"/>
            <a:chOff x="8086660" y="3733800"/>
            <a:chExt cx="903942" cy="1600957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7181E7A4-EB14-AA25-CADF-597506C35E5E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9" name="그림 48">
              <a:extLst>
                <a:ext uri="{FF2B5EF4-FFF2-40B4-BE49-F238E27FC236}">
                  <a16:creationId xmlns:a16="http://schemas.microsoft.com/office/drawing/2014/main" id="{2D6746ED-A4EE-3846-D32A-E55C262BF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22F48091-13AA-0B14-29F1-F3F3CE1CF855}"/>
                </a:ext>
              </a:extLst>
            </p:cNvPr>
            <p:cNvSpPr txBox="1"/>
            <p:nvPr/>
          </p:nvSpPr>
          <p:spPr>
            <a:xfrm>
              <a:off x="8135976" y="3761503"/>
              <a:ext cx="854625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기물 이름</a:t>
              </a:r>
              <a:r>
                <a:rPr lang="en-US" altLang="ko-KR" sz="900" b="1" dirty="0"/>
                <a:t>]</a:t>
              </a:r>
              <a:endParaRPr lang="ko-KR" altLang="en-US" sz="900" b="1" dirty="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7D512FA-4065-16B5-40EC-DA76E94C91BC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900" b="1" dirty="0"/>
                <a:t>[</a:t>
              </a:r>
              <a:r>
                <a:rPr lang="ko-KR" altLang="en-US" sz="900" b="1" dirty="0"/>
                <a:t>성명  </a:t>
              </a:r>
              <a:r>
                <a:rPr lang="en-US" altLang="ko-KR" sz="900" b="1" dirty="0"/>
                <a:t>Lv.0]</a:t>
              </a:r>
              <a:endParaRPr lang="ko-KR" altLang="en-US" sz="900" b="1" dirty="0"/>
            </a:p>
          </p:txBody>
        </p:sp>
        <p:sp>
          <p:nvSpPr>
            <p:cNvPr id="54" name="순서도: 수행의 시작/종료 53">
              <a:extLst>
                <a:ext uri="{FF2B5EF4-FFF2-40B4-BE49-F238E27FC236}">
                  <a16:creationId xmlns:a16="http://schemas.microsoft.com/office/drawing/2014/main" id="{B1BE290E-719D-22BE-E053-1F100BA7FC46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b="1" dirty="0"/>
                <a:t>10</a:t>
              </a:r>
              <a:endParaRPr lang="ko-KR" altLang="en-US" sz="1100" b="1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DEF5A6B-754C-B437-6F19-4A53474DBC53}"/>
                </a:ext>
              </a:extLst>
            </p:cNvPr>
            <p:cNvSpPr txBox="1"/>
            <p:nvPr/>
          </p:nvSpPr>
          <p:spPr>
            <a:xfrm>
              <a:off x="8086660" y="4957062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b="1" dirty="0"/>
                <a:t>HP</a:t>
              </a:r>
              <a:endParaRPr lang="ko-KR" altLang="en-US" sz="800" b="1" dirty="0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5D177F-9EBF-78DB-B6B2-8719C6104305}"/>
                </a:ext>
              </a:extLst>
            </p:cNvPr>
            <p:cNvSpPr txBox="1"/>
            <p:nvPr/>
          </p:nvSpPr>
          <p:spPr>
            <a:xfrm>
              <a:off x="8086660" y="5119313"/>
              <a:ext cx="38984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b="1" dirty="0"/>
                <a:t>대기</a:t>
              </a:r>
            </a:p>
          </p:txBody>
        </p:sp>
        <p:sp>
          <p:nvSpPr>
            <p:cNvPr id="59" name="순서도: 수행의 시작/종료 58">
              <a:extLst>
                <a:ext uri="{FF2B5EF4-FFF2-40B4-BE49-F238E27FC236}">
                  <a16:creationId xmlns:a16="http://schemas.microsoft.com/office/drawing/2014/main" id="{CFABAB15-FB16-BAFA-767B-3E1819222CE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X </a:t>
              </a:r>
              <a:r>
                <a:rPr lang="ko-KR" altLang="en-US" sz="700" b="1" dirty="0"/>
                <a:t>일</a:t>
              </a:r>
              <a:endParaRPr lang="ko-KR" altLang="en-US" sz="1100" b="1" dirty="0"/>
            </a:p>
          </p:txBody>
        </p:sp>
      </p:grp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9E38D05-D334-7D84-0A59-180BE80A831C}"/>
              </a:ext>
            </a:extLst>
          </p:cNvPr>
          <p:cNvSpPr/>
          <p:nvPr/>
        </p:nvSpPr>
        <p:spPr>
          <a:xfrm>
            <a:off x="9058517" y="932910"/>
            <a:ext cx="859971" cy="160095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2" name="그림 61">
            <a:extLst>
              <a:ext uri="{FF2B5EF4-FFF2-40B4-BE49-F238E27FC236}">
                <a16:creationId xmlns:a16="http://schemas.microsoft.com/office/drawing/2014/main" id="{E962AD74-B656-DAFD-B74D-10B8170986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799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1452E07-F582-1137-BA99-EDB99FA90275}"/>
              </a:ext>
            </a:extLst>
          </p:cNvPr>
          <p:cNvSpPr txBox="1"/>
          <p:nvPr/>
        </p:nvSpPr>
        <p:spPr>
          <a:xfrm>
            <a:off x="9063862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44B07C9-5B0D-788E-1FE0-CF2607894BFE}"/>
              </a:ext>
            </a:extLst>
          </p:cNvPr>
          <p:cNvSpPr txBox="1"/>
          <p:nvPr/>
        </p:nvSpPr>
        <p:spPr>
          <a:xfrm>
            <a:off x="9098657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66" name="순서도: 수행의 시작/종료 65">
            <a:extLst>
              <a:ext uri="{FF2B5EF4-FFF2-40B4-BE49-F238E27FC236}">
                <a16:creationId xmlns:a16="http://schemas.microsoft.com/office/drawing/2014/main" id="{B08195EF-F6D7-5306-A5E7-60762F1D0850}"/>
              </a:ext>
            </a:extLst>
          </p:cNvPr>
          <p:cNvSpPr/>
          <p:nvPr/>
        </p:nvSpPr>
        <p:spPr>
          <a:xfrm>
            <a:off x="9360420" y="2214480"/>
            <a:ext cx="305734" cy="110683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4</a:t>
            </a:r>
            <a:endParaRPr lang="ko-KR" altLang="en-US" sz="1100" b="1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EE8B804-49F6-F3A1-25B5-5402A6439F00}"/>
              </a:ext>
            </a:extLst>
          </p:cNvPr>
          <p:cNvSpPr txBox="1"/>
          <p:nvPr/>
        </p:nvSpPr>
        <p:spPr>
          <a:xfrm>
            <a:off x="9014546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831F347-9079-87CB-BE73-7F745D3394B6}"/>
              </a:ext>
            </a:extLst>
          </p:cNvPr>
          <p:cNvSpPr txBox="1"/>
          <p:nvPr/>
        </p:nvSpPr>
        <p:spPr>
          <a:xfrm>
            <a:off x="9019891" y="2321579"/>
            <a:ext cx="3845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b="1" dirty="0"/>
              <a:t>대기</a:t>
            </a:r>
          </a:p>
        </p:txBody>
      </p:sp>
      <p:sp>
        <p:nvSpPr>
          <p:cNvPr id="69" name="순서도: 수행의 시작/종료 68">
            <a:extLst>
              <a:ext uri="{FF2B5EF4-FFF2-40B4-BE49-F238E27FC236}">
                <a16:creationId xmlns:a16="http://schemas.microsoft.com/office/drawing/2014/main" id="{33401A3A-3C27-1EA4-1426-E68BB9DAB35F}"/>
              </a:ext>
            </a:extLst>
          </p:cNvPr>
          <p:cNvSpPr/>
          <p:nvPr/>
        </p:nvSpPr>
        <p:spPr>
          <a:xfrm>
            <a:off x="9360419" y="2356875"/>
            <a:ext cx="517927" cy="115416"/>
          </a:xfrm>
          <a:prstGeom prst="flowChartTerminator">
            <a:avLst/>
          </a:prstGeom>
          <a:solidFill>
            <a:srgbClr val="00B05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b="1" dirty="0"/>
              <a:t>차례</a:t>
            </a:r>
            <a:endParaRPr lang="ko-KR" altLang="en-US" sz="1100" b="1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66B04C-530C-4BA1-903E-253A3B5D53C6}"/>
              </a:ext>
            </a:extLst>
          </p:cNvPr>
          <p:cNvSpPr txBox="1"/>
          <p:nvPr/>
        </p:nvSpPr>
        <p:spPr>
          <a:xfrm>
            <a:off x="8914821" y="552161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현재 차례</a:t>
            </a:r>
            <a:endParaRPr lang="ko-KR" altLang="en-US" sz="14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434760B-5733-6EE7-1C36-AC9E2266A884}"/>
              </a:ext>
            </a:extLst>
          </p:cNvPr>
          <p:cNvSpPr txBox="1"/>
          <p:nvPr/>
        </p:nvSpPr>
        <p:spPr>
          <a:xfrm>
            <a:off x="7834774" y="549000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대기 중</a:t>
            </a:r>
            <a:endParaRPr lang="ko-KR" altLang="en-US" sz="1400" dirty="0"/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B473DB83-EDC6-754F-2073-19CE44CE1EB1}"/>
              </a:ext>
            </a:extLst>
          </p:cNvPr>
          <p:cNvSpPr/>
          <p:nvPr/>
        </p:nvSpPr>
        <p:spPr>
          <a:xfrm>
            <a:off x="7978469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순서도: 수행의 시작/종료 72">
            <a:extLst>
              <a:ext uri="{FF2B5EF4-FFF2-40B4-BE49-F238E27FC236}">
                <a16:creationId xmlns:a16="http://schemas.microsoft.com/office/drawing/2014/main" id="{4A263150-324B-D164-C783-0D5C5C37AA65}"/>
              </a:ext>
            </a:extLst>
          </p:cNvPr>
          <p:cNvSpPr/>
          <p:nvPr/>
        </p:nvSpPr>
        <p:spPr>
          <a:xfrm>
            <a:off x="8070268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CD7ECE0-07CC-4184-EDA8-39FCD50092C7}"/>
              </a:ext>
            </a:extLst>
          </p:cNvPr>
          <p:cNvSpPr txBox="1"/>
          <p:nvPr/>
        </p:nvSpPr>
        <p:spPr>
          <a:xfrm>
            <a:off x="7922640" y="3060660"/>
            <a:ext cx="211059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b="1" dirty="0"/>
              <a:t>고유기술 </a:t>
            </a:r>
            <a:r>
              <a:rPr lang="en-US" altLang="ko-KR" sz="1100" b="1" dirty="0"/>
              <a:t>:</a:t>
            </a:r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주황색 </a:t>
            </a:r>
            <a:r>
              <a:rPr lang="en-US" altLang="ko-KR" sz="1100" b="1" dirty="0"/>
              <a:t>: SP</a:t>
            </a:r>
            <a:r>
              <a:rPr lang="ko-KR" altLang="en-US" sz="1100" b="1" dirty="0"/>
              <a:t>가 모자람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초록색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사용 준비됨</a:t>
            </a:r>
            <a:endParaRPr lang="en-US" altLang="ko-KR" sz="1100" b="1" dirty="0"/>
          </a:p>
          <a:p>
            <a:pPr marL="285750" indent="-285750">
              <a:buFontTx/>
              <a:buChar char="-"/>
            </a:pPr>
            <a:r>
              <a:rPr lang="ko-KR" altLang="en-US" sz="1100" b="1" dirty="0"/>
              <a:t>회색 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이미 사용함</a:t>
            </a:r>
            <a:endParaRPr lang="ko-KR" altLang="en-US" sz="1100" dirty="0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CDC37E67-81FC-44FC-3272-6BA36DC73A8F}"/>
              </a:ext>
            </a:extLst>
          </p:cNvPr>
          <p:cNvSpPr/>
          <p:nvPr/>
        </p:nvSpPr>
        <p:spPr>
          <a:xfrm>
            <a:off x="9058517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순서도: 수행의 시작/종료 78">
            <a:extLst>
              <a:ext uri="{FF2B5EF4-FFF2-40B4-BE49-F238E27FC236}">
                <a16:creationId xmlns:a16="http://schemas.microsoft.com/office/drawing/2014/main" id="{98F918B1-4176-FEA8-F361-54FABA1A111B}"/>
              </a:ext>
            </a:extLst>
          </p:cNvPr>
          <p:cNvSpPr/>
          <p:nvPr/>
        </p:nvSpPr>
        <p:spPr>
          <a:xfrm>
            <a:off x="9150316" y="2629205"/>
            <a:ext cx="691183" cy="141059"/>
          </a:xfrm>
          <a:prstGeom prst="flowChartTerminator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0E3F1BA7-DBAB-C7CD-359D-C36C542DE311}"/>
              </a:ext>
            </a:extLst>
          </p:cNvPr>
          <p:cNvSpPr/>
          <p:nvPr/>
        </p:nvSpPr>
        <p:spPr>
          <a:xfrm>
            <a:off x="10152976" y="932910"/>
            <a:ext cx="859971" cy="16009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3" name="그림 82">
            <a:extLst>
              <a:ext uri="{FF2B5EF4-FFF2-40B4-BE49-F238E27FC236}">
                <a16:creationId xmlns:a16="http://schemas.microsoft.com/office/drawing/2014/main" id="{8540DB16-ECF8-ECDD-EB26-EA7EB5C2CC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3258" y="1236632"/>
            <a:ext cx="702038" cy="702038"/>
          </a:xfrm>
          <a:prstGeom prst="rect">
            <a:avLst/>
          </a:prstGeom>
          <a:ln>
            <a:solidFill>
              <a:schemeClr val="tx2"/>
            </a:solidFill>
          </a:ln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8E28833B-2FDF-83EB-E4E8-B9DDC74FC73B}"/>
              </a:ext>
            </a:extLst>
          </p:cNvPr>
          <p:cNvSpPr txBox="1"/>
          <p:nvPr/>
        </p:nvSpPr>
        <p:spPr>
          <a:xfrm>
            <a:off x="10158321" y="960613"/>
            <a:ext cx="8546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기물 이름</a:t>
            </a:r>
            <a:r>
              <a:rPr lang="en-US" altLang="ko-KR" sz="900" b="1" dirty="0"/>
              <a:t>]</a:t>
            </a:r>
            <a:endParaRPr lang="ko-KR" altLang="en-US" sz="900" b="1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3729056-447A-6B0E-B897-D574B2196218}"/>
              </a:ext>
            </a:extLst>
          </p:cNvPr>
          <p:cNvSpPr txBox="1"/>
          <p:nvPr/>
        </p:nvSpPr>
        <p:spPr>
          <a:xfrm>
            <a:off x="10193116" y="1975706"/>
            <a:ext cx="7796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b="1" dirty="0"/>
              <a:t>[</a:t>
            </a:r>
            <a:r>
              <a:rPr lang="ko-KR" altLang="en-US" sz="900" b="1" dirty="0"/>
              <a:t>성명  </a:t>
            </a:r>
            <a:r>
              <a:rPr lang="en-US" altLang="ko-KR" sz="900" b="1" dirty="0"/>
              <a:t>Lv.0]</a:t>
            </a:r>
            <a:endParaRPr lang="ko-KR" altLang="en-US" sz="9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2AFB8D9-C0CD-62C5-C5FA-EE344B310864}"/>
              </a:ext>
            </a:extLst>
          </p:cNvPr>
          <p:cNvSpPr txBox="1"/>
          <p:nvPr/>
        </p:nvSpPr>
        <p:spPr>
          <a:xfrm>
            <a:off x="10109005" y="2156172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/>
              <a:t>HP</a:t>
            </a:r>
            <a:endParaRPr lang="ko-KR" altLang="en-US" sz="800" b="1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707057-D79C-80AA-B20C-B98D7E0C00D3}"/>
              </a:ext>
            </a:extLst>
          </p:cNvPr>
          <p:cNvSpPr txBox="1"/>
          <p:nvPr/>
        </p:nvSpPr>
        <p:spPr>
          <a:xfrm>
            <a:off x="10109005" y="2318423"/>
            <a:ext cx="38984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b="1" dirty="0"/>
              <a:t>대기</a:t>
            </a:r>
          </a:p>
        </p:txBody>
      </p:sp>
      <p:sp>
        <p:nvSpPr>
          <p:cNvPr id="90" name="순서도: 수행의 시작/종료 89">
            <a:extLst>
              <a:ext uri="{FF2B5EF4-FFF2-40B4-BE49-F238E27FC236}">
                <a16:creationId xmlns:a16="http://schemas.microsoft.com/office/drawing/2014/main" id="{D060C34C-CAAF-4024-213A-8E8A6C5C127E}"/>
              </a:ext>
            </a:extLst>
          </p:cNvPr>
          <p:cNvSpPr/>
          <p:nvPr/>
        </p:nvSpPr>
        <p:spPr>
          <a:xfrm>
            <a:off x="10454878" y="2368437"/>
            <a:ext cx="517927" cy="115416"/>
          </a:xfrm>
          <a:prstGeom prst="flowChartTerminator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b="1" dirty="0"/>
              <a:t>X </a:t>
            </a:r>
            <a:r>
              <a:rPr lang="ko-KR" altLang="en-US" sz="700" b="1" dirty="0"/>
              <a:t>일</a:t>
            </a:r>
            <a:endParaRPr lang="ko-KR" altLang="en-US" sz="1100" b="1" dirty="0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1A595FAE-2353-7873-FBD2-C5C91A51107D}"/>
              </a:ext>
            </a:extLst>
          </p:cNvPr>
          <p:cNvSpPr/>
          <p:nvPr/>
        </p:nvSpPr>
        <p:spPr>
          <a:xfrm>
            <a:off x="10152975" y="2601031"/>
            <a:ext cx="859971" cy="2143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순서도: 수행의 시작/종료 91">
            <a:extLst>
              <a:ext uri="{FF2B5EF4-FFF2-40B4-BE49-F238E27FC236}">
                <a16:creationId xmlns:a16="http://schemas.microsoft.com/office/drawing/2014/main" id="{F4233462-1C46-9769-BFB1-783026E24DDE}"/>
              </a:ext>
            </a:extLst>
          </p:cNvPr>
          <p:cNvSpPr/>
          <p:nvPr/>
        </p:nvSpPr>
        <p:spPr>
          <a:xfrm>
            <a:off x="10244774" y="2629205"/>
            <a:ext cx="691183" cy="141059"/>
          </a:xfrm>
          <a:prstGeom prst="flowChartTerminator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600" b="1" dirty="0"/>
              <a:t>고유기술</a:t>
            </a:r>
            <a:r>
              <a:rPr lang="en-US" altLang="ko-KR" sz="600" b="1" dirty="0"/>
              <a:t>(SP)</a:t>
            </a:r>
            <a:endParaRPr lang="ko-KR" altLang="en-US" sz="900" b="1" dirty="0"/>
          </a:p>
        </p:txBody>
      </p:sp>
      <p:sp>
        <p:nvSpPr>
          <p:cNvPr id="93" name="순서도: 수행의 시작/종료 92">
            <a:extLst>
              <a:ext uri="{FF2B5EF4-FFF2-40B4-BE49-F238E27FC236}">
                <a16:creationId xmlns:a16="http://schemas.microsoft.com/office/drawing/2014/main" id="{D0459280-E548-444A-BC24-11B09C367BD1}"/>
              </a:ext>
            </a:extLst>
          </p:cNvPr>
          <p:cNvSpPr/>
          <p:nvPr/>
        </p:nvSpPr>
        <p:spPr>
          <a:xfrm>
            <a:off x="10429058" y="2206163"/>
            <a:ext cx="517927" cy="115416"/>
          </a:xfrm>
          <a:prstGeom prst="flowChartTerminator">
            <a:avLst/>
          </a:prstGeom>
          <a:solidFill>
            <a:srgbClr val="C00000"/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/>
              <a:t>0</a:t>
            </a:r>
            <a:endParaRPr lang="ko-KR" altLang="en-US" sz="11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C7BFA60-25B8-8952-B85C-BD1E7591373C}"/>
              </a:ext>
            </a:extLst>
          </p:cNvPr>
          <p:cNvSpPr txBox="1"/>
          <p:nvPr/>
        </p:nvSpPr>
        <p:spPr>
          <a:xfrm>
            <a:off x="10088532" y="557969"/>
            <a:ext cx="10036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/>
              <a:t>퇴각</a:t>
            </a:r>
            <a:endParaRPr lang="ko-KR" altLang="en-US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D1BABF1-16D0-971C-860E-4F9023AC1ACA}"/>
              </a:ext>
            </a:extLst>
          </p:cNvPr>
          <p:cNvSpPr txBox="1"/>
          <p:nvPr/>
        </p:nvSpPr>
        <p:spPr>
          <a:xfrm rot="18900000">
            <a:off x="10228787" y="1429686"/>
            <a:ext cx="7370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[</a:t>
            </a:r>
            <a:r>
              <a:rPr lang="ko-KR" altLang="en-US" sz="1400" b="1" dirty="0">
                <a:solidFill>
                  <a:srgbClr val="FF0000"/>
                </a:solidFill>
              </a:rPr>
              <a:t>퇴각</a:t>
            </a:r>
            <a:r>
              <a:rPr lang="en-US" altLang="ko-KR" sz="1400" b="1" dirty="0">
                <a:solidFill>
                  <a:srgbClr val="FF0000"/>
                </a:solidFill>
              </a:rPr>
              <a:t>] </a:t>
            </a:r>
            <a:endParaRPr lang="ko-KR" altLang="en-US" dirty="0">
              <a:solidFill>
                <a:srgbClr val="FF0000"/>
              </a:solidFill>
            </a:endParaRPr>
          </a:p>
        </p:txBody>
      </p: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5D47A91A-A862-3A3C-EEF0-E1D0F30E7061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C8F21822-FAC9-C332-9CCA-774EF3B8C13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F3983A7-95A7-9196-20FF-50BA938DDBC2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3805595D-83F9-711A-420E-3A0A9EF188FD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14BF13FA-982C-B50F-B383-97A56F75652C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CFBD5EF-02FC-A4AF-3A01-A3F8B4F4A0E2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BF50DE4D-4D85-4CBF-5EE7-0B3376ED6951}"/>
              </a:ext>
            </a:extLst>
          </p:cNvPr>
          <p:cNvSpPr/>
          <p:nvPr/>
        </p:nvSpPr>
        <p:spPr>
          <a:xfrm>
            <a:off x="8534400" y="4273550"/>
            <a:ext cx="1920478" cy="14257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968E44B3-B83D-D743-46B3-03ACFC229F0D}"/>
              </a:ext>
            </a:extLst>
          </p:cNvPr>
          <p:cNvCxnSpPr>
            <a:stCxn id="228" idx="2"/>
            <a:endCxn id="112" idx="1"/>
          </p:cNvCxnSpPr>
          <p:nvPr/>
        </p:nvCxnSpPr>
        <p:spPr>
          <a:xfrm>
            <a:off x="7315342" y="846338"/>
            <a:ext cx="1219058" cy="414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말풍선: 사각형 115">
            <a:extLst>
              <a:ext uri="{FF2B5EF4-FFF2-40B4-BE49-F238E27FC236}">
                <a16:creationId xmlns:a16="http://schemas.microsoft.com/office/drawing/2014/main" id="{CBBFB981-3792-5514-827F-B76E9A3291D2}"/>
              </a:ext>
            </a:extLst>
          </p:cNvPr>
          <p:cNvSpPr/>
          <p:nvPr/>
        </p:nvSpPr>
        <p:spPr>
          <a:xfrm>
            <a:off x="8671686" y="4404157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18" name="말풍선: 사각형 117">
            <a:extLst>
              <a:ext uri="{FF2B5EF4-FFF2-40B4-BE49-F238E27FC236}">
                <a16:creationId xmlns:a16="http://schemas.microsoft.com/office/drawing/2014/main" id="{68F861E5-51BC-ABFA-B024-959100195C47}"/>
              </a:ext>
            </a:extLst>
          </p:cNvPr>
          <p:cNvSpPr/>
          <p:nvPr/>
        </p:nvSpPr>
        <p:spPr>
          <a:xfrm>
            <a:off x="8671686" y="4690584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0" name="말풍선: 사각형 119">
            <a:extLst>
              <a:ext uri="{FF2B5EF4-FFF2-40B4-BE49-F238E27FC236}">
                <a16:creationId xmlns:a16="http://schemas.microsoft.com/office/drawing/2014/main" id="{30AB0819-EDE8-534A-E80C-6EA52E1B390A}"/>
              </a:ext>
            </a:extLst>
          </p:cNvPr>
          <p:cNvSpPr/>
          <p:nvPr/>
        </p:nvSpPr>
        <p:spPr>
          <a:xfrm>
            <a:off x="8684911" y="4986433"/>
            <a:ext cx="1573088" cy="218209"/>
          </a:xfrm>
          <a:prstGeom prst="wedgeRectCallout">
            <a:avLst>
              <a:gd name="adj1" fmla="val -54826"/>
              <a:gd name="adj2" fmla="val 41288"/>
            </a:avLst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r>
              <a:rPr lang="ko-KR" altLang="en-US" sz="1050" dirty="0"/>
              <a:t>조운이 </a:t>
            </a:r>
            <a:r>
              <a:rPr lang="en-US" altLang="ko-KR" sz="1050" dirty="0"/>
              <a:t>‘</a:t>
            </a:r>
            <a:r>
              <a:rPr lang="ko-KR" altLang="en-US" sz="1050" dirty="0"/>
              <a:t>고유기술</a:t>
            </a:r>
            <a:r>
              <a:rPr lang="en-US" altLang="ko-KR" sz="1050" dirty="0"/>
              <a:t>’ …</a:t>
            </a:r>
            <a:endParaRPr lang="ko-KR" altLang="en-US" sz="1050" dirty="0"/>
          </a:p>
        </p:txBody>
      </p:sp>
      <p:sp>
        <p:nvSpPr>
          <p:cNvPr id="122" name="곱하기 기호 121">
            <a:extLst>
              <a:ext uri="{FF2B5EF4-FFF2-40B4-BE49-F238E27FC236}">
                <a16:creationId xmlns:a16="http://schemas.microsoft.com/office/drawing/2014/main" id="{247DF0E9-BDB0-905D-37E3-B9844AC353AD}"/>
              </a:ext>
            </a:extLst>
          </p:cNvPr>
          <p:cNvSpPr/>
          <p:nvPr/>
        </p:nvSpPr>
        <p:spPr>
          <a:xfrm>
            <a:off x="10138296" y="4273550"/>
            <a:ext cx="290762" cy="350625"/>
          </a:xfrm>
          <a:prstGeom prst="mathMultiply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33" name="순서도: 수행의 시작/종료 132">
            <a:extLst>
              <a:ext uri="{FF2B5EF4-FFF2-40B4-BE49-F238E27FC236}">
                <a16:creationId xmlns:a16="http://schemas.microsoft.com/office/drawing/2014/main" id="{1C159B58-5356-9F7A-9273-5E745A5A67B8}"/>
              </a:ext>
            </a:extLst>
          </p:cNvPr>
          <p:cNvSpPr/>
          <p:nvPr/>
        </p:nvSpPr>
        <p:spPr>
          <a:xfrm>
            <a:off x="8644699" y="5448355"/>
            <a:ext cx="1670967" cy="173013"/>
          </a:xfrm>
          <a:prstGeom prst="flowChartTerminator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항복</a:t>
            </a:r>
          </a:p>
        </p:txBody>
      </p:sp>
    </p:spTree>
    <p:extLst>
      <p:ext uri="{BB962C8B-B14F-4D97-AF65-F5344CB8AC3E}">
        <p14:creationId xmlns:p14="http://schemas.microsoft.com/office/powerpoint/2010/main" val="15498039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DF47-4933-8E84-C856-1D541110B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2812C6C-FE44-5E52-8829-14045B220394}"/>
              </a:ext>
            </a:extLst>
          </p:cNvPr>
          <p:cNvSpPr txBox="1"/>
          <p:nvPr/>
        </p:nvSpPr>
        <p:spPr>
          <a:xfrm>
            <a:off x="404038" y="341501"/>
            <a:ext cx="4098112" cy="51810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체스판</a:t>
            </a:r>
            <a:r>
              <a:rPr lang="ko-KR" altLang="en-US" b="1" dirty="0"/>
              <a:t> 확대</a:t>
            </a:r>
            <a:r>
              <a:rPr lang="en-US" altLang="ko-KR" b="1" dirty="0"/>
              <a:t>/</a:t>
            </a:r>
            <a:r>
              <a:rPr lang="ko-KR" altLang="en-US" b="1" dirty="0"/>
              <a:t>축소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100% </a:t>
            </a:r>
            <a:r>
              <a:rPr lang="ko-KR" altLang="en-US" sz="1200" b="1" dirty="0"/>
              <a:t>확대 비율로 표시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아군이 이동할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또는 아군의 턴도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적군의 턴도 아닌 채 시간이 흐를 때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포커스 </a:t>
            </a:r>
            <a:r>
              <a:rPr lang="en-US" altLang="ko-KR" sz="1200" b="1" dirty="0"/>
              <a:t>(200% </a:t>
            </a:r>
            <a:r>
              <a:rPr lang="ko-KR" altLang="en-US" sz="1200" b="1" dirty="0"/>
              <a:t>확대 비율로 표시</a:t>
            </a:r>
            <a:r>
              <a:rPr lang="en-US" altLang="ko-KR" sz="1200" b="1" dirty="0"/>
              <a:t>, 2</a:t>
            </a:r>
            <a:r>
              <a:rPr lang="ko-KR" altLang="en-US" sz="1200" b="1" dirty="0"/>
              <a:t>배로 줌인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적군이나 아군의 캐릭터가 공격할 때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피격되는 대상을 중심으로 확대 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장료의</a:t>
            </a:r>
            <a:r>
              <a:rPr lang="ko-KR" altLang="en-US" sz="1200" b="1" dirty="0"/>
              <a:t> </a:t>
            </a:r>
            <a:r>
              <a:rPr lang="ko-KR" altLang="en-US" sz="1200" b="1" dirty="0" err="1"/>
              <a:t>장료지제</a:t>
            </a:r>
            <a:r>
              <a:rPr lang="ko-KR" altLang="en-US" sz="1200" b="1" dirty="0"/>
              <a:t> 처럼 여러 사람이 공격받는 상황에서는 확대된 포커스를 이동하면서 피격 장면을 보여줘야 할 것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책략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명상을 사용할 때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시전자를 확대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내 캐릭터의 차례가 되어 포커스를 받았을 때</a:t>
            </a:r>
            <a:r>
              <a:rPr lang="en-US" altLang="ko-KR" sz="1200" b="1" dirty="0"/>
              <a:t>,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사용자가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바깥에 적군 카드나 아군 카드를 클릭했을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해당 캐릭터가 있는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위치로 이동하면서 상태 팝업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줌인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줌아웃</a:t>
            </a:r>
            <a:r>
              <a:rPr lang="ko-KR" altLang="en-US" sz="1200" b="1" dirty="0"/>
              <a:t> 할 때는 갑자기 한번에 조절해서 보여주지 말고</a:t>
            </a:r>
            <a:r>
              <a:rPr lang="en-US" altLang="ko-KR" sz="1200" b="1" dirty="0"/>
              <a:t>,</a:t>
            </a:r>
            <a:r>
              <a:rPr lang="ko-KR" altLang="en-US" sz="1200" b="1" dirty="0"/>
              <a:t> 확대 비율과 보여줄 위치 조정하면서 부드럽게 포커스 이동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C3B5C7F-E761-FFD6-97E0-05F7D5A6188F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4CDF563-C228-C432-4B63-6CCC1C8F4E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11B16C8-141F-EBE6-2998-6B13F83A14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EBEE95-3449-E2D0-BCBA-8BD1DEA8C3B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D15ABC45-EC54-ABCF-EE61-132BB5457B8A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A7A7C771-B64F-7B50-0147-ADC489F26513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9DA79897-FBDD-EE68-B361-873369DCBF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EAF08B54-5351-49FE-1A12-9223746E33A8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BB2AE643-1F87-65D7-D3F8-3758B2268C79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93BB2082-BAE6-803A-1967-E7D07EA782FF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7DC48FD1-9ACC-CD92-DB87-FCF5576B73F8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90B9152-7B88-F679-64C7-EC9F2DC826B5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A6F8ECEE-4F1C-32F9-F369-5FE3EEF2FA00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DB5BF18-68EE-FE67-44DE-BACFB8F3AB39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553E8881-0780-548A-5253-2A18D6928076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20DE9C8-BD03-1644-D039-FB1B5C3826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E7B6F1B3-0EBD-A8B1-BEB7-C56D190761C2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76A458-04B7-4E5D-86FE-198B418ADBA0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9DEAEFC-CD07-3629-D2C0-9F3A45EDD9B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A06A3FB5-192A-094E-7FBB-29E48B619BF3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7E5A005-7A15-BDAD-4BD0-34BC3C695468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7F3FDCA-9007-1379-132F-8D96E6752157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7F1F1011-7B43-FEF8-1D77-F3D3FE86E737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F04010FB-3168-20F8-39BF-37ADA698B9AE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386F43E4-1B86-3B90-7C16-13585F283034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5313D5EE-5B3C-DE11-A096-704E6BA12A62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57F22FAC-1BB6-3E1B-2F10-37BEA0F8FEDA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826132FE-B739-4D2B-5047-FA04A5ECD229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9423CD47-F458-9958-6AC8-13C76F66FCB4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E7EC73A7-6955-8835-AC27-2139F56560FA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55F77DD-6F0B-2707-DB58-DFFAA365C1A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2BBD7D19-29EA-B926-AC15-E7A2E80B8FB5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3019C383-7062-04E7-1F03-766193CAD82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DF123C4-0095-8BA1-55CA-B5BEF9D184F2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2E7252B7-9A26-4A54-1F26-5BC660417A1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D6D956AE-3448-B3CF-12B3-A9B59E57E760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7C389719-364A-4AE5-ADD3-5497DE3B97BF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C4E407F6-54C9-58DF-BFE8-049152691F7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80DF2CC0-5A2C-B0E4-8940-DBFECBF36A20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8A171198-FEE6-9DF8-7C4F-4E737A45E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722500F0-1CA7-8659-3970-61C173B5F8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33BB577D-94C3-1150-D41E-0F38448D7A50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C785A520-54B0-AA7F-3D2F-499EC24DDC32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E3DCD5A3-DB2B-7377-BA8C-299A274C7C7F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2F33D552-B3EE-60F9-38F4-8F99FD595142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B15769C-E5EB-5B52-FC48-22A4BF4DBFB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F153CFB4-3CD0-026F-4DF4-F445B49D365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CE7CDBC5-D08F-4F98-0E75-BAE38FB2E47B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32D7ABF4-30E4-A290-EA9A-DCDD449F2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2163B589-F253-102A-B6A6-E536A62F0734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B60A310F-0C35-FD7B-96A8-085C7611EDC4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D1CF534-4322-DAC6-3354-1B4C055E9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34381A2-0828-DA4B-CC77-4DABE2DD7731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74B2CA2-961F-FC79-D069-61DCAC28DF1A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51111361-DEB9-C813-EBF2-A35CEACC9B45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5B0FE388-9894-08A2-586B-817124C7E56A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E18520D3-7B54-5351-88E9-DBF645D1F2A2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D2A6A513-48FF-9B19-4E2A-89C076C5BE98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59115006-F92F-3A36-6C9F-5EEDBFE3141C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FBE0F5FF-584A-97E2-5658-778B58AF6DE4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B9B8F848-E393-7E83-36D4-0CD754CD6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3E07E1B6-9BEC-1AEA-EFFE-C45ED4DF632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38643547-2288-4BA5-4965-6006423EEE8F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4C4C2C7B-CAA9-D6F3-08D8-A58024C0DEEB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D2FA8331-B5DC-C758-453D-F30D4DE4B391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087498EE-D0E5-A301-80F5-F9A1ECBCCF6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F4415042-CD49-F072-870E-35AD6CA3CD2F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2D46AF74-F936-A5B4-8391-0D15033C985F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F8648DC4-BE88-6F9E-DDF6-B01D00305725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ADC014C-D180-7CE1-2D40-3B871DCD5636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BE0C2B5E-A55E-5006-E5DE-9DAF4A17E513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21963CFD-5BEB-6C41-4CB2-CDEA99C197ED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8496AAA4-B25F-B86D-B422-7756CDB0C7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B3E7E394-0C39-2DA4-2DC4-67ECC6CE81AC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3F868E1F-CFDD-62B7-08C4-644994996373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12AAA973-5305-CCC0-D451-1F3399692BA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B3A2EA8-7CDF-0199-F8FD-4E90FBC97744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4FDC8795-9026-4D21-D956-1D6760A5A884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945169-9598-4F1D-7F6D-7E656AC3F2F3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0F1DC594-D6DB-B2E2-72B2-541F7B680A4A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C689A49A-6C0C-10ED-8013-18B128EB176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BD098F46-293D-1706-3825-68F8C584CE10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ABDE5D4D-8A02-BE9C-1350-F253A66B72D0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21F00DE5-FF5B-CC6E-76F9-793409785801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E3CB23E6-1D7C-D1CE-4BAA-52CFD7F39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F508E53-0E27-70A4-B841-4988B1DD8F97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03D4B86D-6D8C-1217-580B-4EEBEA170DD5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BFAB88A3-2DD1-0059-E718-1BD12E94CA80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9E6C2F97-FEF9-E7CA-AFBE-67D152751DE8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108064B3-7819-7ACC-9B94-BCF221D73D7F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0E016DC8-7200-FAC3-7879-850C76DA1BC7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30C0D9DF-CE7E-3106-A528-935631925920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07E1CC5E-4745-D2A3-95EA-D44F48A3C6F5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139BD7A1-DD5F-A2F9-D025-805CA2627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07B53958-1993-B19A-4818-AB6F99DD58B2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8451F804-63EE-F886-A065-8831A03FD5CF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4E050C1F-12C4-AAEC-C57E-AF597CE8FD91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B0CC21C7-F2D2-2CC0-18EB-05C7617F6DD6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373B8C82-A799-A3DE-FB77-47DEFC0D2B6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939A55F4-3439-4315-FB98-6842A70EC0A9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FEAFD1F0-4137-8070-28D5-24329E408C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A93E5DCE-EE0C-BDE3-0647-B72603E6B256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52902F2-4F9E-C0B1-8DC7-FF1946C49851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862FC68B-8483-D064-F9DB-7B1C09C388DE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6190FB07-C9CF-2502-28F7-581C8FD084F3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A685D7-8A59-E3E2-7372-17CA30F26169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A50EDE5F-7371-7E86-1BAA-ABACAEB69198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481DF3FE-A69A-801D-9DAB-49D100142CC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72F65F07-2D26-3714-D786-8E7E4CE26843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EC1F3FFC-7754-3A96-51FB-4CD6054D3921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DACB660F-C321-385B-C9CB-0C19A20F1540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96722CAD-3432-DC75-37B2-0499F463A5CE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A1A284B1-15CE-477E-5957-2B387D9AE1DA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1048DCAA-C07D-9499-9C92-AFEB70F262D5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551FDF4A-732B-2394-29F0-8F0EA9B098D2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7D3324D5-A61E-3D25-9095-D06FB6530C05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57ED1609-87E9-5968-8340-F5D624C9BC42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0761EBBC-4E14-CF00-7506-521FA9FF62CD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64B68D8-326E-1853-C65E-B9B26459AD56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ED3FC4C3-4778-74FB-9FE3-870B5969261F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5CE75C9-B76E-A9CC-220A-5FB82208C69C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2DAC92E-0E7A-114D-9E07-E07B5A0B9920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B449047-26DF-F996-8A61-1DF86E90B8DA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F3849C58-3194-7181-DE86-79467895F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2DA49FD-F0B8-1624-29D4-3E0B57EC23C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7110911-0F9C-8507-8022-5EA979FAB714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BF825D3A-BA30-22B3-9EF3-E1577C15D558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3B079B3C-5D52-6F8F-F136-9857F32AA44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CA8413-BA65-04C3-7AE4-74905B5F49DC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48F0A75B-6572-426E-9882-79D554DF7B12}"/>
              </a:ext>
            </a:extLst>
          </p:cNvPr>
          <p:cNvGrpSpPr/>
          <p:nvPr/>
        </p:nvGrpSpPr>
        <p:grpSpPr>
          <a:xfrm>
            <a:off x="8491566" y="1294836"/>
            <a:ext cx="2392334" cy="2244569"/>
            <a:chOff x="8491566" y="1960036"/>
            <a:chExt cx="1776384" cy="1666664"/>
          </a:xfrm>
        </p:grpSpPr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4D5DDDF-CFDB-16E9-B4E7-1D05775FD132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98628D0C-3D39-024C-D413-F75C28AD1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0C0BF2DD-F9C3-9427-E52A-EE67D3FAC7D7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114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8EEFE34-9184-06BE-F5B7-E9EBF4C7FEB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7B13AB6E-DCC2-E745-7C6F-628870E715E9}"/>
                </a:ext>
              </a:extLst>
            </p:cNvPr>
            <p:cNvSpPr/>
            <p:nvPr/>
          </p:nvSpPr>
          <p:spPr>
            <a:xfrm>
              <a:off x="8543432" y="2970705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/>
                <a:t>고유기술명</a:t>
              </a:r>
              <a:r>
                <a:rPr lang="en-US" altLang="ko-KR" sz="1050" dirty="0"/>
                <a:t> (SP)</a:t>
              </a:r>
              <a:endParaRPr lang="ko-KR" altLang="en-US" sz="1050" dirty="0"/>
            </a:p>
          </p:txBody>
        </p:sp>
        <p:sp>
          <p:nvSpPr>
            <p:cNvPr id="42" name="곱하기 기호 41">
              <a:extLst>
                <a:ext uri="{FF2B5EF4-FFF2-40B4-BE49-F238E27FC236}">
                  <a16:creationId xmlns:a16="http://schemas.microsoft.com/office/drawing/2014/main" id="{7F6F1332-BA9A-3A97-31C1-29128B8D28D1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E338AF7-E8FC-B528-3821-C3628AF35759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57179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9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9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9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9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F67DD449-A4E1-5F63-0FFF-A3D13BA2C823}"/>
              </a:ext>
            </a:extLst>
          </p:cNvPr>
          <p:cNvCxnSpPr>
            <a:stCxn id="9" idx="3"/>
            <a:endCxn id="37" idx="1"/>
          </p:cNvCxnSpPr>
          <p:nvPr/>
        </p:nvCxnSpPr>
        <p:spPr>
          <a:xfrm flipV="1">
            <a:off x="6531797" y="2429025"/>
            <a:ext cx="1959769" cy="12177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말풍선: 사각형 55">
            <a:extLst>
              <a:ext uri="{FF2B5EF4-FFF2-40B4-BE49-F238E27FC236}">
                <a16:creationId xmlns:a16="http://schemas.microsoft.com/office/drawing/2014/main" id="{B92C08AF-5872-1D83-6FB3-CBEC663BADB2}"/>
              </a:ext>
            </a:extLst>
          </p:cNvPr>
          <p:cNvSpPr/>
          <p:nvPr/>
        </p:nvSpPr>
        <p:spPr>
          <a:xfrm>
            <a:off x="10110892" y="2206167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클릭을 하면 </a:t>
            </a:r>
            <a:endParaRPr lang="en-US" altLang="ko-KR" sz="1050" dirty="0"/>
          </a:p>
          <a:p>
            <a:pPr algn="ctr"/>
            <a:r>
              <a:rPr lang="ko-KR" altLang="en-US" sz="1050" dirty="0"/>
              <a:t>설명 보여줌 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D43F7D-27C7-24E6-EEC3-AE0A39A1E05B}"/>
              </a:ext>
            </a:extLst>
          </p:cNvPr>
          <p:cNvSpPr txBox="1"/>
          <p:nvPr/>
        </p:nvSpPr>
        <p:spPr>
          <a:xfrm>
            <a:off x="8491566" y="3646758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상대가 가지고 있는 책략 목록은 보여주지 않음 </a:t>
            </a:r>
            <a:r>
              <a:rPr lang="en-US" altLang="ko-KR" sz="1000" b="1" dirty="0"/>
              <a:t>(</a:t>
            </a:r>
            <a:r>
              <a:rPr lang="ko-KR" altLang="en-US" sz="1000" b="1" dirty="0"/>
              <a:t>전략적 목적</a:t>
            </a:r>
            <a:r>
              <a:rPr lang="en-US" altLang="ko-KR" sz="1000" b="1" dirty="0"/>
              <a:t>)</a:t>
            </a:r>
            <a:endParaRPr lang="ko-KR" altLang="en-US" sz="2000" dirty="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20E2C8B-40B7-D27B-5AB3-8544DC82B41F}"/>
              </a:ext>
            </a:extLst>
          </p:cNvPr>
          <p:cNvSpPr/>
          <p:nvPr/>
        </p:nvSpPr>
        <p:spPr>
          <a:xfrm>
            <a:off x="8491566" y="4208362"/>
            <a:ext cx="2392334" cy="6474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58FC315-89E3-4585-0EE9-D101801A0274}"/>
              </a:ext>
            </a:extLst>
          </p:cNvPr>
          <p:cNvSpPr txBox="1"/>
          <p:nvPr/>
        </p:nvSpPr>
        <p:spPr>
          <a:xfrm>
            <a:off x="8563579" y="4283435"/>
            <a:ext cx="2248306" cy="48102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현재 이 캐릭터가 익힌 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ko-KR" altLang="en-US" sz="900" b="1" dirty="0">
                <a:solidFill>
                  <a:schemeClr val="bg1">
                    <a:lumMod val="95000"/>
                  </a:schemeClr>
                </a:solidFill>
              </a:rPr>
              <a:t>책략들 카드형태 목록</a:t>
            </a:r>
            <a:endParaRPr lang="en-US" altLang="ko-KR" sz="9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E1EA34A-447A-2883-AB9E-6A397F81963C}"/>
              </a:ext>
            </a:extLst>
          </p:cNvPr>
          <p:cNvSpPr txBox="1"/>
          <p:nvPr/>
        </p:nvSpPr>
        <p:spPr>
          <a:xfrm>
            <a:off x="8491566" y="4925053"/>
            <a:ext cx="2646334" cy="524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b="1" dirty="0"/>
              <a:t>우리편 상태 카드에서만 </a:t>
            </a:r>
            <a:endParaRPr lang="en-US" altLang="ko-KR" sz="1000" b="1" dirty="0"/>
          </a:p>
          <a:p>
            <a:pPr>
              <a:lnSpc>
                <a:spcPct val="150000"/>
              </a:lnSpc>
            </a:pPr>
            <a:r>
              <a:rPr lang="ko-KR" altLang="en-US" sz="1000" b="1" dirty="0"/>
              <a:t>보유 책략 목록 보여줌</a:t>
            </a:r>
            <a:endParaRPr lang="ko-KR" altLang="en-US" sz="2000" dirty="0"/>
          </a:p>
        </p:txBody>
      </p:sp>
      <p:sp>
        <p:nvSpPr>
          <p:cNvPr id="96" name="말풍선: 사각형 95">
            <a:extLst>
              <a:ext uri="{FF2B5EF4-FFF2-40B4-BE49-F238E27FC236}">
                <a16:creationId xmlns:a16="http://schemas.microsoft.com/office/drawing/2014/main" id="{2E819F4B-37A9-15FB-116F-167577CAE4E9}"/>
              </a:ext>
            </a:extLst>
          </p:cNvPr>
          <p:cNvSpPr/>
          <p:nvPr/>
        </p:nvSpPr>
        <p:spPr>
          <a:xfrm>
            <a:off x="10110892" y="4033196"/>
            <a:ext cx="1098550" cy="571500"/>
          </a:xfrm>
          <a:prstGeom prst="wedgeRectCallout">
            <a:avLst>
              <a:gd name="adj1" fmla="val -66498"/>
              <a:gd name="adj2" fmla="val 45833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50" dirty="0"/>
              <a:t>각 책략 클릭 하면 설명 표시</a:t>
            </a:r>
          </a:p>
        </p:txBody>
      </p:sp>
    </p:spTree>
    <p:extLst>
      <p:ext uri="{BB962C8B-B14F-4D97-AF65-F5344CB8AC3E}">
        <p14:creationId xmlns:p14="http://schemas.microsoft.com/office/powerpoint/2010/main" val="40083159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A3A-900E-0D67-DD98-774905B17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45C234D-2FEB-9C70-DBA7-8D121FA4D724}"/>
              </a:ext>
            </a:extLst>
          </p:cNvPr>
          <p:cNvSpPr txBox="1"/>
          <p:nvPr/>
        </p:nvSpPr>
        <p:spPr>
          <a:xfrm>
            <a:off x="404038" y="341501"/>
            <a:ext cx="4098112" cy="4904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 </a:t>
            </a:r>
            <a:r>
              <a:rPr lang="ko-KR" altLang="en-US" b="1" dirty="0" err="1"/>
              <a:t>커멘드</a:t>
            </a:r>
            <a:r>
              <a:rPr lang="ko-KR" altLang="en-US" b="1" dirty="0"/>
              <a:t> 패널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현재 차례의 캐릭터가 포커스 되었을 때에 표시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위치는 캐릭터 정보 패널의 위치와 대칭되도록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</a:t>
            </a:r>
            <a:r>
              <a:rPr lang="ko-KR" altLang="en-US" sz="1200" b="1" dirty="0"/>
              <a:t> 중 </a:t>
            </a:r>
            <a:r>
              <a:rPr lang="en-US" altLang="ko-KR" sz="1200" b="1" dirty="0"/>
              <a:t>1</a:t>
            </a:r>
            <a:r>
              <a:rPr lang="ko-KR" altLang="en-US" sz="1200" b="1" dirty="0"/>
              <a:t>곳에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위치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크기</a:t>
            </a:r>
            <a:endParaRPr lang="en-US" altLang="ko-KR" sz="1200" b="1" dirty="0"/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너비는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0.375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(3/8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0.6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(3/5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컬러는 가장 자연스런 색 선택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파란색일 필요 없음</a:t>
            </a:r>
            <a:r>
              <a:rPr lang="en-US" altLang="ko-KR" sz="1200" b="1" dirty="0"/>
              <a:t>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패널 우상단에는 최소화 버튼 있음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버튼 클릭하면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좌상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우상단에 위치한 패널이라면 위로 붙고</a:t>
            </a:r>
            <a:r>
              <a:rPr lang="en-US" altLang="ko-KR" sz="1200" b="1" dirty="0"/>
              <a:t>, </a:t>
            </a:r>
            <a:r>
              <a:rPr lang="ko-KR" altLang="en-US" sz="1200" b="1" dirty="0" err="1"/>
              <a:t>좌하</a:t>
            </a:r>
            <a:r>
              <a:rPr lang="en-US" altLang="ko-KR" sz="1200" b="1" dirty="0"/>
              <a:t>/</a:t>
            </a:r>
            <a:r>
              <a:rPr lang="ko-KR" altLang="en-US" sz="1200" b="1" dirty="0" err="1"/>
              <a:t>우하단에</a:t>
            </a:r>
            <a:r>
              <a:rPr lang="ko-KR" altLang="en-US" sz="1200" b="1" dirty="0"/>
              <a:t> 위치한 패널이라면 아래로 붙어서 최소화</a:t>
            </a:r>
            <a:r>
              <a:rPr lang="en-US" altLang="ko-KR" sz="1200" b="1" dirty="0"/>
              <a:t>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최소화 되었을 때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너비는 그대로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높이는 </a:t>
            </a:r>
            <a:r>
              <a:rPr lang="ko-KR" altLang="en-US" sz="1200" b="1" dirty="0" err="1"/>
              <a:t>체스판</a:t>
            </a:r>
            <a:r>
              <a:rPr lang="ko-KR" altLang="en-US" sz="1200" b="1" dirty="0"/>
              <a:t> 길이의 </a:t>
            </a:r>
            <a:r>
              <a:rPr lang="en-US" altLang="ko-KR" sz="1200" b="1" dirty="0"/>
              <a:t>x 0.1 </a:t>
            </a:r>
            <a:r>
              <a:rPr lang="ko-KR" altLang="en-US" sz="1200" b="1" dirty="0"/>
              <a:t>배 </a:t>
            </a:r>
            <a:r>
              <a:rPr lang="en-US" altLang="ko-KR" sz="1200" b="1" dirty="0"/>
              <a:t>(1/10</a:t>
            </a:r>
            <a:r>
              <a:rPr lang="ko-KR" altLang="en-US" sz="1200" b="1" dirty="0"/>
              <a:t>배</a:t>
            </a:r>
            <a:r>
              <a:rPr lang="en-US" altLang="ko-KR" sz="1200" b="1" dirty="0"/>
              <a:t>)</a:t>
            </a:r>
            <a:r>
              <a:rPr lang="ko-KR" altLang="en-US" sz="1200" b="1" dirty="0"/>
              <a:t> </a:t>
            </a:r>
            <a:endParaRPr lang="en-US" altLang="ko-KR" sz="12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은 명령 후에 다시 </a:t>
            </a:r>
            <a:r>
              <a:rPr lang="en-US" altLang="ko-KR" sz="1200" b="1" dirty="0"/>
              <a:t>[</a:t>
            </a:r>
            <a:r>
              <a:rPr lang="ko-KR" altLang="en-US" sz="1200" b="1" dirty="0"/>
              <a:t>이동</a:t>
            </a:r>
            <a:r>
              <a:rPr lang="en-US" altLang="ko-KR" sz="1200" b="1" dirty="0"/>
              <a:t>] </a:t>
            </a:r>
            <a:r>
              <a:rPr lang="ko-KR" altLang="en-US" sz="1200" b="1" dirty="0"/>
              <a:t>이 </a:t>
            </a:r>
            <a:r>
              <a:rPr lang="en-US" altLang="ko-KR" sz="1200" b="1" dirty="0"/>
              <a:t>disabled </a:t>
            </a:r>
            <a:r>
              <a:rPr lang="ko-KR" altLang="en-US" sz="1200" b="1" dirty="0"/>
              <a:t>상태로 </a:t>
            </a:r>
            <a:r>
              <a:rPr lang="ko-KR" altLang="en-US" sz="1200" b="1" dirty="0" err="1"/>
              <a:t>커멘드</a:t>
            </a:r>
            <a:r>
              <a:rPr lang="ko-KR" altLang="en-US" sz="1200" b="1" dirty="0"/>
              <a:t> 패널을 띄워주고</a:t>
            </a:r>
            <a:r>
              <a:rPr lang="en-US" altLang="ko-KR" sz="1200" b="1" dirty="0"/>
              <a:t>,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나머지 명령들은 명령 후 턴 종료 됨</a:t>
            </a:r>
            <a:r>
              <a:rPr lang="en-US" altLang="ko-KR" sz="1200" b="1" dirty="0"/>
              <a:t>.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3D7D043-1394-32DF-6DD9-EDC694BFA8BB}"/>
              </a:ext>
            </a:extLst>
          </p:cNvPr>
          <p:cNvSpPr/>
          <p:nvPr/>
        </p:nvSpPr>
        <p:spPr>
          <a:xfrm>
            <a:off x="4653327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E94C0C4-BA36-9E52-ED6E-6D561AC45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3327" y="2063440"/>
            <a:ext cx="2885345" cy="295193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1E0DA21-F473-70C5-B2F5-5A40BA4C83D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65454"/>
          <a:stretch>
            <a:fillRect/>
          </a:stretch>
        </p:blipFill>
        <p:spPr>
          <a:xfrm>
            <a:off x="4647982" y="586183"/>
            <a:ext cx="2449375" cy="212792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149DAC-E2C8-31B6-252E-58AF18B8A584}"/>
              </a:ext>
            </a:extLst>
          </p:cNvPr>
          <p:cNvSpPr/>
          <p:nvPr/>
        </p:nvSpPr>
        <p:spPr>
          <a:xfrm>
            <a:off x="6548396" y="2897147"/>
            <a:ext cx="222519" cy="304524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3388E935-8FEA-0481-AA4D-E5F5396D2BE8}"/>
              </a:ext>
            </a:extLst>
          </p:cNvPr>
          <p:cNvGrpSpPr/>
          <p:nvPr/>
        </p:nvGrpSpPr>
        <p:grpSpPr>
          <a:xfrm>
            <a:off x="4530438" y="4991289"/>
            <a:ext cx="651903" cy="1102822"/>
            <a:chOff x="8044240" y="3733800"/>
            <a:chExt cx="946362" cy="1600957"/>
          </a:xfrm>
        </p:grpSpPr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D3185E63-C600-4B74-56E6-F9B6233684C7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26" name="그림 125">
              <a:extLst>
                <a:ext uri="{FF2B5EF4-FFF2-40B4-BE49-F238E27FC236}">
                  <a16:creationId xmlns:a16="http://schemas.microsoft.com/office/drawing/2014/main" id="{B1F30900-6C1A-57A5-2B19-1E636F277D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52C00A90-6515-0332-39CA-B70BBA97E06F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E3950EE-C539-CA32-5396-4FEFFCE54812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29" name="순서도: 수행의 시작/종료 128">
              <a:extLst>
                <a:ext uri="{FF2B5EF4-FFF2-40B4-BE49-F238E27FC236}">
                  <a16:creationId xmlns:a16="http://schemas.microsoft.com/office/drawing/2014/main" id="{7E931C7B-5912-27B8-2B7F-1F70F0465D2A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8AA95472-AADF-010C-E9BE-84C560811F07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CC5F66E-54A3-0B41-3D2D-4DF47AAE5641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32" name="순서도: 수행의 시작/종료 131">
              <a:extLst>
                <a:ext uri="{FF2B5EF4-FFF2-40B4-BE49-F238E27FC236}">
                  <a16:creationId xmlns:a16="http://schemas.microsoft.com/office/drawing/2014/main" id="{59F99E20-2A89-A6EE-E44C-EC891145BC97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B3404D3C-61C7-B486-6311-1AA3BE6AE8B7}"/>
              </a:ext>
            </a:extLst>
          </p:cNvPr>
          <p:cNvSpPr txBox="1"/>
          <p:nvPr/>
        </p:nvSpPr>
        <p:spPr>
          <a:xfrm>
            <a:off x="5119683" y="5940223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2B7D98D-316C-65F6-A846-C6C8EE1228CC}"/>
              </a:ext>
            </a:extLst>
          </p:cNvPr>
          <p:cNvGrpSpPr/>
          <p:nvPr/>
        </p:nvGrpSpPr>
        <p:grpSpPr>
          <a:xfrm>
            <a:off x="5148904" y="4991289"/>
            <a:ext cx="622682" cy="1102822"/>
            <a:chOff x="8869976" y="1506055"/>
            <a:chExt cx="622682" cy="1102822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54A0C535-DCB7-E7EE-29EC-3A5BCB507C8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34" name="직사각형 133">
              <a:extLst>
                <a:ext uri="{FF2B5EF4-FFF2-40B4-BE49-F238E27FC236}">
                  <a16:creationId xmlns:a16="http://schemas.microsoft.com/office/drawing/2014/main" id="{517BDE0A-1A97-0169-6CA7-C5CFE262B3C7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1386216-9AFB-B220-8F18-415B4500245B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1442A7C-2B44-0335-8F58-0A26FF44FCD7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38" name="순서도: 수행의 시작/종료 137">
              <a:extLst>
                <a:ext uri="{FF2B5EF4-FFF2-40B4-BE49-F238E27FC236}">
                  <a16:creationId xmlns:a16="http://schemas.microsoft.com/office/drawing/2014/main" id="{F5C8633F-9828-FF12-1DDD-C03D5157B3EA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5AF56A41-0D4C-CB7C-7109-CD00E29F535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1" name="순서도: 수행의 시작/종료 140">
              <a:extLst>
                <a:ext uri="{FF2B5EF4-FFF2-40B4-BE49-F238E27FC236}">
                  <a16:creationId xmlns:a16="http://schemas.microsoft.com/office/drawing/2014/main" id="{B0EE9C3D-9E76-319A-EA80-AF25B2201484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77" name="그룹 176">
            <a:extLst>
              <a:ext uri="{FF2B5EF4-FFF2-40B4-BE49-F238E27FC236}">
                <a16:creationId xmlns:a16="http://schemas.microsoft.com/office/drawing/2014/main" id="{E77D9D0B-5901-B9A9-DA09-11998EC91371}"/>
              </a:ext>
            </a:extLst>
          </p:cNvPr>
          <p:cNvGrpSpPr/>
          <p:nvPr/>
        </p:nvGrpSpPr>
        <p:grpSpPr>
          <a:xfrm>
            <a:off x="5716525" y="4991289"/>
            <a:ext cx="651903" cy="1102822"/>
            <a:chOff x="9437597" y="1506055"/>
            <a:chExt cx="651903" cy="1102822"/>
          </a:xfrm>
        </p:grpSpPr>
        <p:sp>
          <p:nvSpPr>
            <p:cNvPr id="143" name="직사각형 142">
              <a:extLst>
                <a:ext uri="{FF2B5EF4-FFF2-40B4-BE49-F238E27FC236}">
                  <a16:creationId xmlns:a16="http://schemas.microsoft.com/office/drawing/2014/main" id="{030E913E-8439-D474-9509-EE737AC98304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D74D4AA2-F815-416D-2169-DF08ED124053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D012090-906B-7E1A-0DEE-47E1081EB071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47" name="순서도: 수행의 시작/종료 146">
              <a:extLst>
                <a:ext uri="{FF2B5EF4-FFF2-40B4-BE49-F238E27FC236}">
                  <a16:creationId xmlns:a16="http://schemas.microsoft.com/office/drawing/2014/main" id="{87C1299B-C290-FAA8-4742-89C3BDF5911E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32F82F05-2127-CCA2-A27C-3D3DACE2E2A4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EC4D70B4-0C2A-0FC0-D7D1-8F55773BCD0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0" name="순서도: 수행의 시작/종료 149">
              <a:extLst>
                <a:ext uri="{FF2B5EF4-FFF2-40B4-BE49-F238E27FC236}">
                  <a16:creationId xmlns:a16="http://schemas.microsoft.com/office/drawing/2014/main" id="{730F1E81-9D8E-5FCD-218E-BE3481EB3829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0" name="그림 169">
              <a:extLst>
                <a:ext uri="{FF2B5EF4-FFF2-40B4-BE49-F238E27FC236}">
                  <a16:creationId xmlns:a16="http://schemas.microsoft.com/office/drawing/2014/main" id="{B3FD7CFA-D4C8-CF70-354E-F44154F29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64243860-F14A-AC9E-76D7-16AE6051F32B}"/>
              </a:ext>
            </a:extLst>
          </p:cNvPr>
          <p:cNvGrpSpPr/>
          <p:nvPr/>
        </p:nvGrpSpPr>
        <p:grpSpPr>
          <a:xfrm>
            <a:off x="6313292" y="4991289"/>
            <a:ext cx="651903" cy="1102822"/>
            <a:chOff x="10034364" y="1506055"/>
            <a:chExt cx="651903" cy="1102822"/>
          </a:xfrm>
        </p:grpSpPr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EE8508AF-01DB-EDCD-34A2-183396DC892D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889C633E-E842-07CB-D566-40B617ABAB0C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E1A17E7E-0193-C223-E144-9E0028BD63ED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56" name="순서도: 수행의 시작/종료 155">
              <a:extLst>
                <a:ext uri="{FF2B5EF4-FFF2-40B4-BE49-F238E27FC236}">
                  <a16:creationId xmlns:a16="http://schemas.microsoft.com/office/drawing/2014/main" id="{33F02D60-68D5-49F3-CB15-83C14A2D469D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44BF7DB-AB3D-11B5-5E4F-46D045229891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003C71A4-F5A6-82FE-F82F-6892045DF522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59" name="순서도: 수행의 시작/종료 158">
              <a:extLst>
                <a:ext uri="{FF2B5EF4-FFF2-40B4-BE49-F238E27FC236}">
                  <a16:creationId xmlns:a16="http://schemas.microsoft.com/office/drawing/2014/main" id="{029590E7-49CB-33DC-90AD-3E0C597C4B18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2" name="그림 171">
              <a:extLst>
                <a:ext uri="{FF2B5EF4-FFF2-40B4-BE49-F238E27FC236}">
                  <a16:creationId xmlns:a16="http://schemas.microsoft.com/office/drawing/2014/main" id="{1F929012-FDCD-086F-A402-76F74BCB6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C83EA13D-7393-B2D6-9B1B-2A671393E5C5}"/>
              </a:ext>
            </a:extLst>
          </p:cNvPr>
          <p:cNvGrpSpPr/>
          <p:nvPr/>
        </p:nvGrpSpPr>
        <p:grpSpPr>
          <a:xfrm>
            <a:off x="6910059" y="4991289"/>
            <a:ext cx="651903" cy="1102822"/>
            <a:chOff x="10631131" y="1506055"/>
            <a:chExt cx="651903" cy="1102822"/>
          </a:xfrm>
        </p:grpSpPr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5950B6A6-8C51-7BF3-7EB5-9506F89EA681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36A5A948-D891-2A5A-1C45-835C6791B72B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26307FDB-1A25-B3B0-FDFA-AB3738AB5B26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65" name="순서도: 수행의 시작/종료 164">
              <a:extLst>
                <a:ext uri="{FF2B5EF4-FFF2-40B4-BE49-F238E27FC236}">
                  <a16:creationId xmlns:a16="http://schemas.microsoft.com/office/drawing/2014/main" id="{DB2347A6-5423-FFA2-3198-4E3189A2EA46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CCDE7C0-C635-B7AF-B9FF-C13308EE0BFE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111098F-2D77-256F-A595-7C1D11DF0E7C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68" name="순서도: 수행의 시작/종료 167">
              <a:extLst>
                <a:ext uri="{FF2B5EF4-FFF2-40B4-BE49-F238E27FC236}">
                  <a16:creationId xmlns:a16="http://schemas.microsoft.com/office/drawing/2014/main" id="{6EF2C859-506C-9C8B-21DE-D100B4BA57BD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174" name="그림 173">
              <a:extLst>
                <a:ext uri="{FF2B5EF4-FFF2-40B4-BE49-F238E27FC236}">
                  <a16:creationId xmlns:a16="http://schemas.microsoft.com/office/drawing/2014/main" id="{1C4FF153-C8E0-DBB5-CCFD-0A647E882C9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9EA1FC77-C274-B865-B400-B2950706F890}"/>
              </a:ext>
            </a:extLst>
          </p:cNvPr>
          <p:cNvGrpSpPr/>
          <p:nvPr/>
        </p:nvGrpSpPr>
        <p:grpSpPr>
          <a:xfrm>
            <a:off x="4546997" y="788479"/>
            <a:ext cx="651903" cy="1102822"/>
            <a:chOff x="8044240" y="3733800"/>
            <a:chExt cx="946362" cy="1600957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E120C4A-FE33-AE4A-0456-9E59569E9B32}"/>
                </a:ext>
              </a:extLst>
            </p:cNvPr>
            <p:cNvSpPr/>
            <p:nvPr/>
          </p:nvSpPr>
          <p:spPr>
            <a:xfrm>
              <a:off x="8130631" y="3733800"/>
              <a:ext cx="859971" cy="160095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CC6D98D1-4D7B-8170-07B7-89CE19D07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10913" y="4037522"/>
              <a:ext cx="702038" cy="702038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716F2A0A-766E-DBC8-3EDA-3F28C7ED6916}"/>
                </a:ext>
              </a:extLst>
            </p:cNvPr>
            <p:cNvSpPr txBox="1"/>
            <p:nvPr/>
          </p:nvSpPr>
          <p:spPr>
            <a:xfrm>
              <a:off x="8135975" y="3761503"/>
              <a:ext cx="854625" cy="2904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King</a:t>
              </a:r>
              <a:endParaRPr lang="ko-KR" altLang="en-US" sz="500" b="1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946E169F-208E-108D-1456-4DF0FF950B26}"/>
                </a:ext>
              </a:extLst>
            </p:cNvPr>
            <p:cNvSpPr txBox="1"/>
            <p:nvPr/>
          </p:nvSpPr>
          <p:spPr>
            <a:xfrm>
              <a:off x="8170771" y="4776596"/>
              <a:ext cx="779689" cy="245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85" name="순서도: 수행의 시작/종료 184">
              <a:extLst>
                <a:ext uri="{FF2B5EF4-FFF2-40B4-BE49-F238E27FC236}">
                  <a16:creationId xmlns:a16="http://schemas.microsoft.com/office/drawing/2014/main" id="{9626BB0C-FD41-1B22-E26C-2DCFE9A1B48C}"/>
                </a:ext>
              </a:extLst>
            </p:cNvPr>
            <p:cNvSpPr/>
            <p:nvPr/>
          </p:nvSpPr>
          <p:spPr>
            <a:xfrm>
              <a:off x="8432533" y="5005210"/>
              <a:ext cx="517927" cy="115416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8F254014-C825-C7CE-4896-8618A6DC032D}"/>
                </a:ext>
              </a:extLst>
            </p:cNvPr>
            <p:cNvSpPr txBox="1"/>
            <p:nvPr/>
          </p:nvSpPr>
          <p:spPr>
            <a:xfrm>
              <a:off x="8086660" y="4957062"/>
              <a:ext cx="389844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967B44F5-16F8-41F9-1C8F-FFD3529CAB28}"/>
                </a:ext>
              </a:extLst>
            </p:cNvPr>
            <p:cNvSpPr txBox="1"/>
            <p:nvPr/>
          </p:nvSpPr>
          <p:spPr>
            <a:xfrm>
              <a:off x="8044240" y="5111359"/>
              <a:ext cx="517927" cy="2233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188" name="순서도: 수행의 시작/종료 187">
              <a:extLst>
                <a:ext uri="{FF2B5EF4-FFF2-40B4-BE49-F238E27FC236}">
                  <a16:creationId xmlns:a16="http://schemas.microsoft.com/office/drawing/2014/main" id="{2DEE5D65-8D9F-83AF-E4F9-F1E0199F399D}"/>
                </a:ext>
              </a:extLst>
            </p:cNvPr>
            <p:cNvSpPr/>
            <p:nvPr/>
          </p:nvSpPr>
          <p:spPr>
            <a:xfrm>
              <a:off x="8432533" y="5169327"/>
              <a:ext cx="517927" cy="115416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C7E3503A-D0D9-9822-78D9-6CB8AFD52B23}"/>
              </a:ext>
            </a:extLst>
          </p:cNvPr>
          <p:cNvSpPr txBox="1"/>
          <p:nvPr/>
        </p:nvSpPr>
        <p:spPr>
          <a:xfrm>
            <a:off x="5136242" y="1847818"/>
            <a:ext cx="356775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" b="1" dirty="0"/>
              <a:t>대기</a:t>
            </a:r>
          </a:p>
        </p:txBody>
      </p:sp>
      <p:grpSp>
        <p:nvGrpSpPr>
          <p:cNvPr id="190" name="그룹 189">
            <a:extLst>
              <a:ext uri="{FF2B5EF4-FFF2-40B4-BE49-F238E27FC236}">
                <a16:creationId xmlns:a16="http://schemas.microsoft.com/office/drawing/2014/main" id="{D7095B7B-A4EA-C569-6418-7C669BB48BB8}"/>
              </a:ext>
            </a:extLst>
          </p:cNvPr>
          <p:cNvGrpSpPr/>
          <p:nvPr/>
        </p:nvGrpSpPr>
        <p:grpSpPr>
          <a:xfrm>
            <a:off x="5165463" y="788479"/>
            <a:ext cx="622682" cy="1102822"/>
            <a:chOff x="8869976" y="1506055"/>
            <a:chExt cx="622682" cy="1102822"/>
          </a:xfrm>
        </p:grpSpPr>
        <p:pic>
          <p:nvPicPr>
            <p:cNvPr id="191" name="그림 190">
              <a:extLst>
                <a:ext uri="{FF2B5EF4-FFF2-40B4-BE49-F238E27FC236}">
                  <a16:creationId xmlns:a16="http://schemas.microsoft.com/office/drawing/2014/main" id="{8A543307-5C7A-D280-D8D6-747307CE6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61632" y="1722304"/>
              <a:ext cx="485667" cy="48566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  <p:sp>
          <p:nvSpPr>
            <p:cNvPr id="192" name="직사각형 191">
              <a:extLst>
                <a:ext uri="{FF2B5EF4-FFF2-40B4-BE49-F238E27FC236}">
                  <a16:creationId xmlns:a16="http://schemas.microsoft.com/office/drawing/2014/main" id="{A54ADABD-28E6-EA9E-BE71-2C2013C54D3B}"/>
                </a:ext>
              </a:extLst>
            </p:cNvPr>
            <p:cNvSpPr/>
            <p:nvPr/>
          </p:nvSpPr>
          <p:spPr>
            <a:xfrm>
              <a:off x="8900266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BC199C6E-03A8-6E4C-A64A-B9C6C68A1F5E}"/>
                </a:ext>
              </a:extLst>
            </p:cNvPr>
            <p:cNvSpPr txBox="1"/>
            <p:nvPr/>
          </p:nvSpPr>
          <p:spPr>
            <a:xfrm>
              <a:off x="8903947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Queen</a:t>
              </a:r>
              <a:endParaRPr lang="ko-KR" altLang="en-US" sz="500" b="1" dirty="0"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2E45EC70-AEE2-5DA3-7FAF-10A47A53E69A}"/>
                </a:ext>
              </a:extLst>
            </p:cNvPr>
            <p:cNvSpPr txBox="1"/>
            <p:nvPr/>
          </p:nvSpPr>
          <p:spPr>
            <a:xfrm>
              <a:off x="8927916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195" name="순서도: 수행의 시작/종료 194">
              <a:extLst>
                <a:ext uri="{FF2B5EF4-FFF2-40B4-BE49-F238E27FC236}">
                  <a16:creationId xmlns:a16="http://schemas.microsoft.com/office/drawing/2014/main" id="{C6293295-A3CD-D9D4-703C-39990FAB94F6}"/>
                </a:ext>
              </a:extLst>
            </p:cNvPr>
            <p:cNvSpPr/>
            <p:nvPr/>
          </p:nvSpPr>
          <p:spPr>
            <a:xfrm>
              <a:off x="9108231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BB39D75D-492F-E22D-DA67-C41B53218937}"/>
                </a:ext>
              </a:extLst>
            </p:cNvPr>
            <p:cNvSpPr txBox="1"/>
            <p:nvPr/>
          </p:nvSpPr>
          <p:spPr>
            <a:xfrm>
              <a:off x="8869976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197" name="순서도: 수행의 시작/종료 196">
              <a:extLst>
                <a:ext uri="{FF2B5EF4-FFF2-40B4-BE49-F238E27FC236}">
                  <a16:creationId xmlns:a16="http://schemas.microsoft.com/office/drawing/2014/main" id="{C322A4B2-E79F-865A-5BD5-3048A3EC1B39}"/>
                </a:ext>
              </a:extLst>
            </p:cNvPr>
            <p:cNvSpPr/>
            <p:nvPr/>
          </p:nvSpPr>
          <p:spPr>
            <a:xfrm>
              <a:off x="9108231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E46F5C92-7510-FF00-8F82-0F3DA4AE0652}"/>
              </a:ext>
            </a:extLst>
          </p:cNvPr>
          <p:cNvGrpSpPr/>
          <p:nvPr/>
        </p:nvGrpSpPr>
        <p:grpSpPr>
          <a:xfrm>
            <a:off x="5733084" y="788479"/>
            <a:ext cx="651903" cy="1102822"/>
            <a:chOff x="9437597" y="1506055"/>
            <a:chExt cx="651903" cy="1102822"/>
          </a:xfrm>
        </p:grpSpPr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B197A119-B355-09CB-FD80-0FF90BD68AA1}"/>
                </a:ext>
              </a:extLst>
            </p:cNvPr>
            <p:cNvSpPr/>
            <p:nvPr/>
          </p:nvSpPr>
          <p:spPr>
            <a:xfrm>
              <a:off x="9497108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578F851F-CD52-6381-1A0E-D52E6545A06A}"/>
                </a:ext>
              </a:extLst>
            </p:cNvPr>
            <p:cNvSpPr txBox="1"/>
            <p:nvPr/>
          </p:nvSpPr>
          <p:spPr>
            <a:xfrm>
              <a:off x="9500789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Bishop</a:t>
              </a:r>
              <a:endParaRPr lang="ko-KR" altLang="en-US" sz="500" b="1" dirty="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FC449100-833D-7344-8FC8-CA7EC9E6AB5C}"/>
                </a:ext>
              </a:extLst>
            </p:cNvPr>
            <p:cNvSpPr txBox="1"/>
            <p:nvPr/>
          </p:nvSpPr>
          <p:spPr>
            <a:xfrm>
              <a:off x="9524758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02" name="순서도: 수행의 시작/종료 201">
              <a:extLst>
                <a:ext uri="{FF2B5EF4-FFF2-40B4-BE49-F238E27FC236}">
                  <a16:creationId xmlns:a16="http://schemas.microsoft.com/office/drawing/2014/main" id="{9DECAD69-25F3-4E52-5829-A0C3BD5EE2E3}"/>
                </a:ext>
              </a:extLst>
            </p:cNvPr>
            <p:cNvSpPr/>
            <p:nvPr/>
          </p:nvSpPr>
          <p:spPr>
            <a:xfrm>
              <a:off x="9705073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6446549A-B228-EAF9-2478-EC7403884C0A}"/>
                </a:ext>
              </a:extLst>
            </p:cNvPr>
            <p:cNvSpPr txBox="1"/>
            <p:nvPr/>
          </p:nvSpPr>
          <p:spPr>
            <a:xfrm>
              <a:off x="9466818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2E9B0132-20C6-DA50-4C6A-D7DD4F3274AE}"/>
                </a:ext>
              </a:extLst>
            </p:cNvPr>
            <p:cNvSpPr txBox="1"/>
            <p:nvPr/>
          </p:nvSpPr>
          <p:spPr>
            <a:xfrm>
              <a:off x="9437597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05" name="순서도: 수행의 시작/종료 204">
              <a:extLst>
                <a:ext uri="{FF2B5EF4-FFF2-40B4-BE49-F238E27FC236}">
                  <a16:creationId xmlns:a16="http://schemas.microsoft.com/office/drawing/2014/main" id="{11F14CF6-B124-F9BC-17E9-A1C13F5636A1}"/>
                </a:ext>
              </a:extLst>
            </p:cNvPr>
            <p:cNvSpPr/>
            <p:nvPr/>
          </p:nvSpPr>
          <p:spPr>
            <a:xfrm>
              <a:off x="9705073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06" name="그림 205">
              <a:extLst>
                <a:ext uri="{FF2B5EF4-FFF2-40B4-BE49-F238E27FC236}">
                  <a16:creationId xmlns:a16="http://schemas.microsoft.com/office/drawing/2014/main" id="{B5B4893D-388D-AD60-5DAA-F92498050F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44278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07" name="그룹 206">
            <a:extLst>
              <a:ext uri="{FF2B5EF4-FFF2-40B4-BE49-F238E27FC236}">
                <a16:creationId xmlns:a16="http://schemas.microsoft.com/office/drawing/2014/main" id="{7E43D9F1-C993-D40D-44A5-AB549C76552C}"/>
              </a:ext>
            </a:extLst>
          </p:cNvPr>
          <p:cNvGrpSpPr/>
          <p:nvPr/>
        </p:nvGrpSpPr>
        <p:grpSpPr>
          <a:xfrm>
            <a:off x="6329851" y="788479"/>
            <a:ext cx="651903" cy="1102822"/>
            <a:chOff x="10034364" y="1506055"/>
            <a:chExt cx="651903" cy="1102822"/>
          </a:xfrm>
        </p:grpSpPr>
        <p:sp>
          <p:nvSpPr>
            <p:cNvPr id="208" name="직사각형 207">
              <a:extLst>
                <a:ext uri="{FF2B5EF4-FFF2-40B4-BE49-F238E27FC236}">
                  <a16:creationId xmlns:a16="http://schemas.microsoft.com/office/drawing/2014/main" id="{040D1172-16FD-C5C2-A50B-AF3C08CF251C}"/>
                </a:ext>
              </a:extLst>
            </p:cNvPr>
            <p:cNvSpPr/>
            <p:nvPr/>
          </p:nvSpPr>
          <p:spPr>
            <a:xfrm>
              <a:off x="10093875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1863B478-6422-D010-609B-578485F9023B}"/>
                </a:ext>
              </a:extLst>
            </p:cNvPr>
            <p:cNvSpPr txBox="1"/>
            <p:nvPr/>
          </p:nvSpPr>
          <p:spPr>
            <a:xfrm>
              <a:off x="10097556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Knight</a:t>
              </a:r>
              <a:endParaRPr lang="ko-KR" altLang="en-US" sz="500" b="1" dirty="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418C65C0-4B1E-E17A-AF07-ABECB9ECB715}"/>
                </a:ext>
              </a:extLst>
            </p:cNvPr>
            <p:cNvSpPr txBox="1"/>
            <p:nvPr/>
          </p:nvSpPr>
          <p:spPr>
            <a:xfrm>
              <a:off x="10121525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11" name="순서도: 수행의 시작/종료 210">
              <a:extLst>
                <a:ext uri="{FF2B5EF4-FFF2-40B4-BE49-F238E27FC236}">
                  <a16:creationId xmlns:a16="http://schemas.microsoft.com/office/drawing/2014/main" id="{90E84247-4225-E518-B71A-A3B4D67288D2}"/>
                </a:ext>
              </a:extLst>
            </p:cNvPr>
            <p:cNvSpPr/>
            <p:nvPr/>
          </p:nvSpPr>
          <p:spPr>
            <a:xfrm>
              <a:off x="10301840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12" name="TextBox 211">
              <a:extLst>
                <a:ext uri="{FF2B5EF4-FFF2-40B4-BE49-F238E27FC236}">
                  <a16:creationId xmlns:a16="http://schemas.microsoft.com/office/drawing/2014/main" id="{AFF9C429-66B1-FEF0-78B1-4740D121A3D3}"/>
                </a:ext>
              </a:extLst>
            </p:cNvPr>
            <p:cNvSpPr txBox="1"/>
            <p:nvPr/>
          </p:nvSpPr>
          <p:spPr>
            <a:xfrm>
              <a:off x="10063585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11BE520C-2CB8-A66A-0B0F-683B438BC6FC}"/>
                </a:ext>
              </a:extLst>
            </p:cNvPr>
            <p:cNvSpPr txBox="1"/>
            <p:nvPr/>
          </p:nvSpPr>
          <p:spPr>
            <a:xfrm>
              <a:off x="10034364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14" name="순서도: 수행의 시작/종료 213">
              <a:extLst>
                <a:ext uri="{FF2B5EF4-FFF2-40B4-BE49-F238E27FC236}">
                  <a16:creationId xmlns:a16="http://schemas.microsoft.com/office/drawing/2014/main" id="{05DF42C8-47C7-A5A7-95FB-E080DC16DE36}"/>
                </a:ext>
              </a:extLst>
            </p:cNvPr>
            <p:cNvSpPr/>
            <p:nvPr/>
          </p:nvSpPr>
          <p:spPr>
            <a:xfrm>
              <a:off x="10301840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15" name="그림 214">
              <a:extLst>
                <a:ext uri="{FF2B5EF4-FFF2-40B4-BE49-F238E27FC236}">
                  <a16:creationId xmlns:a16="http://schemas.microsoft.com/office/drawing/2014/main" id="{76DBC1B7-A026-0B93-83C5-7ED576E1C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41121" y="1722304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3E646A56-C002-44C8-502F-88D03CF11D1D}"/>
              </a:ext>
            </a:extLst>
          </p:cNvPr>
          <p:cNvGrpSpPr/>
          <p:nvPr/>
        </p:nvGrpSpPr>
        <p:grpSpPr>
          <a:xfrm>
            <a:off x="6926618" y="788479"/>
            <a:ext cx="651903" cy="1102822"/>
            <a:chOff x="10631131" y="1506055"/>
            <a:chExt cx="651903" cy="1102822"/>
          </a:xfrm>
        </p:grpSpPr>
        <p:sp>
          <p:nvSpPr>
            <p:cNvPr id="217" name="직사각형 216">
              <a:extLst>
                <a:ext uri="{FF2B5EF4-FFF2-40B4-BE49-F238E27FC236}">
                  <a16:creationId xmlns:a16="http://schemas.microsoft.com/office/drawing/2014/main" id="{59D52843-33E4-ACE4-E75A-9574CF74F32B}"/>
                </a:ext>
              </a:extLst>
            </p:cNvPr>
            <p:cNvSpPr/>
            <p:nvPr/>
          </p:nvSpPr>
          <p:spPr>
            <a:xfrm>
              <a:off x="10690642" y="1506055"/>
              <a:ext cx="592392" cy="110282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100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86A3FC76-6A4E-FBE2-AD68-AF3525520294}"/>
                </a:ext>
              </a:extLst>
            </p:cNvPr>
            <p:cNvSpPr txBox="1"/>
            <p:nvPr/>
          </p:nvSpPr>
          <p:spPr>
            <a:xfrm>
              <a:off x="10694323" y="1525138"/>
              <a:ext cx="58871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700" b="1" dirty="0"/>
                <a:t>Rock</a:t>
              </a:r>
              <a:endParaRPr lang="ko-KR" altLang="en-US" sz="500" b="1" dirty="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23590B68-04C1-B749-410C-1079FC9A7084}"/>
                </a:ext>
              </a:extLst>
            </p:cNvPr>
            <p:cNvSpPr txBox="1"/>
            <p:nvPr/>
          </p:nvSpPr>
          <p:spPr>
            <a:xfrm>
              <a:off x="10718292" y="2224387"/>
              <a:ext cx="537090" cy="1692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500" b="1" dirty="0"/>
                <a:t>[</a:t>
              </a:r>
              <a:r>
                <a:rPr lang="ko-KR" altLang="en-US" sz="500" b="1" dirty="0"/>
                <a:t>성명  </a:t>
              </a:r>
              <a:r>
                <a:rPr lang="en-US" altLang="ko-KR" sz="500" b="1" dirty="0"/>
                <a:t>Lv.0]</a:t>
              </a:r>
              <a:endParaRPr lang="ko-KR" altLang="en-US" sz="500" b="1" dirty="0"/>
            </a:p>
          </p:txBody>
        </p:sp>
        <p:sp>
          <p:nvSpPr>
            <p:cNvPr id="220" name="순서도: 수행의 시작/종료 219">
              <a:extLst>
                <a:ext uri="{FF2B5EF4-FFF2-40B4-BE49-F238E27FC236}">
                  <a16:creationId xmlns:a16="http://schemas.microsoft.com/office/drawing/2014/main" id="{B25A55DD-A4FF-80AB-2D5B-BBDA7EC1EA40}"/>
                </a:ext>
              </a:extLst>
            </p:cNvPr>
            <p:cNvSpPr/>
            <p:nvPr/>
          </p:nvSpPr>
          <p:spPr>
            <a:xfrm>
              <a:off x="10898607" y="2381868"/>
              <a:ext cx="356775" cy="79505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500" b="1" dirty="0"/>
                <a:t>10</a:t>
              </a:r>
              <a:endParaRPr lang="ko-KR" altLang="en-US" sz="800" b="1" dirty="0"/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42541A71-ACBC-FA22-9B08-33AB4F07AC10}"/>
                </a:ext>
              </a:extLst>
            </p:cNvPr>
            <p:cNvSpPr txBox="1"/>
            <p:nvPr/>
          </p:nvSpPr>
          <p:spPr>
            <a:xfrm>
              <a:off x="10660352" y="2348701"/>
              <a:ext cx="26854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00" b="1" dirty="0"/>
                <a:t>HP</a:t>
              </a:r>
              <a:endParaRPr lang="ko-KR" altLang="en-US" sz="400" b="1" dirty="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CC507FB9-D136-63BE-8E30-EC106077F685}"/>
                </a:ext>
              </a:extLst>
            </p:cNvPr>
            <p:cNvSpPr txBox="1"/>
            <p:nvPr/>
          </p:nvSpPr>
          <p:spPr>
            <a:xfrm>
              <a:off x="10631131" y="2454989"/>
              <a:ext cx="356775" cy="1538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400" b="1" dirty="0"/>
                <a:t>대기</a:t>
              </a:r>
            </a:p>
          </p:txBody>
        </p:sp>
        <p:sp>
          <p:nvSpPr>
            <p:cNvPr id="223" name="순서도: 수행의 시작/종료 222">
              <a:extLst>
                <a:ext uri="{FF2B5EF4-FFF2-40B4-BE49-F238E27FC236}">
                  <a16:creationId xmlns:a16="http://schemas.microsoft.com/office/drawing/2014/main" id="{594F9A3D-C245-514B-8CF1-7187C5A878A4}"/>
                </a:ext>
              </a:extLst>
            </p:cNvPr>
            <p:cNvSpPr/>
            <p:nvPr/>
          </p:nvSpPr>
          <p:spPr>
            <a:xfrm>
              <a:off x="10898607" y="2494920"/>
              <a:ext cx="356775" cy="79505"/>
            </a:xfrm>
            <a:prstGeom prst="flowChartTerminator">
              <a:avLst/>
            </a:prstGeom>
            <a:solidFill>
              <a:schemeClr val="dk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300" b="1" dirty="0"/>
                <a:t>X </a:t>
              </a:r>
              <a:r>
                <a:rPr lang="ko-KR" altLang="en-US" sz="300" b="1" dirty="0"/>
                <a:t>일</a:t>
              </a:r>
              <a:endParaRPr lang="ko-KR" altLang="en-US" sz="800" b="1" dirty="0"/>
            </a:p>
          </p:txBody>
        </p:sp>
        <p:pic>
          <p:nvPicPr>
            <p:cNvPr id="224" name="그림 223">
              <a:extLst>
                <a:ext uri="{FF2B5EF4-FFF2-40B4-BE49-F238E27FC236}">
                  <a16:creationId xmlns:a16="http://schemas.microsoft.com/office/drawing/2014/main" id="{6138AAA4-4801-F0E4-2BCA-9BB841026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35766" y="1715061"/>
              <a:ext cx="502141" cy="502141"/>
            </a:xfrm>
            <a:prstGeom prst="rect">
              <a:avLst/>
            </a:prstGeom>
            <a:ln>
              <a:solidFill>
                <a:schemeClr val="tx2"/>
              </a:solidFill>
            </a:ln>
          </p:spPr>
        </p:pic>
      </p:grpSp>
      <p:sp>
        <p:nvSpPr>
          <p:cNvPr id="228" name="말풍선: 사각형 227">
            <a:extLst>
              <a:ext uri="{FF2B5EF4-FFF2-40B4-BE49-F238E27FC236}">
                <a16:creationId xmlns:a16="http://schemas.microsoft.com/office/drawing/2014/main" id="{D0BE2B4F-EA79-3A8C-4529-21A097908336}"/>
              </a:ext>
            </a:extLst>
          </p:cNvPr>
          <p:cNvSpPr/>
          <p:nvPr/>
        </p:nvSpPr>
        <p:spPr>
          <a:xfrm>
            <a:off x="7136969" y="586183"/>
            <a:ext cx="356745" cy="260155"/>
          </a:xfrm>
          <a:prstGeom prst="wedgeRectCallout">
            <a:avLst>
              <a:gd name="adj1" fmla="val -78121"/>
              <a:gd name="adj2" fmla="val 3880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…</a:t>
            </a:r>
            <a:endParaRPr lang="ko-KR" altLang="en-US" dirty="0"/>
          </a:p>
        </p:txBody>
      </p: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A85DFD63-4ED8-7E9C-CED9-CC481F27EDF6}"/>
              </a:ext>
            </a:extLst>
          </p:cNvPr>
          <p:cNvGrpSpPr/>
          <p:nvPr/>
        </p:nvGrpSpPr>
        <p:grpSpPr>
          <a:xfrm>
            <a:off x="4591050" y="6142765"/>
            <a:ext cx="2990850" cy="146349"/>
            <a:chOff x="8130630" y="5853899"/>
            <a:chExt cx="4606635" cy="225412"/>
          </a:xfrm>
        </p:grpSpPr>
        <p:sp>
          <p:nvSpPr>
            <p:cNvPr id="234" name="직사각형 233">
              <a:extLst>
                <a:ext uri="{FF2B5EF4-FFF2-40B4-BE49-F238E27FC236}">
                  <a16:creationId xmlns:a16="http://schemas.microsoft.com/office/drawing/2014/main" id="{92886D9D-7508-DA36-6D8E-960ED4349E12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38" name="직사각형 237">
              <a:extLst>
                <a:ext uri="{FF2B5EF4-FFF2-40B4-BE49-F238E27FC236}">
                  <a16:creationId xmlns:a16="http://schemas.microsoft.com/office/drawing/2014/main" id="{FB3D2260-6E4E-E1F3-D05A-7E63E478100B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243" name="직사각형 242">
              <a:extLst>
                <a:ext uri="{FF2B5EF4-FFF2-40B4-BE49-F238E27FC236}">
                  <a16:creationId xmlns:a16="http://schemas.microsoft.com/office/drawing/2014/main" id="{4D7537B3-B438-8ED5-ED5A-E1A0B6D88718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430B6FC3-18AD-C1A6-1324-155BBA1F0F2F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236" name="순서도: 수행의 시작/종료 235">
                <a:extLst>
                  <a:ext uri="{FF2B5EF4-FFF2-40B4-BE49-F238E27FC236}">
                    <a16:creationId xmlns:a16="http://schemas.microsoft.com/office/drawing/2014/main" id="{CE9FE7CC-460E-CEBA-0116-95C86B09D82C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0" name="순서도: 수행의 시작/종료 239">
                <a:extLst>
                  <a:ext uri="{FF2B5EF4-FFF2-40B4-BE49-F238E27FC236}">
                    <a16:creationId xmlns:a16="http://schemas.microsoft.com/office/drawing/2014/main" id="{7F65809D-72E7-9825-AEA3-2CFE845658EF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5" name="순서도: 수행의 시작/종료 244">
                <a:extLst>
                  <a:ext uri="{FF2B5EF4-FFF2-40B4-BE49-F238E27FC236}">
                    <a16:creationId xmlns:a16="http://schemas.microsoft.com/office/drawing/2014/main" id="{93715E86-CD69-D975-7307-B94CFA059BE2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47" name="직사각형 246">
                <a:extLst>
                  <a:ext uri="{FF2B5EF4-FFF2-40B4-BE49-F238E27FC236}">
                    <a16:creationId xmlns:a16="http://schemas.microsoft.com/office/drawing/2014/main" id="{C2F08C04-2337-9FAC-7340-150B6E05D67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9" name="직사각형 248">
                <a:extLst>
                  <a:ext uri="{FF2B5EF4-FFF2-40B4-BE49-F238E27FC236}">
                    <a16:creationId xmlns:a16="http://schemas.microsoft.com/office/drawing/2014/main" id="{3285F075-79EE-C76A-2F7D-F48FDBE4E1B1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1C7D65E-211C-75C6-23EA-20BFE2CC5967}"/>
              </a:ext>
            </a:extLst>
          </p:cNvPr>
          <p:cNvGrpSpPr/>
          <p:nvPr/>
        </p:nvGrpSpPr>
        <p:grpSpPr>
          <a:xfrm>
            <a:off x="4597902" y="1889627"/>
            <a:ext cx="2990850" cy="146349"/>
            <a:chOff x="8130630" y="5853899"/>
            <a:chExt cx="4606635" cy="22541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B2A4A967-68BE-B940-43CC-BB1927ECECDA}"/>
                </a:ext>
              </a:extLst>
            </p:cNvPr>
            <p:cNvSpPr/>
            <p:nvPr/>
          </p:nvSpPr>
          <p:spPr>
            <a:xfrm>
              <a:off x="8130630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E872FE5-345C-69A2-287B-25F0C7DE7D34}"/>
                </a:ext>
              </a:extLst>
            </p:cNvPr>
            <p:cNvSpPr/>
            <p:nvPr/>
          </p:nvSpPr>
          <p:spPr>
            <a:xfrm>
              <a:off x="9098547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8538C57F-ED87-95AA-1B6B-15DE8DD7E891}"/>
                </a:ext>
              </a:extLst>
            </p:cNvPr>
            <p:cNvSpPr/>
            <p:nvPr/>
          </p:nvSpPr>
          <p:spPr>
            <a:xfrm>
              <a:off x="10024796" y="5864998"/>
              <a:ext cx="859971" cy="21431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47261CFA-B870-8C45-B1C2-983EE98ABB84}"/>
                </a:ext>
              </a:extLst>
            </p:cNvPr>
            <p:cNvGrpSpPr/>
            <p:nvPr/>
          </p:nvGrpSpPr>
          <p:grpSpPr>
            <a:xfrm>
              <a:off x="8222429" y="5853899"/>
              <a:ext cx="4514836" cy="214313"/>
              <a:chOff x="8222429" y="5853899"/>
              <a:chExt cx="4514836" cy="214313"/>
            </a:xfrm>
          </p:grpSpPr>
          <p:sp>
            <p:nvSpPr>
              <p:cNvPr id="16" name="순서도: 수행의 시작/종료 15">
                <a:extLst>
                  <a:ext uri="{FF2B5EF4-FFF2-40B4-BE49-F238E27FC236}">
                    <a16:creationId xmlns:a16="http://schemas.microsoft.com/office/drawing/2014/main" id="{7995BE6A-37DE-5335-2161-2319850F9226}"/>
                  </a:ext>
                </a:extLst>
              </p:cNvPr>
              <p:cNvSpPr/>
              <p:nvPr/>
            </p:nvSpPr>
            <p:spPr>
              <a:xfrm>
                <a:off x="8222429" y="5905872"/>
                <a:ext cx="691183" cy="141059"/>
              </a:xfrm>
              <a:prstGeom prst="flowChartTerminator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18" name="순서도: 수행의 시작/종료 17">
                <a:extLst>
                  <a:ext uri="{FF2B5EF4-FFF2-40B4-BE49-F238E27FC236}">
                    <a16:creationId xmlns:a16="http://schemas.microsoft.com/office/drawing/2014/main" id="{36891F3C-E5BA-8CAB-B8C4-731DB92A3E27}"/>
                  </a:ext>
                </a:extLst>
              </p:cNvPr>
              <p:cNvSpPr/>
              <p:nvPr/>
            </p:nvSpPr>
            <p:spPr>
              <a:xfrm>
                <a:off x="9190346" y="5905872"/>
                <a:ext cx="691183" cy="141059"/>
              </a:xfrm>
              <a:prstGeom prst="flowChartTerminator">
                <a:avLst/>
              </a:prstGeom>
              <a:solidFill>
                <a:schemeClr val="dk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0" name="순서도: 수행의 시작/종료 19">
                <a:extLst>
                  <a:ext uri="{FF2B5EF4-FFF2-40B4-BE49-F238E27FC236}">
                    <a16:creationId xmlns:a16="http://schemas.microsoft.com/office/drawing/2014/main" id="{6BD692D8-E8C3-9DCC-C058-D55394BFF560}"/>
                  </a:ext>
                </a:extLst>
              </p:cNvPr>
              <p:cNvSpPr/>
              <p:nvPr/>
            </p:nvSpPr>
            <p:spPr>
              <a:xfrm>
                <a:off x="10116595" y="5905872"/>
                <a:ext cx="691183" cy="141059"/>
              </a:xfrm>
              <a:prstGeom prst="flowChartTerminator">
                <a:avLst/>
              </a:prstGeom>
              <a:ln/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400" b="1" dirty="0"/>
                  <a:t>고유기술</a:t>
                </a:r>
                <a:r>
                  <a:rPr lang="en-US" altLang="ko-KR" sz="400" b="1" dirty="0"/>
                  <a:t>(SP)</a:t>
                </a:r>
                <a:endParaRPr lang="ko-KR" altLang="en-US" sz="700" b="1" dirty="0"/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97EE264A-ABB9-B1FB-337E-90F29FB92D40}"/>
                  </a:ext>
                </a:extLst>
              </p:cNvPr>
              <p:cNvSpPr/>
              <p:nvPr/>
            </p:nvSpPr>
            <p:spPr>
              <a:xfrm>
                <a:off x="10951045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00856B75-A5E9-9B8F-6963-A029478D11D9}"/>
                  </a:ext>
                </a:extLst>
              </p:cNvPr>
              <p:cNvSpPr/>
              <p:nvPr/>
            </p:nvSpPr>
            <p:spPr>
              <a:xfrm>
                <a:off x="11877294" y="5853899"/>
                <a:ext cx="859971" cy="2143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</p:grp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A974D1B3-A026-CB5A-38F5-A035D3049CFF}"/>
              </a:ext>
            </a:extLst>
          </p:cNvPr>
          <p:cNvGrpSpPr/>
          <p:nvPr/>
        </p:nvGrpSpPr>
        <p:grpSpPr>
          <a:xfrm>
            <a:off x="6021225" y="557969"/>
            <a:ext cx="537307" cy="307777"/>
            <a:chOff x="8411485" y="4088258"/>
            <a:chExt cx="829321" cy="315669"/>
          </a:xfrm>
        </p:grpSpPr>
        <p:sp>
          <p:nvSpPr>
            <p:cNvPr id="97" name="순서도: 수행의 시작/종료 96">
              <a:extLst>
                <a:ext uri="{FF2B5EF4-FFF2-40B4-BE49-F238E27FC236}">
                  <a16:creationId xmlns:a16="http://schemas.microsoft.com/office/drawing/2014/main" id="{A45BCFCE-5AA7-C973-7273-D4987456484E}"/>
                </a:ext>
              </a:extLst>
            </p:cNvPr>
            <p:cNvSpPr/>
            <p:nvPr/>
          </p:nvSpPr>
          <p:spPr>
            <a:xfrm>
              <a:off x="8882098" y="4124806"/>
              <a:ext cx="358708" cy="176251"/>
            </a:xfrm>
            <a:prstGeom prst="flowChartTerminator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b="1" dirty="0"/>
                <a:t>1</a:t>
              </a:r>
              <a:endParaRPr lang="ko-KR" altLang="en-US" sz="900" b="1" dirty="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9D64C970-5E16-43CE-AF2F-F0026CC9179A}"/>
                </a:ext>
              </a:extLst>
            </p:cNvPr>
            <p:cNvSpPr txBox="1"/>
            <p:nvPr/>
          </p:nvSpPr>
          <p:spPr>
            <a:xfrm>
              <a:off x="8411485" y="4088258"/>
              <a:ext cx="814017" cy="3156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북군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CA27A81F-6932-D5FE-39C1-728014F246E9}"/>
              </a:ext>
            </a:extLst>
          </p:cNvPr>
          <p:cNvGrpSpPr/>
          <p:nvPr/>
        </p:nvGrpSpPr>
        <p:grpSpPr>
          <a:xfrm>
            <a:off x="6530569" y="566932"/>
            <a:ext cx="497314" cy="214313"/>
            <a:chOff x="8417049" y="4509528"/>
            <a:chExt cx="981406" cy="225061"/>
          </a:xfrm>
        </p:grpSpPr>
        <p:sp>
          <p:nvSpPr>
            <p:cNvPr id="104" name="순서도: 수행의 시작/종료 103">
              <a:extLst>
                <a:ext uri="{FF2B5EF4-FFF2-40B4-BE49-F238E27FC236}">
                  <a16:creationId xmlns:a16="http://schemas.microsoft.com/office/drawing/2014/main" id="{BB7554DF-78EC-A240-D1C3-19ACEC244757}"/>
                </a:ext>
              </a:extLst>
            </p:cNvPr>
            <p:cNvSpPr/>
            <p:nvPr/>
          </p:nvSpPr>
          <p:spPr>
            <a:xfrm>
              <a:off x="8913708" y="4546076"/>
              <a:ext cx="484747" cy="188513"/>
            </a:xfrm>
            <a:prstGeom prst="flowChartTerminator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700" b="1" dirty="0"/>
                <a:t>1</a:t>
              </a:r>
              <a:endParaRPr lang="ko-KR" altLang="en-US" sz="1000" b="1" dirty="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0DADD863-F06A-672D-20DB-0FC6A2D8CCC7}"/>
                </a:ext>
              </a:extLst>
            </p:cNvPr>
            <p:cNvSpPr txBox="1"/>
            <p:nvPr/>
          </p:nvSpPr>
          <p:spPr>
            <a:xfrm>
              <a:off x="8417049" y="4509528"/>
              <a:ext cx="814018" cy="2051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남군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SP</a:t>
              </a:r>
              <a:endParaRPr lang="ko-KR" altLang="en-US" sz="10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424E9E0F-ED2B-68C8-8F27-F6050EBD94FC}"/>
              </a:ext>
            </a:extLst>
          </p:cNvPr>
          <p:cNvGrpSpPr/>
          <p:nvPr/>
        </p:nvGrpSpPr>
        <p:grpSpPr>
          <a:xfrm>
            <a:off x="4755413" y="2804586"/>
            <a:ext cx="1776384" cy="1666664"/>
            <a:chOff x="8491566" y="1960036"/>
            <a:chExt cx="1776384" cy="1666664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16E5FA97-18C8-B9A0-0973-9B0BD0595005}"/>
                </a:ext>
              </a:extLst>
            </p:cNvPr>
            <p:cNvSpPr/>
            <p:nvPr/>
          </p:nvSpPr>
          <p:spPr>
            <a:xfrm>
              <a:off x="8491566" y="1977715"/>
              <a:ext cx="1776384" cy="164898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729CF882-FF30-CBD6-415D-8347A3D72A9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47711" y="1977715"/>
              <a:ext cx="369354" cy="461693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26B964A-7E97-FEB8-5BF0-D9638420A2B1}"/>
                </a:ext>
              </a:extLst>
            </p:cNvPr>
            <p:cNvSpPr txBox="1"/>
            <p:nvPr/>
          </p:nvSpPr>
          <p:spPr>
            <a:xfrm>
              <a:off x="8858728" y="1977715"/>
              <a:ext cx="1409222" cy="55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기물명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아군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적군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클래스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장수이름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] [Lv. X]</a:t>
              </a: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무력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지력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XX, 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통솔력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XX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DB2AA8-D872-5729-FBD9-4467B69355C0}"/>
                </a:ext>
              </a:extLst>
            </p:cNvPr>
            <p:cNvSpPr txBox="1"/>
            <p:nvPr/>
          </p:nvSpPr>
          <p:spPr>
            <a:xfrm>
              <a:off x="8545038" y="2551637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HP xx/xx          AT 2-4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MP xx/xx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        WT 000</a:t>
              </a:r>
            </a:p>
          </p:txBody>
        </p:sp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D9FCE9B3-E0F5-0E90-8EAD-1806EC927479}"/>
                </a:ext>
              </a:extLst>
            </p:cNvPr>
            <p:cNvSpPr/>
            <p:nvPr/>
          </p:nvSpPr>
          <p:spPr>
            <a:xfrm>
              <a:off x="8545038" y="2994281"/>
              <a:ext cx="1059972" cy="157972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고유기술명</a:t>
              </a:r>
              <a:r>
                <a:rPr lang="en-US" altLang="ko-KR" sz="900" dirty="0"/>
                <a:t> (SP)</a:t>
              </a:r>
              <a:endParaRPr lang="ko-KR" altLang="en-US" sz="900" dirty="0"/>
            </a:p>
          </p:txBody>
        </p:sp>
        <p:sp>
          <p:nvSpPr>
            <p:cNvPr id="32" name="곱하기 기호 31">
              <a:extLst>
                <a:ext uri="{FF2B5EF4-FFF2-40B4-BE49-F238E27FC236}">
                  <a16:creationId xmlns:a16="http://schemas.microsoft.com/office/drawing/2014/main" id="{9D750E75-4AEF-4EF1-606A-E845AB94A920}"/>
                </a:ext>
              </a:extLst>
            </p:cNvPr>
            <p:cNvSpPr/>
            <p:nvPr/>
          </p:nvSpPr>
          <p:spPr>
            <a:xfrm>
              <a:off x="9998577" y="1960036"/>
              <a:ext cx="215900" cy="260350"/>
            </a:xfrm>
            <a:prstGeom prst="mathMultiply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0A5C3FC-72C7-5D6E-8705-CF326C62201B}"/>
                </a:ext>
              </a:extLst>
            </p:cNvPr>
            <p:cNvSpPr txBox="1"/>
            <p:nvPr/>
          </p:nvSpPr>
          <p:spPr>
            <a:xfrm>
              <a:off x="8545038" y="3201671"/>
              <a:ext cx="1669439" cy="394660"/>
            </a:xfrm>
            <a:prstGeom prst="rect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현재 걸려있는 버프</a:t>
              </a:r>
              <a:r>
                <a:rPr lang="en-US" altLang="ko-KR" sz="700" b="1" dirty="0">
                  <a:solidFill>
                    <a:schemeClr val="bg1">
                      <a:lumMod val="95000"/>
                    </a:schemeClr>
                  </a:solidFill>
                </a:rPr>
                <a:t>/</a:t>
              </a:r>
              <a:r>
                <a:rPr lang="ko-KR" altLang="en-US" sz="700" b="1" dirty="0" err="1">
                  <a:solidFill>
                    <a:schemeClr val="bg1">
                      <a:lumMod val="95000"/>
                    </a:schemeClr>
                  </a:solidFill>
                </a:rPr>
                <a:t>디버프</a:t>
              </a: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 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700" b="1" dirty="0">
                  <a:solidFill>
                    <a:schemeClr val="bg1">
                      <a:lumMod val="95000"/>
                    </a:schemeClr>
                  </a:solidFill>
                </a:rPr>
                <a:t>카드형태 목록</a:t>
              </a:r>
              <a:endParaRPr lang="en-US" altLang="ko-KR" sz="700" b="1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4E4BB0E-F800-4225-CB94-062D18DBBDAA}"/>
              </a:ext>
            </a:extLst>
          </p:cNvPr>
          <p:cNvSpPr/>
          <p:nvPr/>
        </p:nvSpPr>
        <p:spPr>
          <a:xfrm>
            <a:off x="6330917" y="3263405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D4152750-5D16-83D7-BAAC-CBC885481207}"/>
              </a:ext>
            </a:extLst>
          </p:cNvPr>
          <p:cNvSpPr/>
          <p:nvPr/>
        </p:nvSpPr>
        <p:spPr>
          <a:xfrm>
            <a:off x="6439656" y="353940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4D91C2B-C668-718B-5C02-AC280792C46A}"/>
              </a:ext>
            </a:extLst>
          </p:cNvPr>
          <p:cNvSpPr/>
          <p:nvPr/>
        </p:nvSpPr>
        <p:spPr>
          <a:xfrm>
            <a:off x="6438538" y="380670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45FFE2A0-3E0E-69F9-31A9-E78BF61B7506}"/>
              </a:ext>
            </a:extLst>
          </p:cNvPr>
          <p:cNvSpPr/>
          <p:nvPr/>
        </p:nvSpPr>
        <p:spPr>
          <a:xfrm>
            <a:off x="6438538" y="406902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B85C261E-E05A-CA34-E2D5-D0002827C01B}"/>
              </a:ext>
            </a:extLst>
          </p:cNvPr>
          <p:cNvSpPr/>
          <p:nvPr/>
        </p:nvSpPr>
        <p:spPr>
          <a:xfrm>
            <a:off x="6438538" y="4338438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0CF4DAB2-8AEE-D296-59FD-752BB19F6B5D}"/>
              </a:ext>
            </a:extLst>
          </p:cNvPr>
          <p:cNvSpPr/>
          <p:nvPr/>
        </p:nvSpPr>
        <p:spPr>
          <a:xfrm>
            <a:off x="6433193" y="4606146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55" name="같음 기호 54">
            <a:extLst>
              <a:ext uri="{FF2B5EF4-FFF2-40B4-BE49-F238E27FC236}">
                <a16:creationId xmlns:a16="http://schemas.microsoft.com/office/drawing/2014/main" id="{B788B95A-15C6-738D-0D04-B007540C9EF8}"/>
              </a:ext>
            </a:extLst>
          </p:cNvPr>
          <p:cNvSpPr/>
          <p:nvPr/>
        </p:nvSpPr>
        <p:spPr>
          <a:xfrm>
            <a:off x="7064951" y="334041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8C6E0205-6C69-1E52-E234-87D94C73E1E0}"/>
              </a:ext>
            </a:extLst>
          </p:cNvPr>
          <p:cNvSpPr/>
          <p:nvPr/>
        </p:nvSpPr>
        <p:spPr>
          <a:xfrm>
            <a:off x="8270133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314A6454-CA71-1F46-27D4-FA7922E04E52}"/>
              </a:ext>
            </a:extLst>
          </p:cNvPr>
          <p:cNvSpPr/>
          <p:nvPr/>
        </p:nvSpPr>
        <p:spPr>
          <a:xfrm>
            <a:off x="8378872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56FF0E32-575C-D2E1-820F-A912C613BF87}"/>
              </a:ext>
            </a:extLst>
          </p:cNvPr>
          <p:cNvSpPr/>
          <p:nvPr/>
        </p:nvSpPr>
        <p:spPr>
          <a:xfrm>
            <a:off x="8377754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50292E14-2EB3-6FA3-EA08-CFE64BF52440}"/>
              </a:ext>
            </a:extLst>
          </p:cNvPr>
          <p:cNvSpPr/>
          <p:nvPr/>
        </p:nvSpPr>
        <p:spPr>
          <a:xfrm>
            <a:off x="8377754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95B322C6-3694-71E5-C2F6-823758E44CD3}"/>
              </a:ext>
            </a:extLst>
          </p:cNvPr>
          <p:cNvSpPr/>
          <p:nvPr/>
        </p:nvSpPr>
        <p:spPr>
          <a:xfrm>
            <a:off x="8377754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42155D9C-4B9E-5726-CA8B-6C24AD07471C}"/>
              </a:ext>
            </a:extLst>
          </p:cNvPr>
          <p:cNvSpPr/>
          <p:nvPr/>
        </p:nvSpPr>
        <p:spPr>
          <a:xfrm>
            <a:off x="8372409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71" name="같음 기호 70">
            <a:extLst>
              <a:ext uri="{FF2B5EF4-FFF2-40B4-BE49-F238E27FC236}">
                <a16:creationId xmlns:a16="http://schemas.microsoft.com/office/drawing/2014/main" id="{590987D6-29A0-4D6D-0D87-36A78BEFB215}"/>
              </a:ext>
            </a:extLst>
          </p:cNvPr>
          <p:cNvSpPr/>
          <p:nvPr/>
        </p:nvSpPr>
        <p:spPr>
          <a:xfrm>
            <a:off x="9004167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A81E663-FBCA-3EFF-E014-D7823EE336DE}"/>
              </a:ext>
            </a:extLst>
          </p:cNvPr>
          <p:cNvSpPr/>
          <p:nvPr/>
        </p:nvSpPr>
        <p:spPr>
          <a:xfrm>
            <a:off x="9882088" y="957812"/>
            <a:ext cx="1094282" cy="1621291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091718DA-3C84-4E92-F961-A74E2F558B51}"/>
              </a:ext>
            </a:extLst>
          </p:cNvPr>
          <p:cNvSpPr/>
          <p:nvPr/>
        </p:nvSpPr>
        <p:spPr>
          <a:xfrm>
            <a:off x="9990827" y="123381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이동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26A8BD1B-6337-7E45-7F24-515BCA8BF653}"/>
              </a:ext>
            </a:extLst>
          </p:cNvPr>
          <p:cNvSpPr/>
          <p:nvPr/>
        </p:nvSpPr>
        <p:spPr>
          <a:xfrm>
            <a:off x="9989709" y="1501110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공격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09CC70BB-855F-A8B3-51F5-AB619E336C52}"/>
              </a:ext>
            </a:extLst>
          </p:cNvPr>
          <p:cNvSpPr/>
          <p:nvPr/>
        </p:nvSpPr>
        <p:spPr>
          <a:xfrm>
            <a:off x="9989709" y="1763432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책략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6A71D5BC-CFFF-97D8-9FB9-D4F5CF1F201F}"/>
              </a:ext>
            </a:extLst>
          </p:cNvPr>
          <p:cNvSpPr/>
          <p:nvPr/>
        </p:nvSpPr>
        <p:spPr>
          <a:xfrm>
            <a:off x="9989709" y="2032845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명상</a:t>
            </a:r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D2BC3EA3-ADBD-C195-DD0B-6FD987ED10A2}"/>
              </a:ext>
            </a:extLst>
          </p:cNvPr>
          <p:cNvSpPr/>
          <p:nvPr/>
        </p:nvSpPr>
        <p:spPr>
          <a:xfrm>
            <a:off x="9984364" y="2300553"/>
            <a:ext cx="876803" cy="21938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대기</a:t>
            </a:r>
          </a:p>
        </p:txBody>
      </p:sp>
      <p:sp>
        <p:nvSpPr>
          <p:cNvPr id="85" name="같음 기호 84">
            <a:extLst>
              <a:ext uri="{FF2B5EF4-FFF2-40B4-BE49-F238E27FC236}">
                <a16:creationId xmlns:a16="http://schemas.microsoft.com/office/drawing/2014/main" id="{03632DE4-EF39-8A03-E622-029AE0AD74A4}"/>
              </a:ext>
            </a:extLst>
          </p:cNvPr>
          <p:cNvSpPr/>
          <p:nvPr/>
        </p:nvSpPr>
        <p:spPr>
          <a:xfrm>
            <a:off x="10616122" y="1034826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21B7C84-07EE-B73C-67C0-4E438D24484C}"/>
              </a:ext>
            </a:extLst>
          </p:cNvPr>
          <p:cNvSpPr txBox="1"/>
          <p:nvPr/>
        </p:nvSpPr>
        <p:spPr>
          <a:xfrm>
            <a:off x="833550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최초 표시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A19A80C-78A1-FC0D-D24D-A51100C69B5F}"/>
              </a:ext>
            </a:extLst>
          </p:cNvPr>
          <p:cNvSpPr txBox="1"/>
          <p:nvPr/>
        </p:nvSpPr>
        <p:spPr>
          <a:xfrm>
            <a:off x="9929994" y="549000"/>
            <a:ext cx="9855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 후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9BB78018-205D-49F7-6D49-8AB937BACCBC}"/>
              </a:ext>
            </a:extLst>
          </p:cNvPr>
          <p:cNvSpPr/>
          <p:nvPr/>
        </p:nvSpPr>
        <p:spPr>
          <a:xfrm>
            <a:off x="8273336" y="3270739"/>
            <a:ext cx="1094282" cy="307777"/>
          </a:xfrm>
          <a:prstGeom prst="roundRect">
            <a:avLst>
              <a:gd name="adj" fmla="val 906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8" name="같음 기호 107">
            <a:extLst>
              <a:ext uri="{FF2B5EF4-FFF2-40B4-BE49-F238E27FC236}">
                <a16:creationId xmlns:a16="http://schemas.microsoft.com/office/drawing/2014/main" id="{23EDD553-5AF7-3869-8C6D-D519BFD2DEA3}"/>
              </a:ext>
            </a:extLst>
          </p:cNvPr>
          <p:cNvSpPr/>
          <p:nvPr/>
        </p:nvSpPr>
        <p:spPr>
          <a:xfrm>
            <a:off x="9007370" y="3361929"/>
            <a:ext cx="251508" cy="136624"/>
          </a:xfrm>
          <a:prstGeom prst="mathEqual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B80F434-5402-2ED7-659F-20D4F7E44CB8}"/>
              </a:ext>
            </a:extLst>
          </p:cNvPr>
          <p:cNvSpPr txBox="1"/>
          <p:nvPr/>
        </p:nvSpPr>
        <p:spPr>
          <a:xfrm>
            <a:off x="8270133" y="2826485"/>
            <a:ext cx="12121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최소화 표시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7D86AE79-BA86-FFCE-57B2-90575613A0F5}"/>
              </a:ext>
            </a:extLst>
          </p:cNvPr>
          <p:cNvSpPr/>
          <p:nvPr/>
        </p:nvSpPr>
        <p:spPr>
          <a:xfrm>
            <a:off x="4750929" y="3263405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CBE03DB3-C10B-FCF6-A0EC-3E7ED72FC76A}"/>
              </a:ext>
            </a:extLst>
          </p:cNvPr>
          <p:cNvSpPr/>
          <p:nvPr/>
        </p:nvSpPr>
        <p:spPr>
          <a:xfrm>
            <a:off x="4742746" y="2185412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9A7996F4-9E53-A14D-E02B-24B0288BA7E8}"/>
              </a:ext>
            </a:extLst>
          </p:cNvPr>
          <p:cNvSpPr/>
          <p:nvPr/>
        </p:nvSpPr>
        <p:spPr>
          <a:xfrm>
            <a:off x="6337534" y="2154378"/>
            <a:ext cx="1094282" cy="1621291"/>
          </a:xfrm>
          <a:prstGeom prst="roundRect">
            <a:avLst>
              <a:gd name="adj" fmla="val 9065"/>
            </a:avLst>
          </a:prstGeom>
          <a:solidFill>
            <a:schemeClr val="accent4">
              <a:alpha val="2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26458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AFCEA2-2F2B-E0E1-DA8F-C270A6159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BC9227-ED14-55BC-E3CB-0568215F9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UI update</a:t>
            </a:r>
            <a:br>
              <a:rPr lang="en-US" altLang="ko-KR" dirty="0"/>
            </a:br>
            <a:br>
              <a:rPr lang="en-US" altLang="ko-KR" dirty="0"/>
            </a:b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534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47BD-ADDD-7990-3B48-28F17E5C5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40CEA44-0B04-2D91-3F01-9DFD201B8C50}"/>
              </a:ext>
            </a:extLst>
          </p:cNvPr>
          <p:cNvSpPr/>
          <p:nvPr/>
        </p:nvSpPr>
        <p:spPr>
          <a:xfrm>
            <a:off x="3904885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CEEB95-A58A-C2C8-4D72-3188596020F9}"/>
              </a:ext>
            </a:extLst>
          </p:cNvPr>
          <p:cNvSpPr txBox="1"/>
          <p:nvPr/>
        </p:nvSpPr>
        <p:spPr>
          <a:xfrm>
            <a:off x="404039" y="341501"/>
            <a:ext cx="3242676" cy="29472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모바일 화면 기준</a:t>
            </a:r>
            <a:r>
              <a:rPr lang="en-US" altLang="ko-KR" b="1" dirty="0"/>
              <a:t>,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1 </a:t>
            </a:r>
            <a:r>
              <a:rPr lang="ko-KR" altLang="en-US" dirty="0"/>
              <a:t>도시 메인 화면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2 </a:t>
            </a:r>
            <a:r>
              <a:rPr lang="ko-KR" altLang="en-US" dirty="0"/>
              <a:t>장수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3 </a:t>
            </a:r>
            <a:r>
              <a:rPr lang="ko-KR" altLang="en-US" dirty="0"/>
              <a:t>도시 관리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4 AI </a:t>
            </a:r>
            <a:r>
              <a:rPr lang="ko-KR" altLang="en-US" dirty="0"/>
              <a:t>대전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5 </a:t>
            </a:r>
            <a:r>
              <a:rPr lang="ko-KR" altLang="en-US" dirty="0"/>
              <a:t>온라인 전투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6</a:t>
            </a:r>
            <a:r>
              <a:rPr lang="ko-KR" altLang="en-US" dirty="0"/>
              <a:t> 환경 설정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7767059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그룹 92">
            <a:extLst>
              <a:ext uri="{FF2B5EF4-FFF2-40B4-BE49-F238E27FC236}">
                <a16:creationId xmlns:a16="http://schemas.microsoft.com/office/drawing/2014/main" id="{6B37B2AC-1CEF-07BF-CD77-C42D7A68FC37}"/>
              </a:ext>
            </a:extLst>
          </p:cNvPr>
          <p:cNvGrpSpPr/>
          <p:nvPr/>
        </p:nvGrpSpPr>
        <p:grpSpPr>
          <a:xfrm>
            <a:off x="1487001" y="168227"/>
            <a:ext cx="4171076" cy="6521545"/>
            <a:chOff x="4010462" y="168227"/>
            <a:chExt cx="4171076" cy="6521545"/>
          </a:xfrm>
        </p:grpSpPr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6783321C-9883-7926-4F18-32F041DEF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alphaModFix amt="40000"/>
            </a:blip>
            <a:stretch>
              <a:fillRect/>
            </a:stretch>
          </p:blipFill>
          <p:spPr>
            <a:xfrm>
              <a:off x="4010463" y="1325820"/>
              <a:ext cx="4169610" cy="4188715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8A597D26-8E02-6370-A2F2-B96FB75D8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2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10462" y="1343462"/>
              <a:ext cx="4171076" cy="4171076"/>
            </a:xfrm>
            <a:prstGeom prst="rect">
              <a:avLst/>
            </a:prstGeom>
          </p:spPr>
        </p:pic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67E32027-95CE-1652-9CD0-FD7C04B20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4010462" y="168227"/>
              <a:ext cx="834232" cy="1175235"/>
            </a:xfrm>
            <a:prstGeom prst="rect">
              <a:avLst/>
            </a:prstGeom>
          </p:spPr>
        </p:pic>
        <p:pic>
          <p:nvPicPr>
            <p:cNvPr id="50" name="그림 49">
              <a:extLst>
                <a:ext uri="{FF2B5EF4-FFF2-40B4-BE49-F238E27FC236}">
                  <a16:creationId xmlns:a16="http://schemas.microsoft.com/office/drawing/2014/main" id="{AB56A523-2537-56AF-E091-C406D3928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13613" y="410417"/>
              <a:ext cx="424211" cy="853355"/>
            </a:xfrm>
            <a:prstGeom prst="rect">
              <a:avLst/>
            </a:prstGeom>
          </p:spPr>
        </p:pic>
        <p:pic>
          <p:nvPicPr>
            <p:cNvPr id="55" name="그림 54">
              <a:extLst>
                <a:ext uri="{FF2B5EF4-FFF2-40B4-BE49-F238E27FC236}">
                  <a16:creationId xmlns:a16="http://schemas.microsoft.com/office/drawing/2014/main" id="{CB640DB7-BEE3-3BAD-4C98-0E9856D92A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4844731" y="168227"/>
              <a:ext cx="834232" cy="1175235"/>
            </a:xfrm>
            <a:prstGeom prst="rect">
              <a:avLst/>
            </a:prstGeom>
          </p:spPr>
        </p:pic>
        <p:pic>
          <p:nvPicPr>
            <p:cNvPr id="57" name="그림 56">
              <a:extLst>
                <a:ext uri="{FF2B5EF4-FFF2-40B4-BE49-F238E27FC236}">
                  <a16:creationId xmlns:a16="http://schemas.microsoft.com/office/drawing/2014/main" id="{3C8BD321-68A2-C80E-F476-4A81D712B54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7882" y="410417"/>
              <a:ext cx="424211" cy="853355"/>
            </a:xfrm>
            <a:prstGeom prst="rect">
              <a:avLst/>
            </a:prstGeom>
          </p:spPr>
        </p:pic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1014D5EC-5219-622A-01A8-37D341EF1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5683061" y="168227"/>
              <a:ext cx="834232" cy="1175235"/>
            </a:xfrm>
            <a:prstGeom prst="rect">
              <a:avLst/>
            </a:prstGeom>
          </p:spPr>
        </p:pic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A3DD17AA-20F6-EE25-2137-4BBAD3ED6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86212" y="410417"/>
              <a:ext cx="424211" cy="853355"/>
            </a:xfrm>
            <a:prstGeom prst="rect">
              <a:avLst/>
            </a:prstGeom>
          </p:spPr>
        </p:pic>
        <p:pic>
          <p:nvPicPr>
            <p:cNvPr id="63" name="그림 62">
              <a:extLst>
                <a:ext uri="{FF2B5EF4-FFF2-40B4-BE49-F238E27FC236}">
                  <a16:creationId xmlns:a16="http://schemas.microsoft.com/office/drawing/2014/main" id="{C8FEB773-0C75-4E50-820D-63001E34F4F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6517330" y="168227"/>
              <a:ext cx="834232" cy="1175235"/>
            </a:xfrm>
            <a:prstGeom prst="rect">
              <a:avLst/>
            </a:prstGeom>
          </p:spPr>
        </p:pic>
        <p:pic>
          <p:nvPicPr>
            <p:cNvPr id="65" name="그림 64">
              <a:extLst>
                <a:ext uri="{FF2B5EF4-FFF2-40B4-BE49-F238E27FC236}">
                  <a16:creationId xmlns:a16="http://schemas.microsoft.com/office/drawing/2014/main" id="{1586F65B-A6A0-EC03-326A-BD3D0702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20481" y="410417"/>
              <a:ext cx="424211" cy="853355"/>
            </a:xfrm>
            <a:prstGeom prst="rect">
              <a:avLst/>
            </a:prstGeom>
          </p:spPr>
        </p:pic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827DA30D-9031-1064-5FE0-EE848629E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7345840" y="168227"/>
              <a:ext cx="834232" cy="1175235"/>
            </a:xfrm>
            <a:prstGeom prst="rect">
              <a:avLst/>
            </a:prstGeom>
          </p:spPr>
        </p:pic>
        <p:pic>
          <p:nvPicPr>
            <p:cNvPr id="69" name="그림 68">
              <a:extLst>
                <a:ext uri="{FF2B5EF4-FFF2-40B4-BE49-F238E27FC236}">
                  <a16:creationId xmlns:a16="http://schemas.microsoft.com/office/drawing/2014/main" id="{514AC9A3-99DC-281E-37A7-D2E4FC8155A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48991" y="410417"/>
              <a:ext cx="424211" cy="853355"/>
            </a:xfrm>
            <a:prstGeom prst="rect">
              <a:avLst/>
            </a:prstGeom>
          </p:spPr>
        </p:pic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6D66DA11-29CA-8619-1A73-C957F2D66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4010462" y="5514537"/>
              <a:ext cx="834232" cy="1175235"/>
            </a:xfrm>
            <a:prstGeom prst="rect">
              <a:avLst/>
            </a:prstGeom>
          </p:spPr>
        </p:pic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CDF73E02-BB13-9482-4ACC-88D0A7A3D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13613" y="5756728"/>
              <a:ext cx="424211" cy="853355"/>
            </a:xfrm>
            <a:prstGeom prst="rect">
              <a:avLst/>
            </a:prstGeom>
          </p:spPr>
        </p:pic>
        <p:pic>
          <p:nvPicPr>
            <p:cNvPr id="75" name="그림 74">
              <a:extLst>
                <a:ext uri="{FF2B5EF4-FFF2-40B4-BE49-F238E27FC236}">
                  <a16:creationId xmlns:a16="http://schemas.microsoft.com/office/drawing/2014/main" id="{F9EAE23F-76FC-409F-D595-69A06F1D5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4844731" y="5514537"/>
              <a:ext cx="834232" cy="1175235"/>
            </a:xfrm>
            <a:prstGeom prst="rect">
              <a:avLst/>
            </a:prstGeom>
          </p:spPr>
        </p:pic>
        <p:pic>
          <p:nvPicPr>
            <p:cNvPr id="77" name="그림 76">
              <a:extLst>
                <a:ext uri="{FF2B5EF4-FFF2-40B4-BE49-F238E27FC236}">
                  <a16:creationId xmlns:a16="http://schemas.microsoft.com/office/drawing/2014/main" id="{A921934F-2067-F750-4CC6-C648F2940B2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47882" y="5756728"/>
              <a:ext cx="424211" cy="853355"/>
            </a:xfrm>
            <a:prstGeom prst="rect">
              <a:avLst/>
            </a:prstGeom>
          </p:spPr>
        </p:pic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B1288AD8-B71F-CEF7-BC4C-A1E9F0FF9E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5683061" y="5514537"/>
              <a:ext cx="834232" cy="1175235"/>
            </a:xfrm>
            <a:prstGeom prst="rect">
              <a:avLst/>
            </a:prstGeom>
          </p:spPr>
        </p:pic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E1E9456E-4D81-8516-D7E2-27E3D88034B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86212" y="5756728"/>
              <a:ext cx="424211" cy="853355"/>
            </a:xfrm>
            <a:prstGeom prst="rect">
              <a:avLst/>
            </a:prstGeom>
          </p:spPr>
        </p:pic>
        <p:pic>
          <p:nvPicPr>
            <p:cNvPr id="83" name="그림 82">
              <a:extLst>
                <a:ext uri="{FF2B5EF4-FFF2-40B4-BE49-F238E27FC236}">
                  <a16:creationId xmlns:a16="http://schemas.microsoft.com/office/drawing/2014/main" id="{676164DF-2A8E-3DDF-CD20-6797B6E6461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6517330" y="5514537"/>
              <a:ext cx="834232" cy="1175235"/>
            </a:xfrm>
            <a:prstGeom prst="rect">
              <a:avLst/>
            </a:prstGeom>
          </p:spPr>
        </p:pic>
        <p:pic>
          <p:nvPicPr>
            <p:cNvPr id="85" name="그림 84">
              <a:extLst>
                <a:ext uri="{FF2B5EF4-FFF2-40B4-BE49-F238E27FC236}">
                  <a16:creationId xmlns:a16="http://schemas.microsoft.com/office/drawing/2014/main" id="{1FC14D47-FA3B-A254-FBC6-DAFFE355FD7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20481" y="5756728"/>
              <a:ext cx="424211" cy="853355"/>
            </a:xfrm>
            <a:prstGeom prst="rect">
              <a:avLst/>
            </a:prstGeom>
          </p:spPr>
        </p:pic>
        <p:pic>
          <p:nvPicPr>
            <p:cNvPr id="87" name="그림 86">
              <a:extLst>
                <a:ext uri="{FF2B5EF4-FFF2-40B4-BE49-F238E27FC236}">
                  <a16:creationId xmlns:a16="http://schemas.microsoft.com/office/drawing/2014/main" id="{4D93A0F2-BBA5-329B-339D-C9A75D2BF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031" b="16693"/>
            <a:stretch>
              <a:fillRect/>
            </a:stretch>
          </p:blipFill>
          <p:spPr>
            <a:xfrm>
              <a:off x="7345840" y="5514537"/>
              <a:ext cx="834232" cy="1175235"/>
            </a:xfrm>
            <a:prstGeom prst="rect">
              <a:avLst/>
            </a:prstGeom>
          </p:spPr>
        </p:pic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D23520AB-F717-2B51-9B38-C7C3605DCB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48991" y="5756728"/>
              <a:ext cx="424211" cy="8533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09021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187009E-3471-5FBB-341A-67532921A2FD}"/>
              </a:ext>
            </a:extLst>
          </p:cNvPr>
          <p:cNvSpPr/>
          <p:nvPr/>
        </p:nvSpPr>
        <p:spPr>
          <a:xfrm>
            <a:off x="537658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8ED279F7-DA4B-57FD-BAAB-0EFE65F5FA0D}"/>
              </a:ext>
            </a:extLst>
          </p:cNvPr>
          <p:cNvSpPr/>
          <p:nvPr/>
        </p:nvSpPr>
        <p:spPr>
          <a:xfrm>
            <a:off x="932123" y="5009344"/>
            <a:ext cx="2091070" cy="32783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입장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907A9C7-AD4E-B3F0-BADF-6265D674D5C3}"/>
              </a:ext>
            </a:extLst>
          </p:cNvPr>
          <p:cNvSpPr/>
          <p:nvPr/>
        </p:nvSpPr>
        <p:spPr>
          <a:xfrm>
            <a:off x="932123" y="5552336"/>
            <a:ext cx="2091070" cy="32783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계정 생성</a:t>
            </a:r>
            <a:endParaRPr lang="ko-KR" altLang="en-US" dirty="0"/>
          </a:p>
        </p:txBody>
      </p:sp>
      <p:pic>
        <p:nvPicPr>
          <p:cNvPr id="21" name="그래픽 20" descr="단일 톱니바퀴 단색으로 채워진">
            <a:extLst>
              <a:ext uri="{FF2B5EF4-FFF2-40B4-BE49-F238E27FC236}">
                <a16:creationId xmlns:a16="http://schemas.microsoft.com/office/drawing/2014/main" id="{E994A576-502A-F449-DB71-CBDF1D3F78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61048" y="639728"/>
            <a:ext cx="494412" cy="494412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CA88A5CE-80FA-A494-694A-5E23902DE10F}"/>
              </a:ext>
            </a:extLst>
          </p:cNvPr>
          <p:cNvSpPr/>
          <p:nvPr/>
        </p:nvSpPr>
        <p:spPr>
          <a:xfrm>
            <a:off x="537658" y="1276604"/>
            <a:ext cx="2880000" cy="26773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이미지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CEECC433-B6AA-E543-387B-A62384ED4049}"/>
              </a:ext>
            </a:extLst>
          </p:cNvPr>
          <p:cNvSpPr/>
          <p:nvPr/>
        </p:nvSpPr>
        <p:spPr>
          <a:xfrm>
            <a:off x="653818" y="713618"/>
            <a:ext cx="2091070" cy="32783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dirty="0"/>
              <a:t>만민의 삼국지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64C2C3F-E0CE-ECD5-0D8D-D888522C8389}"/>
              </a:ext>
            </a:extLst>
          </p:cNvPr>
          <p:cNvSpPr/>
          <p:nvPr/>
        </p:nvSpPr>
        <p:spPr>
          <a:xfrm>
            <a:off x="932123" y="4466352"/>
            <a:ext cx="2091070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23B1A9D-8C5C-B2DE-9F69-83C04D502030}"/>
              </a:ext>
            </a:extLst>
          </p:cNvPr>
          <p:cNvSpPr/>
          <p:nvPr/>
        </p:nvSpPr>
        <p:spPr>
          <a:xfrm>
            <a:off x="4238850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1C9AE619-E82C-C7D3-A933-3BAC62314D91}"/>
              </a:ext>
            </a:extLst>
          </p:cNvPr>
          <p:cNvSpPr/>
          <p:nvPr/>
        </p:nvSpPr>
        <p:spPr>
          <a:xfrm>
            <a:off x="4633315" y="5009344"/>
            <a:ext cx="2091070" cy="32783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입장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82967067-F7A0-1A20-58DA-602621E3C5D0}"/>
              </a:ext>
            </a:extLst>
          </p:cNvPr>
          <p:cNvSpPr/>
          <p:nvPr/>
        </p:nvSpPr>
        <p:spPr>
          <a:xfrm>
            <a:off x="4633315" y="5552336"/>
            <a:ext cx="2091070" cy="32783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계정 생성</a:t>
            </a:r>
            <a:endParaRPr lang="ko-KR" altLang="en-US" dirty="0"/>
          </a:p>
        </p:txBody>
      </p:sp>
      <p:pic>
        <p:nvPicPr>
          <p:cNvPr id="48" name="그래픽 47" descr="단일 톱니바퀴 단색으로 채워진">
            <a:extLst>
              <a:ext uri="{FF2B5EF4-FFF2-40B4-BE49-F238E27FC236}">
                <a16:creationId xmlns:a16="http://schemas.microsoft.com/office/drawing/2014/main" id="{F27150E7-05B1-42DF-2A7F-972D1DDB1C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62240" y="639728"/>
            <a:ext cx="494412" cy="494412"/>
          </a:xfrm>
          <a:prstGeom prst="rect">
            <a:avLst/>
          </a:prstGeom>
        </p:spPr>
      </p:pic>
      <p:sp>
        <p:nvSpPr>
          <p:cNvPr id="50" name="직사각형 49">
            <a:extLst>
              <a:ext uri="{FF2B5EF4-FFF2-40B4-BE49-F238E27FC236}">
                <a16:creationId xmlns:a16="http://schemas.microsoft.com/office/drawing/2014/main" id="{CD530E67-3C31-7FCD-80AE-C8968131BD9B}"/>
              </a:ext>
            </a:extLst>
          </p:cNvPr>
          <p:cNvSpPr/>
          <p:nvPr/>
        </p:nvSpPr>
        <p:spPr>
          <a:xfrm>
            <a:off x="4238850" y="1276604"/>
            <a:ext cx="2880000" cy="26773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이미지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60A76C65-4EE1-BE67-9BE8-23F39B539B92}"/>
              </a:ext>
            </a:extLst>
          </p:cNvPr>
          <p:cNvSpPr/>
          <p:nvPr/>
        </p:nvSpPr>
        <p:spPr>
          <a:xfrm>
            <a:off x="4355010" y="713618"/>
            <a:ext cx="2091070" cy="32783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dirty="0"/>
              <a:t>만민의 삼국지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EB4050A-728C-187D-1B41-BEEF135FFAC5}"/>
              </a:ext>
            </a:extLst>
          </p:cNvPr>
          <p:cNvSpPr/>
          <p:nvPr/>
        </p:nvSpPr>
        <p:spPr>
          <a:xfrm>
            <a:off x="4633315" y="4466352"/>
            <a:ext cx="2091070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F42EBEDF-1737-C961-30A2-0FAE7E092449}"/>
              </a:ext>
            </a:extLst>
          </p:cNvPr>
          <p:cNvSpPr/>
          <p:nvPr/>
        </p:nvSpPr>
        <p:spPr>
          <a:xfrm>
            <a:off x="4459650" y="1520820"/>
            <a:ext cx="2438400" cy="4033284"/>
          </a:xfrm>
          <a:prstGeom prst="roundRect">
            <a:avLst>
              <a:gd name="adj" fmla="val 9400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소셜 </a:t>
            </a:r>
            <a:r>
              <a:rPr lang="ko-KR" altLang="en-US"/>
              <a:t>로그인 연동</a:t>
            </a:r>
            <a:endParaRPr lang="en-US" altLang="ko-KR" dirty="0"/>
          </a:p>
          <a:p>
            <a:pPr algn="ctr"/>
            <a:r>
              <a:rPr lang="en-US" altLang="ko-KR" dirty="0"/>
              <a:t>SSO</a:t>
            </a:r>
            <a:endParaRPr lang="ko-KR" altLang="en-US" dirty="0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433DB0C-8D05-9B94-EAFE-A77B20A94112}"/>
              </a:ext>
            </a:extLst>
          </p:cNvPr>
          <p:cNvSpPr/>
          <p:nvPr/>
        </p:nvSpPr>
        <p:spPr>
          <a:xfrm>
            <a:off x="8161202" y="549000"/>
            <a:ext cx="2880000" cy="57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8E02EBE-31C9-F410-B661-602763701D7E}"/>
              </a:ext>
            </a:extLst>
          </p:cNvPr>
          <p:cNvSpPr/>
          <p:nvPr/>
        </p:nvSpPr>
        <p:spPr>
          <a:xfrm>
            <a:off x="8555667" y="5009344"/>
            <a:ext cx="2091070" cy="32783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입장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DAAF2559-68BF-7C23-ED8E-04B8A0726FB4}"/>
              </a:ext>
            </a:extLst>
          </p:cNvPr>
          <p:cNvSpPr/>
          <p:nvPr/>
        </p:nvSpPr>
        <p:spPr>
          <a:xfrm>
            <a:off x="8555667" y="5552336"/>
            <a:ext cx="2091070" cy="327836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계정 생성</a:t>
            </a:r>
            <a:endParaRPr lang="ko-KR" altLang="en-US" dirty="0"/>
          </a:p>
        </p:txBody>
      </p:sp>
      <p:pic>
        <p:nvPicPr>
          <p:cNvPr id="63" name="그래픽 62" descr="단일 톱니바퀴 단색으로 채워진">
            <a:extLst>
              <a:ext uri="{FF2B5EF4-FFF2-40B4-BE49-F238E27FC236}">
                <a16:creationId xmlns:a16="http://schemas.microsoft.com/office/drawing/2014/main" id="{C9306048-4978-CF2D-4A2E-3C1E854A22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84592" y="639728"/>
            <a:ext cx="494412" cy="494412"/>
          </a:xfrm>
          <a:prstGeom prst="rect">
            <a:avLst/>
          </a:prstGeom>
        </p:spPr>
      </p:pic>
      <p:sp>
        <p:nvSpPr>
          <p:cNvPr id="65" name="직사각형 64">
            <a:extLst>
              <a:ext uri="{FF2B5EF4-FFF2-40B4-BE49-F238E27FC236}">
                <a16:creationId xmlns:a16="http://schemas.microsoft.com/office/drawing/2014/main" id="{8FE2EBE8-8377-0B1D-1F5F-F7FA7355EDD1}"/>
              </a:ext>
            </a:extLst>
          </p:cNvPr>
          <p:cNvSpPr/>
          <p:nvPr/>
        </p:nvSpPr>
        <p:spPr>
          <a:xfrm>
            <a:off x="8161202" y="1276604"/>
            <a:ext cx="2880000" cy="267730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메인 이미지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E1674445-9898-5227-E200-154EC34157C2}"/>
              </a:ext>
            </a:extLst>
          </p:cNvPr>
          <p:cNvSpPr/>
          <p:nvPr/>
        </p:nvSpPr>
        <p:spPr>
          <a:xfrm>
            <a:off x="8277362" y="713618"/>
            <a:ext cx="2091070" cy="327836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ko-KR" altLang="en-US" dirty="0"/>
              <a:t>만민의 삼국지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772DBFC7-3697-5597-7F76-C7190F00EDAA}"/>
              </a:ext>
            </a:extLst>
          </p:cNvPr>
          <p:cNvSpPr/>
          <p:nvPr/>
        </p:nvSpPr>
        <p:spPr>
          <a:xfrm>
            <a:off x="8555667" y="4466352"/>
            <a:ext cx="2091070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endParaRPr lang="ko-KR" altLang="en-US" dirty="0"/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E817814-842E-D002-F16C-DE50138D2355}"/>
              </a:ext>
            </a:extLst>
          </p:cNvPr>
          <p:cNvSpPr/>
          <p:nvPr/>
        </p:nvSpPr>
        <p:spPr>
          <a:xfrm>
            <a:off x="8382002" y="1548112"/>
            <a:ext cx="2438400" cy="4033284"/>
          </a:xfrm>
          <a:prstGeom prst="roundRect">
            <a:avLst>
              <a:gd name="adj" fmla="val 9400"/>
            </a:avLst>
          </a:prstGeom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200000"/>
              </a:lnSpc>
            </a:pPr>
            <a:r>
              <a:rPr lang="ko-KR" altLang="en-US" b="1" dirty="0"/>
              <a:t>환 경 설 정</a:t>
            </a:r>
            <a:endParaRPr lang="en-US" altLang="ko-KR" dirty="0"/>
          </a:p>
          <a:p>
            <a:pPr>
              <a:lnSpc>
                <a:spcPct val="200000"/>
              </a:lnSpc>
            </a:pPr>
            <a:r>
              <a:rPr lang="en-US" altLang="ko-KR" dirty="0"/>
              <a:t>ID</a:t>
            </a:r>
          </a:p>
          <a:p>
            <a:pPr>
              <a:lnSpc>
                <a:spcPct val="200000"/>
              </a:lnSpc>
            </a:pPr>
            <a:endParaRPr lang="en-US" altLang="ko-KR" dirty="0"/>
          </a:p>
          <a:p>
            <a:pPr>
              <a:lnSpc>
                <a:spcPct val="200000"/>
              </a:lnSpc>
            </a:pPr>
            <a:r>
              <a:rPr lang="en-US" altLang="ko-KR" dirty="0"/>
              <a:t>ID</a:t>
            </a:r>
            <a:r>
              <a:rPr lang="ko-KR" altLang="en-US" dirty="0"/>
              <a:t> 기억</a:t>
            </a:r>
            <a:endParaRPr lang="en-US" altLang="ko-KR" dirty="0"/>
          </a:p>
          <a:p>
            <a:pPr>
              <a:lnSpc>
                <a:spcPct val="200000"/>
              </a:lnSpc>
            </a:pPr>
            <a:r>
              <a:rPr lang="en-US" altLang="ko-KR" dirty="0"/>
              <a:t>Language</a:t>
            </a:r>
          </a:p>
          <a:p>
            <a:pPr>
              <a:lnSpc>
                <a:spcPct val="200000"/>
              </a:lnSpc>
            </a:pPr>
            <a:r>
              <a:rPr lang="ko-KR" altLang="en-US" dirty="0"/>
              <a:t>화면 모드 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DDCB6239-9BA8-83A9-F288-9AC68C6EBA13}"/>
              </a:ext>
            </a:extLst>
          </p:cNvPr>
          <p:cNvSpPr/>
          <p:nvPr/>
        </p:nvSpPr>
        <p:spPr>
          <a:xfrm>
            <a:off x="9103161" y="2684491"/>
            <a:ext cx="1534460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ID</a:t>
            </a:r>
            <a:endParaRPr lang="ko-KR" altLang="en-US" dirty="0"/>
          </a:p>
        </p:txBody>
      </p:sp>
      <p:pic>
        <p:nvPicPr>
          <p:cNvPr id="75" name="그래픽 74" descr="배지 체크 표시1 단색으로 채워진">
            <a:extLst>
              <a:ext uri="{FF2B5EF4-FFF2-40B4-BE49-F238E27FC236}">
                <a16:creationId xmlns:a16="http://schemas.microsoft.com/office/drawing/2014/main" id="{8A255B72-4BE0-5E13-77D7-792DBD0687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202" y="3760596"/>
            <a:ext cx="457199" cy="457199"/>
          </a:xfrm>
          <a:prstGeom prst="rect">
            <a:avLst/>
          </a:prstGeom>
        </p:spPr>
      </p:pic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AC821227-D11B-BE6E-AA4D-B3BF0BFCA4E0}"/>
              </a:ext>
            </a:extLst>
          </p:cNvPr>
          <p:cNvSpPr/>
          <p:nvPr/>
        </p:nvSpPr>
        <p:spPr>
          <a:xfrm>
            <a:off x="9682716" y="4432951"/>
            <a:ext cx="995746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KR</a:t>
            </a:r>
            <a:endParaRPr lang="ko-KR" altLang="en-US" dirty="0"/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110CC23A-5621-57FB-202D-8DA572E79FA6}"/>
              </a:ext>
            </a:extLst>
          </p:cNvPr>
          <p:cNvSpPr/>
          <p:nvPr/>
        </p:nvSpPr>
        <p:spPr>
          <a:xfrm>
            <a:off x="9697782" y="4865537"/>
            <a:ext cx="995746" cy="327836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세로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9916E702-2557-9510-393D-4ADDBAD62649}"/>
              </a:ext>
            </a:extLst>
          </p:cNvPr>
          <p:cNvSpPr/>
          <p:nvPr/>
        </p:nvSpPr>
        <p:spPr>
          <a:xfrm>
            <a:off x="8555667" y="3184203"/>
            <a:ext cx="2091069" cy="327836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로그인 됨</a:t>
            </a:r>
          </a:p>
        </p:txBody>
      </p:sp>
    </p:spTree>
    <p:extLst>
      <p:ext uri="{BB962C8B-B14F-4D97-AF65-F5344CB8AC3E}">
        <p14:creationId xmlns:p14="http://schemas.microsoft.com/office/powerpoint/2010/main" val="1827128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3717</TotalTime>
  <Words>3404</Words>
  <Application>Microsoft Office PowerPoint</Application>
  <PresentationFormat>와이드스크린</PresentationFormat>
  <Paragraphs>757</Paragraphs>
  <Slides>33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7" baseType="lpstr">
      <vt:lpstr>맑은 고딕</vt:lpstr>
      <vt:lpstr>Arial</vt:lpstr>
      <vt:lpstr>Wingdings</vt:lpstr>
      <vt:lpstr>Office 테마</vt:lpstr>
      <vt:lpstr>삼국 약식 체스  260721-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260804-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UI update  260812-</vt:lpstr>
      <vt:lpstr>PowerPoint 프레젠테이션</vt:lpstr>
      <vt:lpstr>PowerPoint 프레젠테이션</vt:lpstr>
      <vt:lpstr>PowerPoint 프레젠테이션</vt:lpstr>
      <vt:lpstr>UI update  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JoongEun Jung</dc:creator>
  <cp:lastModifiedBy>JoongEun Jung</cp:lastModifiedBy>
  <cp:revision>64</cp:revision>
  <dcterms:created xsi:type="dcterms:W3CDTF">2026-07-23T01:01:59Z</dcterms:created>
  <dcterms:modified xsi:type="dcterms:W3CDTF">2026-08-14T01:22:10Z</dcterms:modified>
</cp:coreProperties>
</file>